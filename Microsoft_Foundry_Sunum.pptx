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Slaytı taşımak için tıklayın</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Notların biçimini düzenlemek için tıklayın</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E72F2A00-72FC-4C4D-B0AB-E0F41B85110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685800" y="1143000"/>
            <a:ext cx="5485320" cy="3085200"/>
          </a:xfrm>
          <a:prstGeom prst="rect">
            <a:avLst/>
          </a:prstGeom>
          <a:ln w="0">
            <a:noFill/>
          </a:ln>
        </p:spPr>
      </p:sp>
      <p:sp>
        <p:nvSpPr>
          <p:cNvPr id="62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Açılış: Burada bir sohbet botundan değil, kurumun veri, güvenlik ve iş süreçleriyle çalışabilen bir AI uygulama platformundan bahsedeceğiz. Amaç teknoloji göstermek değil, iş sonucuna bağlamak.</a:t>
            </a:r>
            <a:endParaRPr b="0" lang="en-US" sz="2000" spc="-1" strike="noStrike">
              <a:solidFill>
                <a:srgbClr val="000000"/>
              </a:solidFill>
              <a:latin typeface="Arial"/>
            </a:endParaRPr>
          </a:p>
        </p:txBody>
      </p:sp>
      <p:sp>
        <p:nvSpPr>
          <p:cNvPr id="627" name="PlaceHolder 3"/>
          <p:cNvSpPr>
            <a:spLocks noGrp="1"/>
          </p:cNvSpPr>
          <p:nvPr>
            <p:ph type="sldNum" idx="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0E19EC0-9149-4AE3-A141-A0EF1986BE3E}"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685800" y="1143000"/>
            <a:ext cx="5485320" cy="3085200"/>
          </a:xfrm>
          <a:prstGeom prst="rect">
            <a:avLst/>
          </a:prstGeom>
          <a:ln w="0">
            <a:noFill/>
          </a:ln>
        </p:spPr>
      </p:sp>
      <p:sp>
        <p:nvSpPr>
          <p:cNvPr id="62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Müşteriye sorun: Bugün AI pilotlarının üretim ortamına geçişinde en fazla zorlandığınız alan hangisi? Bu slayttaki başlıklar ürünün vaat ettiği çözüm alanlarıdır; müşteri bazlı teşhis yerine geçmez.</a:t>
            </a:r>
            <a:endParaRPr b="0" lang="en-US" sz="2000" spc="-1" strike="noStrike">
              <a:solidFill>
                <a:srgbClr val="000000"/>
              </a:solidFill>
              <a:latin typeface="Arial"/>
            </a:endParaRPr>
          </a:p>
        </p:txBody>
      </p:sp>
      <p:sp>
        <p:nvSpPr>
          <p:cNvPr id="630" name="PlaceHolder 3"/>
          <p:cNvSpPr>
            <a:spLocks noGrp="1"/>
          </p:cNvSpPr>
          <p:nvPr>
            <p:ph type="sldNum" idx="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ACFA291-903D-42C5-B1FF-97E9E58C5F14}"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685800" y="1143000"/>
            <a:ext cx="5485320" cy="3085200"/>
          </a:xfrm>
          <a:prstGeom prst="rect">
            <a:avLst/>
          </a:prstGeom>
          <a:ln w="0">
            <a:noFill/>
          </a:ln>
        </p:spPr>
      </p:sp>
      <p:sp>
        <p:nvSpPr>
          <p:cNvPr id="63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t>
            </a:r>
            <a:r>
              <a:rPr b="0" lang="en-US" sz="2000" spc="-1" strike="noStrike">
                <a:solidFill>
                  <a:srgbClr val="000000"/>
                </a:solidFill>
                <a:latin typeface="Arial"/>
              </a:rPr>
              <a:t>Bize GPT bağlayın” taleplerini iş hedeflerine çevirmek için bu yöntemi öneriyoruz.</a:t>
            </a:r>
            <a:endParaRPr b="0" lang="en-US" sz="2000" spc="-1" strike="noStrike">
              <a:solidFill>
                <a:srgbClr val="000000"/>
              </a:solidFill>
              <a:latin typeface="Arial"/>
            </a:endParaRPr>
          </a:p>
        </p:txBody>
      </p:sp>
      <p:sp>
        <p:nvSpPr>
          <p:cNvPr id="633" name="PlaceHolder 3"/>
          <p:cNvSpPr>
            <a:spLocks noGrp="1"/>
          </p:cNvSpPr>
          <p:nvPr>
            <p:ph type="sldNum" idx="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6DE6EC7-E469-4E26-948E-B171011FB095}"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685800" y="1143000"/>
            <a:ext cx="5485320" cy="3085200"/>
          </a:xfrm>
          <a:prstGeom prst="rect">
            <a:avLst/>
          </a:prstGeom>
          <a:ln w="0">
            <a:noFill/>
          </a:ln>
        </p:spPr>
      </p:sp>
      <p:sp>
        <p:nvSpPr>
          <p:cNvPr id="63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Microsoft Foundry, farklı model ve agent geliştirme seçeneklerini bir resource/project bağlamında bir araya getirir. Her özelliğin GA olup olmadığını gözden geçirmek gerekir.</a:t>
            </a:r>
            <a:endParaRPr b="0" lang="en-US" sz="2000" spc="-1" strike="noStrike">
              <a:solidFill>
                <a:srgbClr val="000000"/>
              </a:solidFill>
              <a:latin typeface="Arial"/>
            </a:endParaRPr>
          </a:p>
        </p:txBody>
      </p:sp>
      <p:sp>
        <p:nvSpPr>
          <p:cNvPr id="636" name="PlaceHolder 3"/>
          <p:cNvSpPr>
            <a:spLocks noGrp="1"/>
          </p:cNvSpPr>
          <p:nvPr>
            <p:ph type="sldNum" idx="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0BBBCA0-349F-4C6C-AE4D-C9BB134E41F7}"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685800" y="1143000"/>
            <a:ext cx="5485320" cy="3085200"/>
          </a:xfrm>
          <a:prstGeom prst="rect">
            <a:avLst/>
          </a:prstGeom>
          <a:ln w="0">
            <a:noFill/>
          </a:ln>
        </p:spPr>
      </p:sp>
      <p:sp>
        <p:nvSpPr>
          <p:cNvPr id="63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Geliştirme doğrusal değil. Test ve gözlem sonuçlarına göre model, prompt, arama stratejisi veya tool çağrısı iyileştirilir.</a:t>
            </a:r>
            <a:endParaRPr b="0" lang="en-US" sz="2000" spc="-1" strike="noStrike">
              <a:solidFill>
                <a:srgbClr val="000000"/>
              </a:solidFill>
              <a:latin typeface="Arial"/>
            </a:endParaRPr>
          </a:p>
        </p:txBody>
      </p:sp>
      <p:sp>
        <p:nvSpPr>
          <p:cNvPr id="639" name="PlaceHolder 3"/>
          <p:cNvSpPr>
            <a:spLocks noGrp="1"/>
          </p:cNvSpPr>
          <p:nvPr>
            <p:ph type="sldNum" idx="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20A13D7-3036-43CD-9D0E-E4D65C9674D6}"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685800" y="1143000"/>
            <a:ext cx="5485320" cy="3085200"/>
          </a:xfrm>
          <a:prstGeom prst="rect">
            <a:avLst/>
          </a:prstGeom>
          <a:ln w="0">
            <a:noFill/>
          </a:ln>
        </p:spPr>
      </p:sp>
      <p:sp>
        <p:nvSpPr>
          <p:cNvPr id="64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Müşteri sorusu: OpenAI harici model kullanabilir miyiz? Evet, katalog çok sağlayıcılı; ancak sözleşme, modelin erişimi, SLA ve veri işleme şartlarını teklif bazında doğrularız.</a:t>
            </a:r>
            <a:endParaRPr b="0" lang="en-US" sz="2000" spc="-1" strike="noStrike">
              <a:solidFill>
                <a:srgbClr val="000000"/>
              </a:solidFill>
              <a:latin typeface="Arial"/>
            </a:endParaRPr>
          </a:p>
        </p:txBody>
      </p:sp>
      <p:sp>
        <p:nvSpPr>
          <p:cNvPr id="642" name="PlaceHolder 3"/>
          <p:cNvSpPr>
            <a:spLocks noGrp="1"/>
          </p:cNvSpPr>
          <p:nvPr>
            <p:ph type="sldNum" idx="9"/>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EE51286-DA52-4E25-8E18-1CA91E156D55}"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PlaceHolder 1"/>
          <p:cNvSpPr>
            <a:spLocks noGrp="1"/>
          </p:cNvSpPr>
          <p:nvPr>
            <p:ph type="sldImg"/>
          </p:nvPr>
        </p:nvSpPr>
        <p:spPr>
          <a:xfrm>
            <a:off x="685800" y="1143000"/>
            <a:ext cx="5485320" cy="3085200"/>
          </a:xfrm>
          <a:prstGeom prst="rect">
            <a:avLst/>
          </a:prstGeom>
          <a:ln w="0">
            <a:noFill/>
          </a:ln>
        </p:spPr>
      </p:sp>
      <p:sp>
        <p:nvSpPr>
          <p:cNvPr id="64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İlk pilot için çoğunlukla Standard tüketim mantığını değerlendirebiliriz. Provisioned performans garantisi anlamına gelmez; kapasite yönetiminin farklı bir şeklidir. Managed compute şu an preview olarak belgelenir.</a:t>
            </a:r>
            <a:endParaRPr b="0" lang="en-US" sz="2000" spc="-1" strike="noStrike">
              <a:solidFill>
                <a:srgbClr val="000000"/>
              </a:solidFill>
              <a:latin typeface="Arial"/>
            </a:endParaRPr>
          </a:p>
        </p:txBody>
      </p:sp>
      <p:sp>
        <p:nvSpPr>
          <p:cNvPr id="645" name="PlaceHolder 3"/>
          <p:cNvSpPr>
            <a:spLocks noGrp="1"/>
          </p:cNvSpPr>
          <p:nvPr>
            <p:ph type="sldNum" idx="1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3188CB9-7984-463C-A535-FC12EF32C854}"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685800" y="1143000"/>
            <a:ext cx="5485320" cy="3085200"/>
          </a:xfrm>
          <a:prstGeom prst="rect">
            <a:avLst/>
          </a:prstGeom>
          <a:ln w="0">
            <a:noFill/>
          </a:ln>
        </p:spPr>
      </p:sp>
      <p:sp>
        <p:nvSpPr>
          <p:cNvPr id="64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Agent tamamen özerk olmak zorunda değildir. Riskli aksiyonlarda insan onayı, allowlist ve rol bazlı erişim şarttır. Kod yoğun uygulamalarda Hosted Agents; hızlı konfigürasyonda Prompt Agents.</a:t>
            </a:r>
            <a:endParaRPr b="0" lang="en-US" sz="2000" spc="-1" strike="noStrike">
              <a:solidFill>
                <a:srgbClr val="000000"/>
              </a:solidFill>
              <a:latin typeface="Arial"/>
            </a:endParaRPr>
          </a:p>
        </p:txBody>
      </p:sp>
      <p:sp>
        <p:nvSpPr>
          <p:cNvPr id="648" name="PlaceHolder 3"/>
          <p:cNvSpPr>
            <a:spLocks noGrp="1"/>
          </p:cNvSpPr>
          <p:nvPr>
            <p:ph type="sldNum" idx="11"/>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D7C3A31-6E69-4724-9DA4-9FA335796952}"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685800" y="1143000"/>
            <a:ext cx="5485320" cy="3085200"/>
          </a:xfrm>
          <a:prstGeom prst="rect">
            <a:avLst/>
          </a:prstGeom>
          <a:ln w="0">
            <a:noFill/>
          </a:ln>
        </p:spPr>
      </p:sp>
      <p:sp>
        <p:nvSpPr>
          <p:cNvPr id="65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Önemli: Foundry IQ üzerinde yetki güvenliği otomatik ve evrensel değildir. Kaynağa ve açıkça yapılandırılmış belge-level ACL senkronizasyonuna bağlı olabilir. Azure AI Search maliyeti ayrı değerlendirilir.</a:t>
            </a:r>
            <a:endParaRPr b="0" lang="en-US" sz="2000" spc="-1" strike="noStrike">
              <a:solidFill>
                <a:srgbClr val="000000"/>
              </a:solidFill>
              <a:latin typeface="Arial"/>
            </a:endParaRPr>
          </a:p>
        </p:txBody>
      </p:sp>
      <p:sp>
        <p:nvSpPr>
          <p:cNvPr id="651" name="PlaceHolder 3"/>
          <p:cNvSpPr>
            <a:spLocks noGrp="1"/>
          </p:cNvSpPr>
          <p:nvPr>
            <p:ph type="sldNum" idx="12"/>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D3255DB-6477-4EAC-B69C-827F504BE00D}"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685800" y="1143000"/>
            <a:ext cx="5485320" cy="3085200"/>
          </a:xfrm>
          <a:prstGeom prst="rect">
            <a:avLst/>
          </a:prstGeom>
          <a:ln w="0">
            <a:noFill/>
          </a:ln>
        </p:spPr>
      </p:sp>
      <p:sp>
        <p:nvSpPr>
          <p:cNvPr id="65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MCP çağrıları dış sistem davranışı yaratabilir. İzinler, riskli operasyonlarda insan onayı, kimlik doğrulama, loglama ve ağ sınırlamaları önerilir.</a:t>
            </a:r>
            <a:endParaRPr b="0" lang="en-US" sz="2000" spc="-1" strike="noStrike">
              <a:solidFill>
                <a:srgbClr val="000000"/>
              </a:solidFill>
              <a:latin typeface="Arial"/>
            </a:endParaRPr>
          </a:p>
        </p:txBody>
      </p:sp>
      <p:sp>
        <p:nvSpPr>
          <p:cNvPr id="654" name="PlaceHolder 3"/>
          <p:cNvSpPr>
            <a:spLocks noGrp="1"/>
          </p:cNvSpPr>
          <p:nvPr>
            <p:ph type="sldNum" idx="13"/>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ED1838A-5F51-4530-A02C-A329F6FB011B}"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685800" y="1143000"/>
            <a:ext cx="5485320" cy="3085200"/>
          </a:xfrm>
          <a:prstGeom prst="rect">
            <a:avLst/>
          </a:prstGeom>
          <a:ln w="0">
            <a:noFill/>
          </a:ln>
        </p:spPr>
      </p:sp>
      <p:sp>
        <p:nvSpPr>
          <p:cNvPr id="65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Müşteriye “verileriniz hiçbir zaman dışarı çıkmaz” gibi genel vaatlerde bulunmayın. Deployment, bölge, tool ve model sağlayıcısı bazında veri hareketi ve hukuki koşullar incelenir.</a:t>
            </a:r>
            <a:endParaRPr b="0" lang="en-US" sz="2000" spc="-1" strike="noStrike">
              <a:solidFill>
                <a:srgbClr val="000000"/>
              </a:solidFill>
              <a:latin typeface="Arial"/>
            </a:endParaRPr>
          </a:p>
        </p:txBody>
      </p:sp>
      <p:sp>
        <p:nvSpPr>
          <p:cNvPr id="657" name="PlaceHolder 3"/>
          <p:cNvSpPr>
            <a:spLocks noGrp="1"/>
          </p:cNvSpPr>
          <p:nvPr>
            <p:ph type="sldNum" idx="1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6544C83-BE4D-493D-AD9C-BA15B1CB3427}"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685800" y="1143000"/>
            <a:ext cx="5485320" cy="3085200"/>
          </a:xfrm>
          <a:prstGeom prst="rect">
            <a:avLst/>
          </a:prstGeom>
          <a:ln w="0">
            <a:noFill/>
          </a:ln>
        </p:spPr>
      </p:sp>
      <p:sp>
        <p:nvSpPr>
          <p:cNvPr id="65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Traces için Application Insights ve OpenTelemetry. Evals: sabit veri seti, altın cevaplar, insan hakemliği, risk sınıfları. Önizleme/GA durumlarına dikkat.</a:t>
            </a:r>
            <a:endParaRPr b="0" lang="en-US" sz="2000" spc="-1" strike="noStrike">
              <a:solidFill>
                <a:srgbClr val="000000"/>
              </a:solidFill>
              <a:latin typeface="Arial"/>
            </a:endParaRPr>
          </a:p>
        </p:txBody>
      </p:sp>
      <p:sp>
        <p:nvSpPr>
          <p:cNvPr id="660" name="PlaceHolder 3"/>
          <p:cNvSpPr>
            <a:spLocks noGrp="1"/>
          </p:cNvSpPr>
          <p:nvPr>
            <p:ph type="sldNum" idx="1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8CFEC81-9675-45EE-9B48-0AB35A2B7B91}"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685800" y="1143000"/>
            <a:ext cx="5485320" cy="3085200"/>
          </a:xfrm>
          <a:prstGeom prst="rect">
            <a:avLst/>
          </a:prstGeom>
          <a:ln w="0">
            <a:noFill/>
          </a:ln>
        </p:spPr>
      </p:sp>
      <p:sp>
        <p:nvSpPr>
          <p:cNvPr id="66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Diyagram kavramsal. Foundry IQ için Azure AI Search temeli bulunur. Agent external tool calling yaparken yetki ve onay katmanlarını tasarlamak gerekir.</a:t>
            </a:r>
            <a:endParaRPr b="0" lang="en-US" sz="2000" spc="-1" strike="noStrike">
              <a:solidFill>
                <a:srgbClr val="000000"/>
              </a:solidFill>
              <a:latin typeface="Arial"/>
            </a:endParaRPr>
          </a:p>
        </p:txBody>
      </p:sp>
      <p:sp>
        <p:nvSpPr>
          <p:cNvPr id="663" name="PlaceHolder 3"/>
          <p:cNvSpPr>
            <a:spLocks noGrp="1"/>
          </p:cNvSpPr>
          <p:nvPr>
            <p:ph type="sldNum" idx="1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794CB7A-8D48-47CC-9D3F-B4C25401B53B}"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685800" y="1143000"/>
            <a:ext cx="5485320" cy="3085200"/>
          </a:xfrm>
          <a:prstGeom prst="rect">
            <a:avLst/>
          </a:prstGeom>
          <a:ln w="0">
            <a:noFill/>
          </a:ln>
        </p:spPr>
      </p:sp>
      <p:sp>
        <p:nvSpPr>
          <p:cNvPr id="66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Bunlar örnek kullanım senaryolarıdır; gerçek referans proje veya doğrulanmış verimlilik kazancı olarak sunulmaz.</a:t>
            </a:r>
            <a:endParaRPr b="0" lang="en-US" sz="2000" spc="-1" strike="noStrike">
              <a:solidFill>
                <a:srgbClr val="000000"/>
              </a:solidFill>
              <a:latin typeface="Arial"/>
            </a:endParaRPr>
          </a:p>
        </p:txBody>
      </p:sp>
      <p:sp>
        <p:nvSpPr>
          <p:cNvPr id="666" name="PlaceHolder 3"/>
          <p:cNvSpPr>
            <a:spLocks noGrp="1"/>
          </p:cNvSpPr>
          <p:nvPr>
            <p:ph type="sldNum" idx="1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CB45943-823A-4D18-A168-7AF9C04AF740}"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685800" y="1143000"/>
            <a:ext cx="5485320" cy="3085200"/>
          </a:xfrm>
          <a:prstGeom prst="rect">
            <a:avLst/>
          </a:prstGeom>
          <a:ln w="0">
            <a:noFill/>
          </a:ln>
        </p:spPr>
      </p:sp>
      <p:sp>
        <p:nvSpPr>
          <p:cNvPr id="66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Sunumda kullanılabilecek prototip önerisi. Henüz geliştirilmediği için başarı oranı, gerçek entegrasyon veya üretim yayını iddia etmiyoruz.</a:t>
            </a:r>
            <a:endParaRPr b="0" lang="en-US" sz="2000" spc="-1" strike="noStrike">
              <a:solidFill>
                <a:srgbClr val="000000"/>
              </a:solidFill>
              <a:latin typeface="Arial"/>
            </a:endParaRPr>
          </a:p>
        </p:txBody>
      </p:sp>
      <p:sp>
        <p:nvSpPr>
          <p:cNvPr id="669" name="PlaceHolder 3"/>
          <p:cNvSpPr>
            <a:spLocks noGrp="1"/>
          </p:cNvSpPr>
          <p:nvPr>
            <p:ph type="sldNum" idx="1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A24E21D-1905-4E97-A44D-B2588FAC95D4}"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685800" y="1143000"/>
            <a:ext cx="5485320" cy="3085200"/>
          </a:xfrm>
          <a:prstGeom prst="rect">
            <a:avLst/>
          </a:prstGeom>
          <a:ln w="0">
            <a:noFill/>
          </a:ln>
        </p:spPr>
      </p:sp>
      <p:sp>
        <p:nvSpPr>
          <p:cNvPr id="67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Rakip değerlendirmesi değil konumlandırma. Basit API çağrısı bazı işlerde en iyi çözüm olabilir. Copilot Studio ile Foundry birlikte çalışabilir.</a:t>
            </a:r>
            <a:endParaRPr b="0" lang="en-US" sz="2000" spc="-1" strike="noStrike">
              <a:solidFill>
                <a:srgbClr val="000000"/>
              </a:solidFill>
              <a:latin typeface="Arial"/>
            </a:endParaRPr>
          </a:p>
        </p:txBody>
      </p:sp>
      <p:sp>
        <p:nvSpPr>
          <p:cNvPr id="672" name="PlaceHolder 3"/>
          <p:cNvSpPr>
            <a:spLocks noGrp="1"/>
          </p:cNvSpPr>
          <p:nvPr>
            <p:ph type="sldNum" idx="19"/>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89383EE-690C-487D-BC70-923EEA598B4B}"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685800" y="1143000"/>
            <a:ext cx="5485320" cy="3085200"/>
          </a:xfrm>
          <a:prstGeom prst="rect">
            <a:avLst/>
          </a:prstGeom>
          <a:ln w="0">
            <a:noFill/>
          </a:ln>
        </p:spPr>
      </p:sp>
      <p:sp>
        <p:nvSpPr>
          <p:cNvPr id="67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Maliyet hesapları senaryo girdileriyle ve Azure Pricing Calculator ile yapılmalı. Proje onayı için baseline ölçüleri şart.</a:t>
            </a:r>
            <a:endParaRPr b="0" lang="en-US" sz="2000" spc="-1" strike="noStrike">
              <a:solidFill>
                <a:srgbClr val="000000"/>
              </a:solidFill>
              <a:latin typeface="Arial"/>
            </a:endParaRPr>
          </a:p>
        </p:txBody>
      </p:sp>
      <p:sp>
        <p:nvSpPr>
          <p:cNvPr id="675" name="PlaceHolder 3"/>
          <p:cNvSpPr>
            <a:spLocks noGrp="1"/>
          </p:cNvSpPr>
          <p:nvPr>
            <p:ph type="sldNum" idx="2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20E6EE1-F818-49C5-9BE8-52C5F26F9688}"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685800" y="1143000"/>
            <a:ext cx="5485320" cy="3085200"/>
          </a:xfrm>
          <a:prstGeom prst="rect">
            <a:avLst/>
          </a:prstGeom>
          <a:ln w="0">
            <a:noFill/>
          </a:ln>
        </p:spPr>
      </p:sp>
      <p:sp>
        <p:nvSpPr>
          <p:cNvPr id="67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Dört hafta örnek plan; işin karmaşıklığına göre değişebilir. Hedef üretim sertifikalı sistem değil, kabul kriterleri tanımlanmış pilot ve go/no-go kararı.</a:t>
            </a:r>
            <a:endParaRPr b="0" lang="en-US" sz="2000" spc="-1" strike="noStrike">
              <a:solidFill>
                <a:srgbClr val="000000"/>
              </a:solidFill>
              <a:latin typeface="Arial"/>
            </a:endParaRPr>
          </a:p>
        </p:txBody>
      </p:sp>
      <p:sp>
        <p:nvSpPr>
          <p:cNvPr id="678" name="PlaceHolder 3"/>
          <p:cNvSpPr>
            <a:spLocks noGrp="1"/>
          </p:cNvSpPr>
          <p:nvPr>
            <p:ph type="sldNum" idx="21"/>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DC25630-D518-4818-9075-C6E090E8E4C5}"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685800" y="1143000"/>
            <a:ext cx="5485320" cy="3085200"/>
          </a:xfrm>
          <a:prstGeom prst="rect">
            <a:avLst/>
          </a:prstGeom>
          <a:ln w="0">
            <a:noFill/>
          </a:ln>
        </p:spPr>
      </p:sp>
      <p:sp>
        <p:nvSpPr>
          <p:cNvPr id="68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Ensight web sitesinde Microsoft Solutions Partner ve Fabric Featured Partner tanımları yer alıyor. Dış müşteri toplantısından önce branding/pazarlama onayı alınması uygundur.</a:t>
            </a:r>
            <a:endParaRPr b="0" lang="en-US" sz="2000" spc="-1" strike="noStrike">
              <a:solidFill>
                <a:srgbClr val="000000"/>
              </a:solidFill>
              <a:latin typeface="Arial"/>
            </a:endParaRPr>
          </a:p>
        </p:txBody>
      </p:sp>
      <p:sp>
        <p:nvSpPr>
          <p:cNvPr id="681" name="PlaceHolder 3"/>
          <p:cNvSpPr>
            <a:spLocks noGrp="1"/>
          </p:cNvSpPr>
          <p:nvPr>
            <p:ph type="sldNum" idx="22"/>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96BDD1B-DC0E-4526-A15A-C84A01CD8FA5}"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685800" y="1143000"/>
            <a:ext cx="5485680" cy="3085560"/>
          </a:xfrm>
          <a:prstGeom prst="rect">
            <a:avLst/>
          </a:prstGeom>
          <a:ln w="0">
            <a:noFill/>
          </a:ln>
        </p:spPr>
      </p:sp>
      <p:sp>
        <p:nvSpPr>
          <p:cNvPr id="68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BU SLAYT EDİTLENEBİLİR DEMO AYRACIDIR. Henüz prototip geliştirilmedi. Canlı toplantıda buraya gelince Alt+Tab ile uygulamaya geç. Demo akışı: (1) örnek talep sor, (2) sınıflandırma ve kaynak gösterimini göster, (3) kritik aksiyon için insan onayını göster. Demo URL’si veya ekran görüntüsü hazır olunca bu slaytı uyarlayacağız. İstersen uygulama ekran görüntüsü ekleyebilirsin.</a:t>
            </a:r>
            <a:endParaRPr b="0" lang="en-US" sz="2000" spc="-1" strike="noStrike">
              <a:solidFill>
                <a:srgbClr val="000000"/>
              </a:solidFill>
              <a:latin typeface="Arial"/>
            </a:endParaRPr>
          </a:p>
        </p:txBody>
      </p:sp>
      <p:sp>
        <p:nvSpPr>
          <p:cNvPr id="684" name="PlaceHolder 3"/>
          <p:cNvSpPr>
            <a:spLocks noGrp="1"/>
          </p:cNvSpPr>
          <p:nvPr>
            <p:ph type="sldNum" idx="2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111F52D-BB24-4595-87A2-3DA522801B0C}"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685800" y="1143000"/>
            <a:ext cx="5485320" cy="3085200"/>
          </a:xfrm>
          <a:prstGeom prst="rect">
            <a:avLst/>
          </a:prstGeom>
          <a:ln w="0">
            <a:noFill/>
          </a:ln>
        </p:spPr>
      </p:sp>
      <p:sp>
        <p:nvSpPr>
          <p:cNvPr id="68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Bu kaynak slaytı canlı prototipe geçmeden önce referans olarak koyuldu. Şirket sunumunda gösterilmeyebilir veya ek bölüm şeklinde atlanabilir. Video bağlantısı Microsoft’un Inside Microsoft Foundry oynatma listesidir.</a:t>
            </a:r>
            <a:endParaRPr b="0" lang="en-US" sz="2000" spc="-1" strike="noStrike">
              <a:solidFill>
                <a:srgbClr val="000000"/>
              </a:solidFill>
              <a:latin typeface="Arial"/>
            </a:endParaRPr>
          </a:p>
        </p:txBody>
      </p:sp>
      <p:sp>
        <p:nvSpPr>
          <p:cNvPr id="687" name="PlaceHolder 3"/>
          <p:cNvSpPr>
            <a:spLocks noGrp="1"/>
          </p:cNvSpPr>
          <p:nvPr>
            <p:ph type="sldNum" idx="2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85F988F-DA63-438C-905B-2EE8FACDE2B3}" type="slidenum">
              <a:rPr b="0" lang="en-US" sz="1200" spc="-1" strike="noStrike">
                <a:solidFill>
                  <a:schemeClr val="dk1"/>
                </a:solidFill>
                <a:latin typeface="+mn-lt"/>
                <a:ea typeface="+mn-ea"/>
              </a:rPr>
              <a:t>23</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685800" y="1143000"/>
            <a:ext cx="5485320" cy="3085200"/>
          </a:xfrm>
          <a:prstGeom prst="rect">
            <a:avLst/>
          </a:prstGeom>
          <a:ln w="0">
            <a:noFill/>
          </a:ln>
        </p:spPr>
      </p:sp>
      <p:sp>
        <p:nvSpPr>
          <p:cNvPr id="68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Kapanış: Kurumsal veriyle uygun senaryoyu seçip bir pilot planı ve kabul kriterlerini birlikte belirleyelim. Teknik keşif toplantısı talep edin.</a:t>
            </a:r>
            <a:endParaRPr b="0" lang="en-US" sz="2000" spc="-1" strike="noStrike">
              <a:solidFill>
                <a:srgbClr val="000000"/>
              </a:solidFill>
              <a:latin typeface="Arial"/>
            </a:endParaRPr>
          </a:p>
        </p:txBody>
      </p:sp>
      <p:sp>
        <p:nvSpPr>
          <p:cNvPr id="690" name="PlaceHolder 3"/>
          <p:cNvSpPr>
            <a:spLocks noGrp="1"/>
          </p:cNvSpPr>
          <p:nvPr>
            <p:ph type="sldNum" idx="2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E44013C-173D-4CBF-ACF6-0A8C85CED68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Ana başlık metnini düzenlemek için tıklayın</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Anahat metninin biçimini düzenlemek için tıklayın</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İkinci Anahat Düzeyi</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Üçüncü Anahat Düzeyi</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Dördüncü Anahat Düzeyi</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Beşinci Anahat Düzeyi</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Altıncı Anahat Düzeyi</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Yedinci Anahat Düzeyi</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hyperlink" Target="https://learn.microsoft.com/en-us/azure/ai-foundry/what-is-azure-ai-foundry" TargetMode="External"/><Relationship Id="rId2" Type="http://schemas.openxmlformats.org/officeDocument/2006/relationships/hyperlink" Target="https://learn.microsoft.com/en-us/azure/ai-foundry/what-is-azure-ai-foundry" TargetMode="External"/><Relationship Id="rId3" Type="http://schemas.openxmlformats.org/officeDocument/2006/relationships/hyperlink" Target="https://learn.microsoft.com/en-us/azure/ai-foundry/what-is-azure-ai-foundry" TargetMode="External"/><Relationship Id="rId4" Type="http://schemas.openxmlformats.org/officeDocument/2006/relationships/hyperlink" Target="https://learn.microsoft.com/en-us/azure/ai-foundry/what-is-azure-ai-foundry" TargetMode="External"/><Relationship Id="rId5" Type="http://schemas.openxmlformats.org/officeDocument/2006/relationships/hyperlink" Target="https://learn.microsoft.com/en-us/azure/ai-foundry/agents/overview" TargetMode="External"/><Relationship Id="rId6" Type="http://schemas.openxmlformats.org/officeDocument/2006/relationships/hyperlink" Target="https://learn.microsoft.com/en-us/azure/ai-foundry/agents/overview" TargetMode="External"/><Relationship Id="rId7" Type="http://schemas.openxmlformats.org/officeDocument/2006/relationships/hyperlink" Target="https://learn.microsoft.com/en-us/azure/ai-foundry/agents/overview" TargetMode="External"/><Relationship Id="rId8" Type="http://schemas.openxmlformats.org/officeDocument/2006/relationships/hyperlink" Target="https://learn.microsoft.com/en-us/azure/ai-foundry/agents/overview" TargetMode="External"/><Relationship Id="rId9" Type="http://schemas.openxmlformats.org/officeDocument/2006/relationships/hyperlink" Target="https://learn.microsoft.com/en-us/azure/foundry/concepts/deployments-overview" TargetMode="External"/><Relationship Id="rId10" Type="http://schemas.openxmlformats.org/officeDocument/2006/relationships/hyperlink" Target="https://learn.microsoft.com/en-us/azure/foundry/concepts/deployments-overview" TargetMode="External"/><Relationship Id="rId11" Type="http://schemas.openxmlformats.org/officeDocument/2006/relationships/hyperlink" Target="https://learn.microsoft.com/en-us/azure/foundry/concepts/deployments-overview" TargetMode="External"/><Relationship Id="rId12" Type="http://schemas.openxmlformats.org/officeDocument/2006/relationships/hyperlink" Target="https://learn.microsoft.com/en-us/azure/foundry/concepts/deployments-overview" TargetMode="External"/><Relationship Id="rId13" Type="http://schemas.openxmlformats.org/officeDocument/2006/relationships/hyperlink" Target="https://learn.microsoft.com/en-us/azure/foundry/agents/concepts/foundry-iq-faq" TargetMode="External"/><Relationship Id="rId14" Type="http://schemas.openxmlformats.org/officeDocument/2006/relationships/hyperlink" Target="https://learn.microsoft.com/en-us/azure/foundry/agents/concepts/foundry-iq-faq" TargetMode="External"/><Relationship Id="rId15" Type="http://schemas.openxmlformats.org/officeDocument/2006/relationships/hyperlink" Target="https://learn.microsoft.com/en-us/azure/foundry/agents/concepts/foundry-iq-faq" TargetMode="External"/><Relationship Id="rId16" Type="http://schemas.openxmlformats.org/officeDocument/2006/relationships/hyperlink" Target="https://learn.microsoft.com/en-us/azure/foundry/agents/concepts/foundry-iq-faq" TargetMode="External"/><Relationship Id="rId17" Type="http://schemas.openxmlformats.org/officeDocument/2006/relationships/hyperlink" Target="https://learn.microsoft.com/en-us/azure/foundry/agents/how-to/tools/web-search" TargetMode="External"/><Relationship Id="rId18" Type="http://schemas.openxmlformats.org/officeDocument/2006/relationships/hyperlink" Target="https://learn.microsoft.com/en-us/azure/foundry/agents/how-to/tools/web-search" TargetMode="External"/><Relationship Id="rId19" Type="http://schemas.openxmlformats.org/officeDocument/2006/relationships/hyperlink" Target="https://learn.microsoft.com/en-us/azure/foundry/agents/how-to/tools/web-search" TargetMode="External"/><Relationship Id="rId20" Type="http://schemas.openxmlformats.org/officeDocument/2006/relationships/hyperlink" Target="https://learn.microsoft.com/en-us/azure/foundry/agents/how-to/tools/web-search" TargetMode="External"/><Relationship Id="rId21" Type="http://schemas.openxmlformats.org/officeDocument/2006/relationships/hyperlink" Target="https://learn.microsoft.com/en-us/azure/foundry/observability/how-to/evaluate-agent" TargetMode="External"/><Relationship Id="rId22" Type="http://schemas.openxmlformats.org/officeDocument/2006/relationships/hyperlink" Target="https://learn.microsoft.com/en-us/azure/foundry/observability/how-to/evaluate-agent" TargetMode="External"/><Relationship Id="rId23" Type="http://schemas.openxmlformats.org/officeDocument/2006/relationships/hyperlink" Target="https://learn.microsoft.com/en-us/azure/foundry/observability/how-to/evaluate-agent" TargetMode="External"/><Relationship Id="rId24" Type="http://schemas.openxmlformats.org/officeDocument/2006/relationships/hyperlink" Target="https://learn.microsoft.com/en-us/azure/foundry/observability/how-to/evaluate-agent" TargetMode="External"/><Relationship Id="rId25" Type="http://schemas.openxmlformats.org/officeDocument/2006/relationships/hyperlink" Target="https://learn.microsoft.com/en-us/azure/foundry/observability/how-to/trace-agent-setup" TargetMode="External"/><Relationship Id="rId26" Type="http://schemas.openxmlformats.org/officeDocument/2006/relationships/hyperlink" Target="https://learn.microsoft.com/en-us/azure/foundry/observability/how-to/trace-agent-setup" TargetMode="External"/><Relationship Id="rId27" Type="http://schemas.openxmlformats.org/officeDocument/2006/relationships/hyperlink" Target="https://learn.microsoft.com/en-us/azure/foundry/observability/how-to/trace-agent-setup" TargetMode="External"/><Relationship Id="rId28" Type="http://schemas.openxmlformats.org/officeDocument/2006/relationships/hyperlink" Target="https://learn.microsoft.com/en-us/azure/foundry/observability/how-to/trace-agent-setup" TargetMode="External"/><Relationship Id="rId29" Type="http://schemas.openxmlformats.org/officeDocument/2006/relationships/hyperlink" Target="https://www.microsoft.com/en/copilot/products/copilot-studio" TargetMode="External"/><Relationship Id="rId30" Type="http://schemas.openxmlformats.org/officeDocument/2006/relationships/hyperlink" Target="https://www.microsoft.com/en/copilot/products/copilot-studio" TargetMode="External"/><Relationship Id="rId31" Type="http://schemas.openxmlformats.org/officeDocument/2006/relationships/hyperlink" Target="https://www.microsoft.com/en/copilot/products/copilot-studio" TargetMode="External"/><Relationship Id="rId32" Type="http://schemas.openxmlformats.org/officeDocument/2006/relationships/hyperlink" Target="https://www.microsoft.com/en/copilot/products/copilot-studio" TargetMode="External"/><Relationship Id="rId33" Type="http://schemas.openxmlformats.org/officeDocument/2006/relationships/hyperlink" Target="https://ensight.com.tr/hakkimizda/" TargetMode="External"/><Relationship Id="rId34" Type="http://schemas.openxmlformats.org/officeDocument/2006/relationships/hyperlink" Target="https://ensight.com.tr/hakkimizda/" TargetMode="External"/><Relationship Id="rId35" Type="http://schemas.openxmlformats.org/officeDocument/2006/relationships/hyperlink" Target="https://ensight.com.tr/hakkimizda/" TargetMode="External"/><Relationship Id="rId36" Type="http://schemas.openxmlformats.org/officeDocument/2006/relationships/hyperlink" Target="https://ensight.com.tr/hakkimizda/" TargetMode="External"/><Relationship Id="rId37" Type="http://schemas.openxmlformats.org/officeDocument/2006/relationships/hyperlink" Target="https://aka.ms/InsideMicrosoftFoundryPlaylist" TargetMode="External"/><Relationship Id="rId38" Type="http://schemas.openxmlformats.org/officeDocument/2006/relationships/hyperlink" Target="https://aka.ms/InsideMicrosoftFoundryPlaylist" TargetMode="External"/><Relationship Id="rId39" Type="http://schemas.openxmlformats.org/officeDocument/2006/relationships/hyperlink" Target="https://aka.ms/InsideMicrosoftFoundryPlaylist" TargetMode="External"/><Relationship Id="rId40" Type="http://schemas.openxmlformats.org/officeDocument/2006/relationships/hyperlink" Target="https://aka.ms/InsideMicrosoftFoundryPlaylist" TargetMode="External"/><Relationship Id="rId41" Type="http://schemas.openxmlformats.org/officeDocument/2006/relationships/slideLayout" Target="../slideLayouts/slideLayout1.xml"/><Relationship Id="rId4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331"/>
        </a:solidFill>
      </p:bgPr>
    </p:bg>
    <p:spTree>
      <p:nvGrpSpPr>
        <p:cNvPr id="1" name=""/>
        <p:cNvGrpSpPr/>
        <p:nvPr/>
      </p:nvGrpSpPr>
      <p:grpSpPr>
        <a:xfrm>
          <a:off x="0" y="0"/>
          <a:ext cx="0" cy="0"/>
          <a:chOff x="0" y="0"/>
          <a:chExt cx="0" cy="0"/>
        </a:xfrm>
      </p:grpSpPr>
      <p:sp>
        <p:nvSpPr>
          <p:cNvPr id="8" name="Shape 0"/>
          <p:cNvSpPr/>
          <p:nvPr/>
        </p:nvSpPr>
        <p:spPr>
          <a:xfrm>
            <a:off x="8842320" y="0"/>
            <a:ext cx="3345480" cy="6856920"/>
          </a:xfrm>
          <a:prstGeom prst="rect">
            <a:avLst/>
          </a:prstGeom>
          <a:solidFill>
            <a:srgbClr val="142f43"/>
          </a:solidFill>
          <a:ln w="12700">
            <a:solidFill>
              <a:srgbClr val="142f4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Shape 1"/>
          <p:cNvSpPr/>
          <p:nvPr/>
        </p:nvSpPr>
        <p:spPr>
          <a:xfrm flipH="1">
            <a:off x="749808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 name="Shape 2"/>
          <p:cNvSpPr/>
          <p:nvPr/>
        </p:nvSpPr>
        <p:spPr>
          <a:xfrm flipH="1">
            <a:off x="800100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1" name="Shape 3"/>
          <p:cNvSpPr/>
          <p:nvPr/>
        </p:nvSpPr>
        <p:spPr>
          <a:xfrm flipH="1">
            <a:off x="850392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2" name="Shape 4"/>
          <p:cNvSpPr/>
          <p:nvPr/>
        </p:nvSpPr>
        <p:spPr>
          <a:xfrm flipH="1">
            <a:off x="900684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3" name="Shape 5"/>
          <p:cNvSpPr/>
          <p:nvPr/>
        </p:nvSpPr>
        <p:spPr>
          <a:xfrm flipH="1">
            <a:off x="950976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 name="Shape 6"/>
          <p:cNvSpPr/>
          <p:nvPr/>
        </p:nvSpPr>
        <p:spPr>
          <a:xfrm flipH="1">
            <a:off x="1001268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5" name="Shape 7"/>
          <p:cNvSpPr/>
          <p:nvPr/>
        </p:nvSpPr>
        <p:spPr>
          <a:xfrm flipH="1">
            <a:off x="1051560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6" name="Shape 8"/>
          <p:cNvSpPr/>
          <p:nvPr/>
        </p:nvSpPr>
        <p:spPr>
          <a:xfrm flipH="1">
            <a:off x="1101852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 name="Shape 9"/>
          <p:cNvSpPr/>
          <p:nvPr/>
        </p:nvSpPr>
        <p:spPr>
          <a:xfrm flipH="1">
            <a:off x="11521440" y="0"/>
            <a:ext cx="1097280" cy="6858000"/>
          </a:xfrm>
          <a:prstGeom prst="line">
            <a:avLst/>
          </a:prstGeom>
          <a:ln w="6350">
            <a:solidFill>
              <a:srgbClr val="25475b"/>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 name="Shape 10"/>
          <p:cNvSpPr/>
          <p:nvPr/>
        </p:nvSpPr>
        <p:spPr>
          <a:xfrm>
            <a:off x="8641080" y="22860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 name="Shape 11"/>
          <p:cNvSpPr/>
          <p:nvPr/>
        </p:nvSpPr>
        <p:spPr>
          <a:xfrm>
            <a:off x="8641080" y="74952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0" name="Shape 12"/>
          <p:cNvSpPr/>
          <p:nvPr/>
        </p:nvSpPr>
        <p:spPr>
          <a:xfrm>
            <a:off x="8641080" y="127080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1" name="Shape 13"/>
          <p:cNvSpPr/>
          <p:nvPr/>
        </p:nvSpPr>
        <p:spPr>
          <a:xfrm>
            <a:off x="8641080" y="179208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2" name="Shape 14"/>
          <p:cNvSpPr/>
          <p:nvPr/>
        </p:nvSpPr>
        <p:spPr>
          <a:xfrm>
            <a:off x="8641080" y="231336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3" name="Shape 15"/>
          <p:cNvSpPr/>
          <p:nvPr/>
        </p:nvSpPr>
        <p:spPr>
          <a:xfrm>
            <a:off x="8641080" y="283464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4" name="Shape 16"/>
          <p:cNvSpPr/>
          <p:nvPr/>
        </p:nvSpPr>
        <p:spPr>
          <a:xfrm>
            <a:off x="8641080" y="335556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5" name="Shape 17"/>
          <p:cNvSpPr/>
          <p:nvPr/>
        </p:nvSpPr>
        <p:spPr>
          <a:xfrm>
            <a:off x="8641080" y="387684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6" name="Shape 18"/>
          <p:cNvSpPr/>
          <p:nvPr/>
        </p:nvSpPr>
        <p:spPr>
          <a:xfrm>
            <a:off x="8641080" y="439812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7" name="Shape 19"/>
          <p:cNvSpPr/>
          <p:nvPr/>
        </p:nvSpPr>
        <p:spPr>
          <a:xfrm>
            <a:off x="8641080" y="491940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8" name="Shape 20"/>
          <p:cNvSpPr/>
          <p:nvPr/>
        </p:nvSpPr>
        <p:spPr>
          <a:xfrm>
            <a:off x="8641080" y="544068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9" name="Shape 21"/>
          <p:cNvSpPr/>
          <p:nvPr/>
        </p:nvSpPr>
        <p:spPr>
          <a:xfrm>
            <a:off x="8641080" y="596160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0" name="Shape 22"/>
          <p:cNvSpPr/>
          <p:nvPr/>
        </p:nvSpPr>
        <p:spPr>
          <a:xfrm>
            <a:off x="8641080" y="6482880"/>
            <a:ext cx="3547800" cy="360"/>
          </a:xfrm>
          <a:prstGeom prst="line">
            <a:avLst/>
          </a:prstGeom>
          <a:ln w="6350">
            <a:solidFill>
              <a:srgbClr val="25475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1" name="Shape 29"/>
          <p:cNvSpPr/>
          <p:nvPr/>
        </p:nvSpPr>
        <p:spPr>
          <a:xfrm>
            <a:off x="731520" y="1746360"/>
            <a:ext cx="3290760" cy="291600"/>
          </a:xfrm>
          <a:prstGeom prst="roundRect">
            <a:avLst>
              <a:gd name="adj" fmla="val 46875"/>
            </a:avLst>
          </a:prstGeom>
          <a:solidFill>
            <a:srgbClr val="173f57"/>
          </a:solidFill>
          <a:ln w="12700">
            <a:solidFill>
              <a:srgbClr val="173f57">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 name="Text 30"/>
          <p:cNvSpPr/>
          <p:nvPr/>
        </p:nvSpPr>
        <p:spPr>
          <a:xfrm>
            <a:off x="822960" y="1774080"/>
            <a:ext cx="3107880" cy="218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46" strike="noStrike">
                <a:solidFill>
                  <a:srgbClr val="a6dbfa"/>
                </a:solidFill>
                <a:latin typeface="Aptos"/>
                <a:ea typeface="Aptos"/>
              </a:rPr>
              <a:t>STRATEGY  /  PLATFORM  /  EXECUTION</a:t>
            </a:r>
            <a:endParaRPr b="0" lang="en-US" sz="1000" spc="-1" strike="noStrike">
              <a:solidFill>
                <a:srgbClr val="ffffff"/>
              </a:solidFill>
              <a:latin typeface="Arial"/>
            </a:endParaRPr>
          </a:p>
        </p:txBody>
      </p:sp>
      <p:sp>
        <p:nvSpPr>
          <p:cNvPr id="33" name="Text 31"/>
          <p:cNvSpPr/>
          <p:nvPr/>
        </p:nvSpPr>
        <p:spPr>
          <a:xfrm>
            <a:off x="731520" y="2286000"/>
            <a:ext cx="8411400" cy="2147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00" spc="-1" strike="noStrike">
                <a:solidFill>
                  <a:srgbClr val="ffffff"/>
                </a:solidFill>
                <a:latin typeface="Aptos"/>
                <a:ea typeface="Aptos"/>
              </a:rPr>
              <a:t>Kurumsal yapay zekâyı</a:t>
            </a:r>
            <a:endParaRPr b="0" lang="en-US" sz="4100" spc="-1" strike="noStrike">
              <a:solidFill>
                <a:srgbClr val="ffffff"/>
              </a:solidFill>
              <a:latin typeface="Arial"/>
            </a:endParaRPr>
          </a:p>
          <a:p>
            <a:pPr defTabSz="914400">
              <a:lnSpc>
                <a:spcPct val="100000"/>
              </a:lnSpc>
              <a:tabLst>
                <a:tab algn="l" pos="0"/>
              </a:tabLst>
            </a:pPr>
            <a:r>
              <a:rPr b="1" lang="en-US" sz="4100" spc="-1" strike="noStrike">
                <a:solidFill>
                  <a:srgbClr val="ffffff"/>
                </a:solidFill>
                <a:latin typeface="Aptos"/>
                <a:ea typeface="Aptos"/>
              </a:rPr>
              <a:t>prototipten üretime</a:t>
            </a:r>
            <a:endParaRPr b="0" lang="en-US" sz="4100" spc="-1" strike="noStrike">
              <a:solidFill>
                <a:srgbClr val="ffffff"/>
              </a:solidFill>
              <a:latin typeface="Arial"/>
            </a:endParaRPr>
          </a:p>
          <a:p>
            <a:pPr defTabSz="914400">
              <a:lnSpc>
                <a:spcPct val="100000"/>
              </a:lnSpc>
              <a:tabLst>
                <a:tab algn="l" pos="0"/>
              </a:tabLst>
            </a:pPr>
            <a:r>
              <a:rPr b="1" lang="en-US" sz="4100" spc="-1" strike="noStrike">
                <a:solidFill>
                  <a:srgbClr val="ffffff"/>
                </a:solidFill>
                <a:latin typeface="Aptos"/>
                <a:ea typeface="Aptos"/>
              </a:rPr>
              <a:t>taşıyın.</a:t>
            </a:r>
            <a:endParaRPr b="0" lang="en-US" sz="4100" spc="-1" strike="noStrike">
              <a:solidFill>
                <a:srgbClr val="ffffff"/>
              </a:solidFill>
              <a:latin typeface="Arial"/>
            </a:endParaRPr>
          </a:p>
        </p:txBody>
      </p:sp>
      <p:sp>
        <p:nvSpPr>
          <p:cNvPr id="34" name="Text 32"/>
          <p:cNvSpPr/>
          <p:nvPr/>
        </p:nvSpPr>
        <p:spPr>
          <a:xfrm>
            <a:off x="768240" y="4727520"/>
            <a:ext cx="7131240" cy="776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2000" spc="-1" strike="noStrike">
                <a:solidFill>
                  <a:srgbClr val="c8dce7"/>
                </a:solidFill>
                <a:latin typeface="Aptos"/>
                <a:ea typeface="Aptos"/>
              </a:rPr>
              <a:t>Microsoft Foundry ile güvenilir, yönetilebilir ve ölçeklenebilir AI çözümleri</a:t>
            </a:r>
            <a:endParaRPr b="0" lang="en-US" sz="2000" spc="-1" strike="noStrike">
              <a:solidFill>
                <a:srgbClr val="ffffff"/>
              </a:solidFill>
              <a:latin typeface="Arial"/>
            </a:endParaRPr>
          </a:p>
        </p:txBody>
      </p:sp>
      <p:sp>
        <p:nvSpPr>
          <p:cNvPr id="35" name="Shape 33"/>
          <p:cNvSpPr/>
          <p:nvPr/>
        </p:nvSpPr>
        <p:spPr>
          <a:xfrm>
            <a:off x="749520" y="6126480"/>
            <a:ext cx="7223760" cy="360"/>
          </a:xfrm>
          <a:prstGeom prst="line">
            <a:avLst/>
          </a:prstGeom>
          <a:ln w="12700">
            <a:solidFill>
              <a:srgbClr val="3a647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6" name="Text 34"/>
          <p:cNvSpPr/>
          <p:nvPr/>
        </p:nvSpPr>
        <p:spPr>
          <a:xfrm>
            <a:off x="768240" y="6291000"/>
            <a:ext cx="4570920" cy="181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92" strike="noStrike">
                <a:solidFill>
                  <a:srgbClr val="adccd9"/>
                </a:solidFill>
                <a:latin typeface="Aptos"/>
                <a:ea typeface="Aptos"/>
              </a:rPr>
              <a:t>MÜŞTERİ SUNUMU  •  EKİM 2026</a:t>
            </a:r>
            <a:endParaRPr b="0" lang="en-US" sz="1000" spc="-1" strike="noStrike">
              <a:solidFill>
                <a:srgbClr val="ffffff"/>
              </a:solidFill>
              <a:latin typeface="Arial"/>
            </a:endParaRPr>
          </a:p>
        </p:txBody>
      </p:sp>
      <p:sp>
        <p:nvSpPr>
          <p:cNvPr id="37" name="Text 35"/>
          <p:cNvSpPr/>
          <p:nvPr/>
        </p:nvSpPr>
        <p:spPr>
          <a:xfrm>
            <a:off x="9262800" y="6071760"/>
            <a:ext cx="2257560" cy="364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endParaRPr b="0" lang="en-US" sz="1800" spc="-1" strike="noStrike">
              <a:solidFill>
                <a:srgbClr val="ffffff"/>
              </a:solidFill>
              <a:latin typeface="Arial"/>
            </a:endParaRPr>
          </a:p>
        </p:txBody>
      </p:sp>
      <p:sp>
        <p:nvSpPr>
          <p:cNvPr id="38" name="Shape 32"/>
          <p:cNvSpPr/>
          <p:nvPr/>
        </p:nvSpPr>
        <p:spPr>
          <a:xfrm>
            <a:off x="731880" y="1143000"/>
            <a:ext cx="867600" cy="90360"/>
          </a:xfrm>
          <a:prstGeom prst="rect">
            <a:avLst/>
          </a:prstGeom>
          <a:solidFill>
            <a:srgbClr val="22a5e6"/>
          </a:solidFill>
          <a:ln w="12700">
            <a:solidFill>
              <a:srgbClr val="22a5e6">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39" name="Picture 1" descr="ensight_official_wordmark.png"/>
          <p:cNvPicPr/>
          <p:nvPr/>
        </p:nvPicPr>
        <p:blipFill>
          <a:blip r:embed="rId1"/>
          <a:stretch/>
        </p:blipFill>
        <p:spPr>
          <a:xfrm>
            <a:off x="694800" y="269640"/>
            <a:ext cx="2276280" cy="644040"/>
          </a:xfrm>
          <a:prstGeom prst="rect">
            <a:avLst/>
          </a:prstGeom>
          <a:ln w="0">
            <a:noFill/>
          </a:ln>
        </p:spPr>
      </p:pic>
      <p:sp>
        <p:nvSpPr>
          <p:cNvPr id="40" name="TextBox 1"/>
          <p:cNvSpPr/>
          <p:nvPr/>
        </p:nvSpPr>
        <p:spPr>
          <a:xfrm>
            <a:off x="722520" y="914400"/>
            <a:ext cx="274212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0" lang="en-US" sz="1200" spc="-1" strike="noStrike">
                <a:solidFill>
                  <a:srgbClr val="b7e0f3"/>
                </a:solidFill>
                <a:latin typeface="Aptos"/>
              </a:rPr>
              <a:t>DATA &amp; AI</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41"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01 / BAĞLAM</a:t>
            </a:r>
            <a:endParaRPr b="0" lang="en-US" sz="1000" spc="-1" strike="noStrike">
              <a:solidFill>
                <a:srgbClr val="000000"/>
              </a:solidFill>
              <a:latin typeface="Arial"/>
            </a:endParaRPr>
          </a:p>
        </p:txBody>
      </p:sp>
      <p:sp>
        <p:nvSpPr>
          <p:cNvPr id="42"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fontScale="71666"/>
          </a:bodyPr>
          <a:p>
            <a:pPr defTabSz="914400">
              <a:lnSpc>
                <a:spcPct val="100000"/>
              </a:lnSpc>
              <a:tabLst>
                <a:tab algn="l" pos="0"/>
              </a:tabLst>
            </a:pPr>
            <a:r>
              <a:rPr b="1" lang="en-US" sz="2900" spc="-1" strike="noStrike">
                <a:solidFill>
                  <a:srgbClr val="152632"/>
                </a:solidFill>
                <a:latin typeface="Aptos"/>
                <a:ea typeface="Aptos"/>
              </a:rPr>
              <a:t>Sorun model bulmak değil.</a:t>
            </a:r>
            <a:endParaRPr b="0" lang="en-US" sz="2900" spc="-1" strike="noStrike">
              <a:solidFill>
                <a:srgbClr val="000000"/>
              </a:solidFill>
              <a:latin typeface="Arial"/>
            </a:endParaRPr>
          </a:p>
          <a:p>
            <a:pPr defTabSz="914400">
              <a:lnSpc>
                <a:spcPct val="100000"/>
              </a:lnSpc>
              <a:tabLst>
                <a:tab algn="l" pos="0"/>
              </a:tabLst>
            </a:pPr>
            <a:r>
              <a:rPr b="1" lang="en-US" sz="2900" spc="-1" strike="noStrike">
                <a:solidFill>
                  <a:srgbClr val="152632"/>
                </a:solidFill>
                <a:latin typeface="Aptos"/>
                <a:ea typeface="Aptos"/>
              </a:rPr>
              <a:t>AI çözümünü güvenle hayata geçirmek.</a:t>
            </a:r>
            <a:endParaRPr b="0" lang="en-US" sz="2900" spc="-1" strike="noStrike">
              <a:solidFill>
                <a:srgbClr val="000000"/>
              </a:solidFill>
              <a:latin typeface="Arial"/>
            </a:endParaRPr>
          </a:p>
        </p:txBody>
      </p:sp>
      <p:sp>
        <p:nvSpPr>
          <p:cNvPr id="43"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Pilotların gerçek operasyonlara taşınmasında dört kritik sürtünme noktası.</a:t>
            </a:r>
            <a:endParaRPr b="0" lang="en-US" sz="1500" spc="-1" strike="noStrike">
              <a:solidFill>
                <a:srgbClr val="000000"/>
              </a:solidFill>
              <a:latin typeface="Arial"/>
            </a:endParaRPr>
          </a:p>
        </p:txBody>
      </p:sp>
      <p:sp>
        <p:nvSpPr>
          <p:cNvPr id="44"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5"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46"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47"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02</a:t>
            </a:r>
            <a:endParaRPr b="0" lang="en-US" sz="1000" spc="-1" strike="noStrike">
              <a:solidFill>
                <a:srgbClr val="000000"/>
              </a:solidFill>
              <a:latin typeface="Arial"/>
            </a:endParaRPr>
          </a:p>
        </p:txBody>
      </p:sp>
      <p:sp>
        <p:nvSpPr>
          <p:cNvPr id="48" name="Shape 7"/>
          <p:cNvSpPr/>
          <p:nvPr/>
        </p:nvSpPr>
        <p:spPr>
          <a:xfrm>
            <a:off x="667440" y="2322720"/>
            <a:ext cx="5357160" cy="1361520"/>
          </a:xfrm>
          <a:prstGeom prst="roundRect">
            <a:avLst>
              <a:gd name="adj" fmla="val 8054"/>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9" name="Text 8"/>
          <p:cNvSpPr/>
          <p:nvPr/>
        </p:nvSpPr>
        <p:spPr>
          <a:xfrm>
            <a:off x="896040" y="2541960"/>
            <a:ext cx="50184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0078d4"/>
                </a:solidFill>
                <a:latin typeface="Aptos"/>
                <a:ea typeface="Aptos"/>
              </a:rPr>
              <a:t>01</a:t>
            </a:r>
            <a:endParaRPr b="0" lang="en-US" sz="1900" spc="-1" strike="noStrike">
              <a:solidFill>
                <a:srgbClr val="000000"/>
              </a:solidFill>
              <a:latin typeface="Arial"/>
            </a:endParaRPr>
          </a:p>
        </p:txBody>
      </p:sp>
      <p:sp>
        <p:nvSpPr>
          <p:cNvPr id="50" name="Text 9"/>
          <p:cNvSpPr/>
          <p:nvPr/>
        </p:nvSpPr>
        <p:spPr>
          <a:xfrm>
            <a:off x="1481400" y="2505600"/>
            <a:ext cx="41137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Parçalı teknoloji</a:t>
            </a:r>
            <a:endParaRPr b="0" lang="en-US" sz="1900" spc="-1" strike="noStrike">
              <a:solidFill>
                <a:srgbClr val="000000"/>
              </a:solidFill>
              <a:latin typeface="Arial"/>
            </a:endParaRPr>
          </a:p>
        </p:txBody>
      </p:sp>
      <p:sp>
        <p:nvSpPr>
          <p:cNvPr id="51" name="Text 10"/>
          <p:cNvSpPr/>
          <p:nvPr/>
        </p:nvSpPr>
        <p:spPr>
          <a:xfrm>
            <a:off x="1481400" y="2889360"/>
            <a:ext cx="4141080" cy="538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Modeller, araçlar ve veri sistemleri arasında entegrasyon yükü.</a:t>
            </a:r>
            <a:endParaRPr b="0" lang="en-US" sz="1400" spc="-1" strike="noStrike">
              <a:solidFill>
                <a:srgbClr val="000000"/>
              </a:solidFill>
              <a:latin typeface="Arial"/>
            </a:endParaRPr>
          </a:p>
        </p:txBody>
      </p:sp>
      <p:sp>
        <p:nvSpPr>
          <p:cNvPr id="52" name="Shape 11"/>
          <p:cNvSpPr/>
          <p:nvPr/>
        </p:nvSpPr>
        <p:spPr>
          <a:xfrm>
            <a:off x="6263640" y="2322720"/>
            <a:ext cx="5357160" cy="1361520"/>
          </a:xfrm>
          <a:prstGeom prst="roundRect">
            <a:avLst>
              <a:gd name="adj" fmla="val 8054"/>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3" name="Text 12"/>
          <p:cNvSpPr/>
          <p:nvPr/>
        </p:nvSpPr>
        <p:spPr>
          <a:xfrm>
            <a:off x="6492240" y="2541960"/>
            <a:ext cx="50184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0078d4"/>
                </a:solidFill>
                <a:latin typeface="Aptos"/>
                <a:ea typeface="Aptos"/>
              </a:rPr>
              <a:t>02</a:t>
            </a:r>
            <a:endParaRPr b="0" lang="en-US" sz="1900" spc="-1" strike="noStrike">
              <a:solidFill>
                <a:srgbClr val="000000"/>
              </a:solidFill>
              <a:latin typeface="Arial"/>
            </a:endParaRPr>
          </a:p>
        </p:txBody>
      </p:sp>
      <p:sp>
        <p:nvSpPr>
          <p:cNvPr id="54" name="Text 13"/>
          <p:cNvSpPr/>
          <p:nvPr/>
        </p:nvSpPr>
        <p:spPr>
          <a:xfrm>
            <a:off x="7077600" y="2505600"/>
            <a:ext cx="41137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Güven açığı</a:t>
            </a:r>
            <a:endParaRPr b="0" lang="en-US" sz="1900" spc="-1" strike="noStrike">
              <a:solidFill>
                <a:srgbClr val="000000"/>
              </a:solidFill>
              <a:latin typeface="Arial"/>
            </a:endParaRPr>
          </a:p>
        </p:txBody>
      </p:sp>
      <p:sp>
        <p:nvSpPr>
          <p:cNvPr id="55" name="Text 14"/>
          <p:cNvSpPr/>
          <p:nvPr/>
        </p:nvSpPr>
        <p:spPr>
          <a:xfrm>
            <a:off x="7077600" y="2889360"/>
            <a:ext cx="4141080" cy="538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Kaynağı belirsiz yanıtlar, yetkisiz erişim, kontrolsüz aksiyon.</a:t>
            </a:r>
            <a:endParaRPr b="0" lang="en-US" sz="1400" spc="-1" strike="noStrike">
              <a:solidFill>
                <a:srgbClr val="000000"/>
              </a:solidFill>
              <a:latin typeface="Arial"/>
            </a:endParaRPr>
          </a:p>
        </p:txBody>
      </p:sp>
      <p:sp>
        <p:nvSpPr>
          <p:cNvPr id="56" name="Shape 15"/>
          <p:cNvSpPr/>
          <p:nvPr/>
        </p:nvSpPr>
        <p:spPr>
          <a:xfrm>
            <a:off x="667440" y="3950280"/>
            <a:ext cx="5357160" cy="1361520"/>
          </a:xfrm>
          <a:prstGeom prst="roundRect">
            <a:avLst>
              <a:gd name="adj" fmla="val 8054"/>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7" name="Text 16"/>
          <p:cNvSpPr/>
          <p:nvPr/>
        </p:nvSpPr>
        <p:spPr>
          <a:xfrm>
            <a:off x="896040" y="4169520"/>
            <a:ext cx="50184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0078d4"/>
                </a:solidFill>
                <a:latin typeface="Aptos"/>
                <a:ea typeface="Aptos"/>
              </a:rPr>
              <a:t>03</a:t>
            </a:r>
            <a:endParaRPr b="0" lang="en-US" sz="1900" spc="-1" strike="noStrike">
              <a:solidFill>
                <a:srgbClr val="000000"/>
              </a:solidFill>
              <a:latin typeface="Arial"/>
            </a:endParaRPr>
          </a:p>
        </p:txBody>
      </p:sp>
      <p:sp>
        <p:nvSpPr>
          <p:cNvPr id="58" name="Text 17"/>
          <p:cNvSpPr/>
          <p:nvPr/>
        </p:nvSpPr>
        <p:spPr>
          <a:xfrm>
            <a:off x="1481400" y="4133160"/>
            <a:ext cx="41137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Ölçüm eksikliği</a:t>
            </a:r>
            <a:endParaRPr b="0" lang="en-US" sz="1900" spc="-1" strike="noStrike">
              <a:solidFill>
                <a:srgbClr val="000000"/>
              </a:solidFill>
              <a:latin typeface="Arial"/>
            </a:endParaRPr>
          </a:p>
        </p:txBody>
      </p:sp>
      <p:sp>
        <p:nvSpPr>
          <p:cNvPr id="59" name="Text 18"/>
          <p:cNvSpPr/>
          <p:nvPr/>
        </p:nvSpPr>
        <p:spPr>
          <a:xfrm>
            <a:off x="1481400" y="4517280"/>
            <a:ext cx="4141080" cy="538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Doğruluk, maliyet ve gecikmenin sistematik izlenememesi.</a:t>
            </a:r>
            <a:endParaRPr b="0" lang="en-US" sz="1400" spc="-1" strike="noStrike">
              <a:solidFill>
                <a:srgbClr val="000000"/>
              </a:solidFill>
              <a:latin typeface="Arial"/>
            </a:endParaRPr>
          </a:p>
        </p:txBody>
      </p:sp>
      <p:sp>
        <p:nvSpPr>
          <p:cNvPr id="60" name="Shape 19"/>
          <p:cNvSpPr/>
          <p:nvPr/>
        </p:nvSpPr>
        <p:spPr>
          <a:xfrm>
            <a:off x="6263640" y="3950280"/>
            <a:ext cx="5357160" cy="1361520"/>
          </a:xfrm>
          <a:prstGeom prst="roundRect">
            <a:avLst>
              <a:gd name="adj" fmla="val 8054"/>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1" name="Text 20"/>
          <p:cNvSpPr/>
          <p:nvPr/>
        </p:nvSpPr>
        <p:spPr>
          <a:xfrm>
            <a:off x="6492240" y="4169520"/>
            <a:ext cx="50184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0078d4"/>
                </a:solidFill>
                <a:latin typeface="Aptos"/>
                <a:ea typeface="Aptos"/>
              </a:rPr>
              <a:t>04</a:t>
            </a:r>
            <a:endParaRPr b="0" lang="en-US" sz="1900" spc="-1" strike="noStrike">
              <a:solidFill>
                <a:srgbClr val="000000"/>
              </a:solidFill>
              <a:latin typeface="Arial"/>
            </a:endParaRPr>
          </a:p>
        </p:txBody>
      </p:sp>
      <p:sp>
        <p:nvSpPr>
          <p:cNvPr id="62" name="Text 21"/>
          <p:cNvSpPr/>
          <p:nvPr/>
        </p:nvSpPr>
        <p:spPr>
          <a:xfrm>
            <a:off x="7077600" y="4133160"/>
            <a:ext cx="41137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Operasyonel yük</a:t>
            </a:r>
            <a:endParaRPr b="0" lang="en-US" sz="1900" spc="-1" strike="noStrike">
              <a:solidFill>
                <a:srgbClr val="000000"/>
              </a:solidFill>
              <a:latin typeface="Arial"/>
            </a:endParaRPr>
          </a:p>
        </p:txBody>
      </p:sp>
      <p:sp>
        <p:nvSpPr>
          <p:cNvPr id="63" name="Text 22"/>
          <p:cNvSpPr/>
          <p:nvPr/>
        </p:nvSpPr>
        <p:spPr>
          <a:xfrm>
            <a:off x="7077600" y="4517280"/>
            <a:ext cx="4141080" cy="538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Dağıtım, ölçekleme, sürümleme ve bakım karmaşıklığı.</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64"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02 / YAKLAŞIM</a:t>
            </a:r>
            <a:endParaRPr b="0" lang="en-US" sz="1000" spc="-1" strike="noStrike">
              <a:solidFill>
                <a:srgbClr val="000000"/>
              </a:solidFill>
              <a:latin typeface="Arial"/>
            </a:endParaRPr>
          </a:p>
        </p:txBody>
      </p:sp>
      <p:sp>
        <p:nvSpPr>
          <p:cNvPr id="65"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Bir modelden daha fazlasına ihtiyaç var.</a:t>
            </a:r>
            <a:endParaRPr b="0" lang="en-US" sz="2900" spc="-1" strike="noStrike">
              <a:solidFill>
                <a:srgbClr val="000000"/>
              </a:solidFill>
              <a:latin typeface="Arial"/>
            </a:endParaRPr>
          </a:p>
        </p:txBody>
      </p:sp>
      <p:sp>
        <p:nvSpPr>
          <p:cNvPr id="66"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Başarı: iyi yanıt + doğru veri + kontrollü aksiyon + ölçülebilir operasyon.</a:t>
            </a:r>
            <a:endParaRPr b="0" lang="en-US" sz="1500" spc="-1" strike="noStrike">
              <a:solidFill>
                <a:srgbClr val="000000"/>
              </a:solidFill>
              <a:latin typeface="Arial"/>
            </a:endParaRPr>
          </a:p>
        </p:txBody>
      </p:sp>
      <p:sp>
        <p:nvSpPr>
          <p:cNvPr id="67"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68"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69"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70"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03</a:t>
            </a:r>
            <a:endParaRPr b="0" lang="en-US" sz="1000" spc="-1" strike="noStrike">
              <a:solidFill>
                <a:srgbClr val="000000"/>
              </a:solidFill>
              <a:latin typeface="Arial"/>
            </a:endParaRPr>
          </a:p>
        </p:txBody>
      </p:sp>
      <p:sp>
        <p:nvSpPr>
          <p:cNvPr id="71" name="Shape 7"/>
          <p:cNvSpPr/>
          <p:nvPr/>
        </p:nvSpPr>
        <p:spPr>
          <a:xfrm>
            <a:off x="704160" y="2496240"/>
            <a:ext cx="2650680" cy="2449440"/>
          </a:xfrm>
          <a:prstGeom prst="roundRect">
            <a:avLst>
              <a:gd name="adj" fmla="val 447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2" name="Text 8"/>
          <p:cNvSpPr/>
          <p:nvPr/>
        </p:nvSpPr>
        <p:spPr>
          <a:xfrm>
            <a:off x="914400" y="2788920"/>
            <a:ext cx="63900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00" spc="-1" strike="noStrike">
                <a:solidFill>
                  <a:srgbClr val="0078d4"/>
                </a:solidFill>
                <a:latin typeface="Aptos"/>
                <a:ea typeface="Aptos"/>
              </a:rPr>
              <a:t>01</a:t>
            </a:r>
            <a:endParaRPr b="0" lang="en-US" sz="2300" spc="-1" strike="noStrike">
              <a:solidFill>
                <a:srgbClr val="000000"/>
              </a:solidFill>
              <a:latin typeface="Arial"/>
            </a:endParaRPr>
          </a:p>
        </p:txBody>
      </p:sp>
      <p:sp>
        <p:nvSpPr>
          <p:cNvPr id="73" name="Text 9"/>
          <p:cNvSpPr/>
          <p:nvPr/>
        </p:nvSpPr>
        <p:spPr>
          <a:xfrm>
            <a:off x="914400" y="3355920"/>
            <a:ext cx="2102040" cy="410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pc="-1" strike="noStrike">
                <a:solidFill>
                  <a:srgbClr val="152632"/>
                </a:solidFill>
                <a:latin typeface="Aptos"/>
                <a:ea typeface="Aptos"/>
              </a:rPr>
              <a:t>ANLA</a:t>
            </a:r>
            <a:endParaRPr b="0" lang="en-US" sz="2200" spc="-1" strike="noStrike">
              <a:solidFill>
                <a:srgbClr val="000000"/>
              </a:solidFill>
              <a:latin typeface="Arial"/>
            </a:endParaRPr>
          </a:p>
        </p:txBody>
      </p:sp>
      <p:sp>
        <p:nvSpPr>
          <p:cNvPr id="74" name="Text 10"/>
          <p:cNvSpPr/>
          <p:nvPr/>
        </p:nvSpPr>
        <p:spPr>
          <a:xfrm>
            <a:off x="914400" y="3913560"/>
            <a:ext cx="2193480" cy="684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İş problemini ve başarı ölçütünü tanımla</a:t>
            </a:r>
            <a:endParaRPr b="0" lang="en-US" sz="1400" spc="-1" strike="noStrike">
              <a:solidFill>
                <a:srgbClr val="000000"/>
              </a:solidFill>
              <a:latin typeface="Arial"/>
            </a:endParaRPr>
          </a:p>
        </p:txBody>
      </p:sp>
      <p:sp>
        <p:nvSpPr>
          <p:cNvPr id="75" name="Shape 11"/>
          <p:cNvSpPr/>
          <p:nvPr/>
        </p:nvSpPr>
        <p:spPr>
          <a:xfrm>
            <a:off x="3374640" y="356616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 name="Shape 12"/>
          <p:cNvSpPr/>
          <p:nvPr/>
        </p:nvSpPr>
        <p:spPr>
          <a:xfrm>
            <a:off x="3584520" y="2496240"/>
            <a:ext cx="2650680" cy="2449440"/>
          </a:xfrm>
          <a:prstGeom prst="roundRect">
            <a:avLst>
              <a:gd name="adj" fmla="val 447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7" name="Text 13"/>
          <p:cNvSpPr/>
          <p:nvPr/>
        </p:nvSpPr>
        <p:spPr>
          <a:xfrm>
            <a:off x="3794760" y="2788920"/>
            <a:ext cx="63900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00" spc="-1" strike="noStrike">
                <a:solidFill>
                  <a:srgbClr val="0078d4"/>
                </a:solidFill>
                <a:latin typeface="Aptos"/>
                <a:ea typeface="Aptos"/>
              </a:rPr>
              <a:t>02</a:t>
            </a:r>
            <a:endParaRPr b="0" lang="en-US" sz="2300" spc="-1" strike="noStrike">
              <a:solidFill>
                <a:srgbClr val="000000"/>
              </a:solidFill>
              <a:latin typeface="Arial"/>
            </a:endParaRPr>
          </a:p>
        </p:txBody>
      </p:sp>
      <p:sp>
        <p:nvSpPr>
          <p:cNvPr id="78" name="Text 14"/>
          <p:cNvSpPr/>
          <p:nvPr/>
        </p:nvSpPr>
        <p:spPr>
          <a:xfrm>
            <a:off x="3794760" y="3355920"/>
            <a:ext cx="2102040" cy="410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pc="-1" strike="noStrike">
                <a:solidFill>
                  <a:srgbClr val="152632"/>
                </a:solidFill>
                <a:latin typeface="Aptos"/>
                <a:ea typeface="Aptos"/>
              </a:rPr>
              <a:t>BAĞLA</a:t>
            </a:r>
            <a:endParaRPr b="0" lang="en-US" sz="2200" spc="-1" strike="noStrike">
              <a:solidFill>
                <a:srgbClr val="000000"/>
              </a:solidFill>
              <a:latin typeface="Arial"/>
            </a:endParaRPr>
          </a:p>
        </p:txBody>
      </p:sp>
      <p:sp>
        <p:nvSpPr>
          <p:cNvPr id="79" name="Text 15"/>
          <p:cNvSpPr/>
          <p:nvPr/>
        </p:nvSpPr>
        <p:spPr>
          <a:xfrm>
            <a:off x="3794760" y="3913560"/>
            <a:ext cx="2193480" cy="684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Kurumsal veriler ve iş sistemleriyle bütünleştir</a:t>
            </a:r>
            <a:endParaRPr b="0" lang="en-US" sz="1400" spc="-1" strike="noStrike">
              <a:solidFill>
                <a:srgbClr val="000000"/>
              </a:solidFill>
              <a:latin typeface="Arial"/>
            </a:endParaRPr>
          </a:p>
        </p:txBody>
      </p:sp>
      <p:sp>
        <p:nvSpPr>
          <p:cNvPr id="80" name="Shape 16"/>
          <p:cNvSpPr/>
          <p:nvPr/>
        </p:nvSpPr>
        <p:spPr>
          <a:xfrm>
            <a:off x="6235920" y="356616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1" name="Shape 17"/>
          <p:cNvSpPr/>
          <p:nvPr/>
        </p:nvSpPr>
        <p:spPr>
          <a:xfrm>
            <a:off x="6464880" y="2496240"/>
            <a:ext cx="2650680" cy="2449440"/>
          </a:xfrm>
          <a:prstGeom prst="roundRect">
            <a:avLst>
              <a:gd name="adj" fmla="val 447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2" name="Text 18"/>
          <p:cNvSpPr/>
          <p:nvPr/>
        </p:nvSpPr>
        <p:spPr>
          <a:xfrm>
            <a:off x="6675120" y="2788920"/>
            <a:ext cx="63900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00" spc="-1" strike="noStrike">
                <a:solidFill>
                  <a:srgbClr val="0078d4"/>
                </a:solidFill>
                <a:latin typeface="Aptos"/>
                <a:ea typeface="Aptos"/>
              </a:rPr>
              <a:t>03</a:t>
            </a:r>
            <a:endParaRPr b="0" lang="en-US" sz="2300" spc="-1" strike="noStrike">
              <a:solidFill>
                <a:srgbClr val="000000"/>
              </a:solidFill>
              <a:latin typeface="Arial"/>
            </a:endParaRPr>
          </a:p>
        </p:txBody>
      </p:sp>
      <p:sp>
        <p:nvSpPr>
          <p:cNvPr id="83" name="Text 19"/>
          <p:cNvSpPr/>
          <p:nvPr/>
        </p:nvSpPr>
        <p:spPr>
          <a:xfrm>
            <a:off x="6675120" y="3355920"/>
            <a:ext cx="2102040" cy="410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pc="-1" strike="noStrike">
                <a:solidFill>
                  <a:srgbClr val="152632"/>
                </a:solidFill>
                <a:latin typeface="Aptos"/>
                <a:ea typeface="Aptos"/>
              </a:rPr>
              <a:t>ÇALIŞTIR</a:t>
            </a:r>
            <a:endParaRPr b="0" lang="en-US" sz="2200" spc="-1" strike="noStrike">
              <a:solidFill>
                <a:srgbClr val="000000"/>
              </a:solidFill>
              <a:latin typeface="Arial"/>
            </a:endParaRPr>
          </a:p>
        </p:txBody>
      </p:sp>
      <p:sp>
        <p:nvSpPr>
          <p:cNvPr id="84" name="Text 20"/>
          <p:cNvSpPr/>
          <p:nvPr/>
        </p:nvSpPr>
        <p:spPr>
          <a:xfrm>
            <a:off x="6675120" y="3913560"/>
            <a:ext cx="2193480" cy="684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İnsan onaylı / otomatik süreçler tasarla</a:t>
            </a:r>
            <a:endParaRPr b="0" lang="en-US" sz="1400" spc="-1" strike="noStrike">
              <a:solidFill>
                <a:srgbClr val="000000"/>
              </a:solidFill>
              <a:latin typeface="Arial"/>
            </a:endParaRPr>
          </a:p>
        </p:txBody>
      </p:sp>
      <p:sp>
        <p:nvSpPr>
          <p:cNvPr id="85" name="Shape 21"/>
          <p:cNvSpPr/>
          <p:nvPr/>
        </p:nvSpPr>
        <p:spPr>
          <a:xfrm>
            <a:off x="9116280" y="356616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 name="Shape 22"/>
          <p:cNvSpPr/>
          <p:nvPr/>
        </p:nvSpPr>
        <p:spPr>
          <a:xfrm>
            <a:off x="9345240" y="2496240"/>
            <a:ext cx="2650680" cy="2449440"/>
          </a:xfrm>
          <a:prstGeom prst="roundRect">
            <a:avLst>
              <a:gd name="adj" fmla="val 4478"/>
            </a:avLst>
          </a:prstGeom>
          <a:solidFill>
            <a:srgbClr val="142b3d"/>
          </a:solidFill>
          <a:ln w="10160">
            <a:solidFill>
              <a:srgbClr val="142b3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7" name="Text 23"/>
          <p:cNvSpPr/>
          <p:nvPr/>
        </p:nvSpPr>
        <p:spPr>
          <a:xfrm>
            <a:off x="9555480" y="2788920"/>
            <a:ext cx="63900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00" spc="-1" strike="noStrike">
                <a:solidFill>
                  <a:srgbClr val="93dff5"/>
                </a:solidFill>
                <a:latin typeface="Aptos"/>
                <a:ea typeface="Aptos"/>
              </a:rPr>
              <a:t>04</a:t>
            </a:r>
            <a:endParaRPr b="0" lang="en-US" sz="2300" spc="-1" strike="noStrike">
              <a:solidFill>
                <a:srgbClr val="000000"/>
              </a:solidFill>
              <a:latin typeface="Arial"/>
            </a:endParaRPr>
          </a:p>
        </p:txBody>
      </p:sp>
      <p:sp>
        <p:nvSpPr>
          <p:cNvPr id="88" name="Text 24"/>
          <p:cNvSpPr/>
          <p:nvPr/>
        </p:nvSpPr>
        <p:spPr>
          <a:xfrm>
            <a:off x="9555480" y="3355920"/>
            <a:ext cx="2102040" cy="410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pc="-1" strike="noStrike">
                <a:solidFill>
                  <a:srgbClr val="ffffff"/>
                </a:solidFill>
                <a:latin typeface="Aptos"/>
                <a:ea typeface="Aptos"/>
              </a:rPr>
              <a:t>İYİLEŞTİR</a:t>
            </a:r>
            <a:endParaRPr b="0" lang="en-US" sz="2200" spc="-1" strike="noStrike">
              <a:solidFill>
                <a:srgbClr val="000000"/>
              </a:solidFill>
              <a:latin typeface="Arial"/>
            </a:endParaRPr>
          </a:p>
        </p:txBody>
      </p:sp>
      <p:sp>
        <p:nvSpPr>
          <p:cNvPr id="89" name="Text 25"/>
          <p:cNvSpPr/>
          <p:nvPr/>
        </p:nvSpPr>
        <p:spPr>
          <a:xfrm>
            <a:off x="9555480" y="3913560"/>
            <a:ext cx="2193480" cy="684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c4dee9"/>
                </a:solidFill>
                <a:latin typeface="Aptos"/>
                <a:ea typeface="Aptos"/>
              </a:rPr>
              <a:t>Kalite, güvenlik ve maliyeti sürekli ölç</a:t>
            </a:r>
            <a:endParaRPr b="0" lang="en-US" sz="1400" spc="-1" strike="noStrike">
              <a:solidFill>
                <a:srgbClr val="000000"/>
              </a:solidFill>
              <a:latin typeface="Arial"/>
            </a:endParaRPr>
          </a:p>
        </p:txBody>
      </p:sp>
      <p:sp>
        <p:nvSpPr>
          <p:cNvPr id="90" name="Text 26"/>
          <p:cNvSpPr/>
          <p:nvPr/>
        </p:nvSpPr>
        <p:spPr>
          <a:xfrm>
            <a:off x="704160" y="5440680"/>
            <a:ext cx="10880280" cy="456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pc="-1" strike="noStrike">
                <a:solidFill>
                  <a:srgbClr val="152632"/>
                </a:solidFill>
                <a:latin typeface="Aptos"/>
                <a:ea typeface="Aptos"/>
              </a:rPr>
              <a:t>İş değeri, teknolojinin kendisinden değil; kontrollü süreç iyileştirmesinden doğar.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91"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03 / PLATFORM</a:t>
            </a:r>
            <a:endParaRPr b="0" lang="en-US" sz="1000" spc="-1" strike="noStrike">
              <a:solidFill>
                <a:srgbClr val="000000"/>
              </a:solidFill>
              <a:latin typeface="Arial"/>
            </a:endParaRPr>
          </a:p>
        </p:txBody>
      </p:sp>
      <p:sp>
        <p:nvSpPr>
          <p:cNvPr id="92"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Microsoft Foundry, AI uygulama fabrikasıdır.</a:t>
            </a:r>
            <a:endParaRPr b="0" lang="en-US" sz="2900" spc="-1" strike="noStrike">
              <a:solidFill>
                <a:srgbClr val="000000"/>
              </a:solidFill>
              <a:latin typeface="Arial"/>
            </a:endParaRPr>
          </a:p>
        </p:txBody>
      </p:sp>
      <p:sp>
        <p:nvSpPr>
          <p:cNvPr id="93"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Models + Agents + Tools; ortak güvenlik, değerlendirme ve işletim katmanıyla.</a:t>
            </a:r>
            <a:endParaRPr b="0" lang="en-US" sz="1500" spc="-1" strike="noStrike">
              <a:solidFill>
                <a:srgbClr val="000000"/>
              </a:solidFill>
              <a:latin typeface="Arial"/>
            </a:endParaRPr>
          </a:p>
        </p:txBody>
      </p:sp>
      <p:sp>
        <p:nvSpPr>
          <p:cNvPr id="94"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95"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96"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97"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04</a:t>
            </a:r>
            <a:endParaRPr b="0" lang="en-US" sz="1000" spc="-1" strike="noStrike">
              <a:solidFill>
                <a:srgbClr val="000000"/>
              </a:solidFill>
              <a:latin typeface="Arial"/>
            </a:endParaRPr>
          </a:p>
        </p:txBody>
      </p:sp>
      <p:sp>
        <p:nvSpPr>
          <p:cNvPr id="98" name="Shape 7"/>
          <p:cNvSpPr/>
          <p:nvPr/>
        </p:nvSpPr>
        <p:spPr>
          <a:xfrm>
            <a:off x="704160" y="2240280"/>
            <a:ext cx="3601800" cy="2349000"/>
          </a:xfrm>
          <a:prstGeom prst="roundRect">
            <a:avLst>
              <a:gd name="adj" fmla="val 466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9" name="Shape 8"/>
          <p:cNvSpPr/>
          <p:nvPr/>
        </p:nvSpPr>
        <p:spPr>
          <a:xfrm>
            <a:off x="704160" y="2240280"/>
            <a:ext cx="3601800" cy="81360"/>
          </a:xfrm>
          <a:prstGeom prst="rect">
            <a:avLst/>
          </a:prstGeom>
          <a:solidFill>
            <a:srgbClr val="2493d4"/>
          </a:solidFill>
          <a:ln w="12700">
            <a:solidFill>
              <a:srgbClr val="2493d4">
                <a:alpha val="0"/>
              </a:srgbClr>
            </a:solidFill>
            <a:round/>
          </a:ln>
        </p:spPr>
        <p:style>
          <a:lnRef idx="0"/>
          <a:fillRef idx="0"/>
          <a:effectRef idx="0"/>
          <a:fontRef idx="minor"/>
        </p:style>
        <p:txBody>
          <a:bodyPr lIns="90000" rIns="90000" tIns="37440" bIns="37440" anchor="t">
            <a:noAutofit/>
          </a:bodyPr>
          <a:p>
            <a:pPr>
              <a:lnSpc>
                <a:spcPct val="100000"/>
              </a:lnSpc>
            </a:pPr>
            <a:endParaRPr b="0" lang="en-US" sz="1800" spc="-1" strike="noStrike">
              <a:solidFill>
                <a:srgbClr val="ffffff"/>
              </a:solidFill>
              <a:latin typeface="Arial"/>
            </a:endParaRPr>
          </a:p>
        </p:txBody>
      </p:sp>
      <p:sp>
        <p:nvSpPr>
          <p:cNvPr id="100" name="Text 9"/>
          <p:cNvSpPr/>
          <p:nvPr/>
        </p:nvSpPr>
        <p:spPr>
          <a:xfrm>
            <a:off x="960120" y="2587680"/>
            <a:ext cx="2833560" cy="227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72" strike="noStrike">
                <a:solidFill>
                  <a:srgbClr val="0078d4"/>
                </a:solidFill>
                <a:latin typeface="Aptos"/>
                <a:ea typeface="Aptos"/>
              </a:rPr>
              <a:t>MODELS</a:t>
            </a:r>
            <a:endParaRPr b="0" lang="en-US" sz="1100" spc="-1" strike="noStrike">
              <a:solidFill>
                <a:srgbClr val="000000"/>
              </a:solidFill>
              <a:latin typeface="Arial"/>
            </a:endParaRPr>
          </a:p>
        </p:txBody>
      </p:sp>
      <p:sp>
        <p:nvSpPr>
          <p:cNvPr id="101" name="Text 10"/>
          <p:cNvSpPr/>
          <p:nvPr/>
        </p:nvSpPr>
        <p:spPr>
          <a:xfrm>
            <a:off x="960120" y="2971800"/>
            <a:ext cx="305316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pc="-1" strike="noStrike">
                <a:solidFill>
                  <a:srgbClr val="152632"/>
                </a:solidFill>
                <a:latin typeface="Aptos"/>
                <a:ea typeface="Aptos"/>
              </a:rPr>
              <a:t>Doğru modeli seç</a:t>
            </a:r>
            <a:endParaRPr b="0" lang="en-US" sz="2100" spc="-1" strike="noStrike">
              <a:solidFill>
                <a:srgbClr val="000000"/>
              </a:solidFill>
              <a:latin typeface="Arial"/>
            </a:endParaRPr>
          </a:p>
        </p:txBody>
      </p:sp>
      <p:sp>
        <p:nvSpPr>
          <p:cNvPr id="102" name="Text 11"/>
          <p:cNvSpPr/>
          <p:nvPr/>
        </p:nvSpPr>
        <p:spPr>
          <a:xfrm>
            <a:off x="960120" y="3547800"/>
            <a:ext cx="3053160" cy="721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Farklı sağlayıcılar, model karşılaştırma, deployment ve inference.</a:t>
            </a:r>
            <a:endParaRPr b="0" lang="en-US" sz="1400" spc="-1" strike="noStrike">
              <a:solidFill>
                <a:srgbClr val="000000"/>
              </a:solidFill>
              <a:latin typeface="Arial"/>
            </a:endParaRPr>
          </a:p>
        </p:txBody>
      </p:sp>
      <p:sp>
        <p:nvSpPr>
          <p:cNvPr id="103" name="Shape 12"/>
          <p:cNvSpPr/>
          <p:nvPr/>
        </p:nvSpPr>
        <p:spPr>
          <a:xfrm>
            <a:off x="4553640" y="2240280"/>
            <a:ext cx="3601800" cy="2349000"/>
          </a:xfrm>
          <a:prstGeom prst="roundRect">
            <a:avLst>
              <a:gd name="adj" fmla="val 466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4" name="Shape 13"/>
          <p:cNvSpPr/>
          <p:nvPr/>
        </p:nvSpPr>
        <p:spPr>
          <a:xfrm>
            <a:off x="4553640" y="2240280"/>
            <a:ext cx="3601800" cy="81360"/>
          </a:xfrm>
          <a:prstGeom prst="rect">
            <a:avLst/>
          </a:prstGeom>
          <a:solidFill>
            <a:srgbClr val="147e78"/>
          </a:solidFill>
          <a:ln w="12700">
            <a:solidFill>
              <a:srgbClr val="147e78">
                <a:alpha val="0"/>
              </a:srgbClr>
            </a:solidFill>
            <a:round/>
          </a:ln>
        </p:spPr>
        <p:style>
          <a:lnRef idx="0"/>
          <a:fillRef idx="0"/>
          <a:effectRef idx="0"/>
          <a:fontRef idx="minor"/>
        </p:style>
        <p:txBody>
          <a:bodyPr lIns="90000" rIns="90000" tIns="37440" bIns="37440" anchor="t">
            <a:noAutofit/>
          </a:bodyPr>
          <a:p>
            <a:pPr>
              <a:lnSpc>
                <a:spcPct val="100000"/>
              </a:lnSpc>
            </a:pPr>
            <a:endParaRPr b="0" lang="en-US" sz="1800" spc="-1" strike="noStrike">
              <a:solidFill>
                <a:srgbClr val="ffffff"/>
              </a:solidFill>
              <a:latin typeface="Arial"/>
            </a:endParaRPr>
          </a:p>
        </p:txBody>
      </p:sp>
      <p:sp>
        <p:nvSpPr>
          <p:cNvPr id="105" name="Text 14"/>
          <p:cNvSpPr/>
          <p:nvPr/>
        </p:nvSpPr>
        <p:spPr>
          <a:xfrm>
            <a:off x="4809600" y="2587680"/>
            <a:ext cx="2833560" cy="227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72" strike="noStrike">
                <a:solidFill>
                  <a:srgbClr val="0078d4"/>
                </a:solidFill>
                <a:latin typeface="Aptos"/>
                <a:ea typeface="Aptos"/>
              </a:rPr>
              <a:t>AGENTS</a:t>
            </a:r>
            <a:endParaRPr b="0" lang="en-US" sz="1100" spc="-1" strike="noStrike">
              <a:solidFill>
                <a:srgbClr val="000000"/>
              </a:solidFill>
              <a:latin typeface="Arial"/>
            </a:endParaRPr>
          </a:p>
        </p:txBody>
      </p:sp>
      <p:sp>
        <p:nvSpPr>
          <p:cNvPr id="106" name="Text 15"/>
          <p:cNvSpPr/>
          <p:nvPr/>
        </p:nvSpPr>
        <p:spPr>
          <a:xfrm>
            <a:off x="4809600" y="2971800"/>
            <a:ext cx="305316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pc="-1" strike="noStrike">
                <a:solidFill>
                  <a:srgbClr val="152632"/>
                </a:solidFill>
                <a:latin typeface="Aptos"/>
                <a:ea typeface="Aptos"/>
              </a:rPr>
              <a:t>İş sürecini tasarla</a:t>
            </a:r>
            <a:endParaRPr b="0" lang="en-US" sz="2100" spc="-1" strike="noStrike">
              <a:solidFill>
                <a:srgbClr val="000000"/>
              </a:solidFill>
              <a:latin typeface="Arial"/>
            </a:endParaRPr>
          </a:p>
        </p:txBody>
      </p:sp>
      <p:sp>
        <p:nvSpPr>
          <p:cNvPr id="107" name="Text 16"/>
          <p:cNvSpPr/>
          <p:nvPr/>
        </p:nvSpPr>
        <p:spPr>
          <a:xfrm>
            <a:off x="4809600" y="3547800"/>
            <a:ext cx="3053160" cy="721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Talimatlar, araç kullanımı, workflow ve yönetilen agent yaşam döngüsü.</a:t>
            </a:r>
            <a:endParaRPr b="0" lang="en-US" sz="1400" spc="-1" strike="noStrike">
              <a:solidFill>
                <a:srgbClr val="000000"/>
              </a:solidFill>
              <a:latin typeface="Arial"/>
            </a:endParaRPr>
          </a:p>
        </p:txBody>
      </p:sp>
      <p:sp>
        <p:nvSpPr>
          <p:cNvPr id="108" name="Shape 17"/>
          <p:cNvSpPr/>
          <p:nvPr/>
        </p:nvSpPr>
        <p:spPr>
          <a:xfrm>
            <a:off x="8403480" y="2240280"/>
            <a:ext cx="3601800" cy="2349000"/>
          </a:xfrm>
          <a:prstGeom prst="roundRect">
            <a:avLst>
              <a:gd name="adj" fmla="val 466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9" name="Shape 18"/>
          <p:cNvSpPr/>
          <p:nvPr/>
        </p:nvSpPr>
        <p:spPr>
          <a:xfrm>
            <a:off x="8403480" y="2240280"/>
            <a:ext cx="3601800" cy="81360"/>
          </a:xfrm>
          <a:prstGeom prst="rect">
            <a:avLst/>
          </a:prstGeom>
          <a:solidFill>
            <a:srgbClr val="e6a25a"/>
          </a:solidFill>
          <a:ln w="12700">
            <a:solidFill>
              <a:srgbClr val="e6a25a">
                <a:alpha val="0"/>
              </a:srgbClr>
            </a:solidFill>
            <a:round/>
          </a:ln>
        </p:spPr>
        <p:style>
          <a:lnRef idx="0"/>
          <a:fillRef idx="0"/>
          <a:effectRef idx="0"/>
          <a:fontRef idx="minor"/>
        </p:style>
        <p:txBody>
          <a:bodyPr lIns="90000" rIns="90000" tIns="37440" bIns="37440" anchor="t">
            <a:noAutofit/>
          </a:bodyPr>
          <a:p>
            <a:pPr>
              <a:lnSpc>
                <a:spcPct val="100000"/>
              </a:lnSpc>
            </a:pPr>
            <a:endParaRPr b="0" lang="en-US" sz="1800" spc="-1" strike="noStrike">
              <a:solidFill>
                <a:srgbClr val="000000"/>
              </a:solidFill>
              <a:latin typeface="Arial"/>
            </a:endParaRPr>
          </a:p>
        </p:txBody>
      </p:sp>
      <p:sp>
        <p:nvSpPr>
          <p:cNvPr id="110" name="Text 19"/>
          <p:cNvSpPr/>
          <p:nvPr/>
        </p:nvSpPr>
        <p:spPr>
          <a:xfrm>
            <a:off x="8659440" y="2587680"/>
            <a:ext cx="2833560" cy="227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72" strike="noStrike">
                <a:solidFill>
                  <a:srgbClr val="0078d4"/>
                </a:solidFill>
                <a:latin typeface="Aptos"/>
                <a:ea typeface="Aptos"/>
              </a:rPr>
              <a:t>TOOLS &amp; KNOWLEDGE</a:t>
            </a:r>
            <a:endParaRPr b="0" lang="en-US" sz="1100" spc="-1" strike="noStrike">
              <a:solidFill>
                <a:srgbClr val="000000"/>
              </a:solidFill>
              <a:latin typeface="Arial"/>
            </a:endParaRPr>
          </a:p>
        </p:txBody>
      </p:sp>
      <p:sp>
        <p:nvSpPr>
          <p:cNvPr id="111" name="Text 20"/>
          <p:cNvSpPr/>
          <p:nvPr/>
        </p:nvSpPr>
        <p:spPr>
          <a:xfrm>
            <a:off x="8659440" y="2971800"/>
            <a:ext cx="3053160" cy="40140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1" lang="en-US" sz="2100" spc="-1" strike="noStrike">
                <a:solidFill>
                  <a:srgbClr val="152632"/>
                </a:solidFill>
                <a:latin typeface="Aptos"/>
                <a:ea typeface="Aptos"/>
              </a:rPr>
              <a:t>Gerçek sisteme bağla</a:t>
            </a:r>
            <a:endParaRPr b="0" lang="en-US" sz="2100" spc="-1" strike="noStrike">
              <a:solidFill>
                <a:srgbClr val="000000"/>
              </a:solidFill>
              <a:latin typeface="Arial"/>
            </a:endParaRPr>
          </a:p>
        </p:txBody>
      </p:sp>
      <p:sp>
        <p:nvSpPr>
          <p:cNvPr id="112" name="Text 21"/>
          <p:cNvSpPr/>
          <p:nvPr/>
        </p:nvSpPr>
        <p:spPr>
          <a:xfrm>
            <a:off x="8659440" y="3547800"/>
            <a:ext cx="3053160" cy="721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API, MCP, kurumsal arama, doküman ve uzmanlaşmış AI araçları.</a:t>
            </a:r>
            <a:endParaRPr b="0" lang="en-US" sz="1400" spc="-1" strike="noStrike">
              <a:solidFill>
                <a:srgbClr val="000000"/>
              </a:solidFill>
              <a:latin typeface="Arial"/>
            </a:endParaRPr>
          </a:p>
        </p:txBody>
      </p:sp>
      <p:sp>
        <p:nvSpPr>
          <p:cNvPr id="113" name="Shape 22"/>
          <p:cNvSpPr/>
          <p:nvPr/>
        </p:nvSpPr>
        <p:spPr>
          <a:xfrm>
            <a:off x="713160" y="4827960"/>
            <a:ext cx="10926000" cy="675720"/>
          </a:xfrm>
          <a:prstGeom prst="roundRect">
            <a:avLst>
              <a:gd name="adj" fmla="val 16216"/>
            </a:avLst>
          </a:prstGeom>
          <a:solidFill>
            <a:srgbClr val="142b3d"/>
          </a:solidFill>
          <a:ln w="12700">
            <a:solidFill>
              <a:srgbClr val="142b3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4" name="Text 23"/>
          <p:cNvSpPr/>
          <p:nvPr/>
        </p:nvSpPr>
        <p:spPr>
          <a:xfrm>
            <a:off x="987480" y="5020200"/>
            <a:ext cx="265068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72" strike="noStrike">
                <a:solidFill>
                  <a:srgbClr val="ffffff"/>
                </a:solidFill>
                <a:latin typeface="Aptos"/>
                <a:ea typeface="Aptos"/>
              </a:rPr>
              <a:t>FOUNDRY CONTROL PLANE</a:t>
            </a:r>
            <a:endParaRPr b="0" lang="en-US" sz="1200" spc="-1" strike="noStrike">
              <a:solidFill>
                <a:srgbClr val="000000"/>
              </a:solidFill>
              <a:latin typeface="Arial"/>
            </a:endParaRPr>
          </a:p>
        </p:txBody>
      </p:sp>
      <p:sp>
        <p:nvSpPr>
          <p:cNvPr id="115" name="Text 24"/>
          <p:cNvSpPr/>
          <p:nvPr/>
        </p:nvSpPr>
        <p:spPr>
          <a:xfrm>
            <a:off x="3684960" y="5010840"/>
            <a:ext cx="7542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e0eaf0"/>
                </a:solidFill>
                <a:latin typeface="Aptos"/>
                <a:ea typeface="Aptos"/>
              </a:rPr>
              <a:t>Entra ID   ·   RBAC   ·   Network   ·   Policies   ·   Evaluation   ·   Observability</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16"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04 / YAŞAM DÖNGÜSÜ</a:t>
            </a:r>
            <a:endParaRPr b="0" lang="en-US" sz="1000" spc="-1" strike="noStrike">
              <a:solidFill>
                <a:srgbClr val="000000"/>
              </a:solidFill>
              <a:latin typeface="Arial"/>
            </a:endParaRPr>
          </a:p>
        </p:txBody>
      </p:sp>
      <p:sp>
        <p:nvSpPr>
          <p:cNvPr id="117"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Bir fikirden çalışan kurumsal çözüme.</a:t>
            </a:r>
            <a:endParaRPr b="0" lang="en-US" sz="2900" spc="-1" strike="noStrike">
              <a:solidFill>
                <a:srgbClr val="000000"/>
              </a:solidFill>
              <a:latin typeface="Arial"/>
            </a:endParaRPr>
          </a:p>
        </p:txBody>
      </p:sp>
      <p:sp>
        <p:nvSpPr>
          <p:cNvPr id="118"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Tek bir geliştirme yolculuğu; ekipler arası daha iyi izlenebilirlik.</a:t>
            </a:r>
            <a:endParaRPr b="0" lang="en-US" sz="1500" spc="-1" strike="noStrike">
              <a:solidFill>
                <a:srgbClr val="000000"/>
              </a:solidFill>
              <a:latin typeface="Arial"/>
            </a:endParaRPr>
          </a:p>
        </p:txBody>
      </p:sp>
      <p:sp>
        <p:nvSpPr>
          <p:cNvPr id="119"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20"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121"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122"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05</a:t>
            </a:r>
            <a:endParaRPr b="0" lang="en-US" sz="1000" spc="-1" strike="noStrike">
              <a:solidFill>
                <a:srgbClr val="000000"/>
              </a:solidFill>
              <a:latin typeface="Arial"/>
            </a:endParaRPr>
          </a:p>
        </p:txBody>
      </p:sp>
      <p:sp>
        <p:nvSpPr>
          <p:cNvPr id="123" name="Shape 7"/>
          <p:cNvSpPr/>
          <p:nvPr/>
        </p:nvSpPr>
        <p:spPr>
          <a:xfrm>
            <a:off x="329400" y="2423160"/>
            <a:ext cx="2184480" cy="2559240"/>
          </a:xfrm>
          <a:prstGeom prst="roundRect">
            <a:avLst>
              <a:gd name="adj" fmla="val 5021"/>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4" name="Text 8"/>
          <p:cNvSpPr/>
          <p:nvPr/>
        </p:nvSpPr>
        <p:spPr>
          <a:xfrm>
            <a:off x="494280" y="2697480"/>
            <a:ext cx="4561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pc="-1" strike="noStrike">
                <a:solidFill>
                  <a:srgbClr val="0078d4"/>
                </a:solidFill>
                <a:latin typeface="Aptos"/>
                <a:ea typeface="Aptos"/>
              </a:rPr>
              <a:t>01</a:t>
            </a:r>
            <a:endParaRPr b="0" lang="en-US" sz="1800" spc="-1" strike="noStrike">
              <a:solidFill>
                <a:srgbClr val="000000"/>
              </a:solidFill>
              <a:latin typeface="Arial"/>
            </a:endParaRPr>
          </a:p>
        </p:txBody>
      </p:sp>
      <p:sp>
        <p:nvSpPr>
          <p:cNvPr id="125" name="Shape 9"/>
          <p:cNvSpPr/>
          <p:nvPr/>
        </p:nvSpPr>
        <p:spPr>
          <a:xfrm>
            <a:off x="493920" y="3264120"/>
            <a:ext cx="1783080" cy="360"/>
          </a:xfrm>
          <a:prstGeom prst="line">
            <a:avLst/>
          </a:prstGeom>
          <a:ln w="1270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26" name="Text 10"/>
          <p:cNvSpPr/>
          <p:nvPr/>
        </p:nvSpPr>
        <p:spPr>
          <a:xfrm>
            <a:off x="494280" y="3493080"/>
            <a:ext cx="187344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KEŞFET</a:t>
            </a:r>
            <a:endParaRPr b="0" lang="en-US" sz="1900" spc="-1" strike="noStrike">
              <a:solidFill>
                <a:srgbClr val="000000"/>
              </a:solidFill>
              <a:latin typeface="Arial"/>
            </a:endParaRPr>
          </a:p>
        </p:txBody>
      </p:sp>
      <p:sp>
        <p:nvSpPr>
          <p:cNvPr id="127" name="Text 11"/>
          <p:cNvSpPr/>
          <p:nvPr/>
        </p:nvSpPr>
        <p:spPr>
          <a:xfrm>
            <a:off x="494280" y="4014360"/>
            <a:ext cx="1900800" cy="611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Model kataloğu</a:t>
            </a:r>
            <a:endParaRPr b="0" lang="en-US" sz="1300" spc="-1" strike="noStrike">
              <a:solidFill>
                <a:srgbClr val="000000"/>
              </a:solidFill>
              <a:latin typeface="Arial"/>
            </a:endParaRPr>
          </a:p>
          <a:p>
            <a:pPr defTabSz="914400">
              <a:lnSpc>
                <a:spcPct val="100000"/>
              </a:lnSpc>
              <a:tabLst>
                <a:tab algn="l" pos="0"/>
              </a:tabLst>
            </a:pPr>
            <a:r>
              <a:rPr b="0" lang="en-US" sz="1300" spc="-1" strike="noStrike">
                <a:solidFill>
                  <a:srgbClr val="536775"/>
                </a:solidFill>
                <a:latin typeface="Aptos"/>
                <a:ea typeface="Aptos"/>
              </a:rPr>
              <a:t>ve PoC</a:t>
            </a:r>
            <a:endParaRPr b="0" lang="en-US" sz="1300" spc="-1" strike="noStrike">
              <a:solidFill>
                <a:srgbClr val="000000"/>
              </a:solidFill>
              <a:latin typeface="Arial"/>
            </a:endParaRPr>
          </a:p>
        </p:txBody>
      </p:sp>
      <p:sp>
        <p:nvSpPr>
          <p:cNvPr id="128" name="Shape 12"/>
          <p:cNvSpPr/>
          <p:nvPr/>
        </p:nvSpPr>
        <p:spPr>
          <a:xfrm>
            <a:off x="2533320" y="342900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 name="Shape 13"/>
          <p:cNvSpPr/>
          <p:nvPr/>
        </p:nvSpPr>
        <p:spPr>
          <a:xfrm>
            <a:off x="2743200" y="2423160"/>
            <a:ext cx="2184480" cy="2559240"/>
          </a:xfrm>
          <a:prstGeom prst="roundRect">
            <a:avLst>
              <a:gd name="adj" fmla="val 5021"/>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0" name="Text 14"/>
          <p:cNvSpPr/>
          <p:nvPr/>
        </p:nvSpPr>
        <p:spPr>
          <a:xfrm>
            <a:off x="3191400" y="2697480"/>
            <a:ext cx="4561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pc="-1" strike="noStrike">
                <a:solidFill>
                  <a:srgbClr val="0078d4"/>
                </a:solidFill>
                <a:latin typeface="Aptos"/>
                <a:ea typeface="Aptos"/>
              </a:rPr>
              <a:t>02</a:t>
            </a:r>
            <a:endParaRPr b="0" lang="en-US" sz="1800" spc="-1" strike="noStrike">
              <a:solidFill>
                <a:srgbClr val="000000"/>
              </a:solidFill>
              <a:latin typeface="Arial"/>
            </a:endParaRPr>
          </a:p>
        </p:txBody>
      </p:sp>
      <p:sp>
        <p:nvSpPr>
          <p:cNvPr id="131" name="Shape 15"/>
          <p:cNvSpPr/>
          <p:nvPr/>
        </p:nvSpPr>
        <p:spPr>
          <a:xfrm>
            <a:off x="2788920" y="3264480"/>
            <a:ext cx="1783080" cy="360"/>
          </a:xfrm>
          <a:prstGeom prst="line">
            <a:avLst/>
          </a:prstGeom>
          <a:ln w="1270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32" name="Text 16"/>
          <p:cNvSpPr/>
          <p:nvPr/>
        </p:nvSpPr>
        <p:spPr>
          <a:xfrm>
            <a:off x="3191400" y="3493080"/>
            <a:ext cx="187344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GELİŞTİR</a:t>
            </a:r>
            <a:endParaRPr b="0" lang="en-US" sz="1900" spc="-1" strike="noStrike">
              <a:solidFill>
                <a:srgbClr val="000000"/>
              </a:solidFill>
              <a:latin typeface="Arial"/>
            </a:endParaRPr>
          </a:p>
        </p:txBody>
      </p:sp>
      <p:sp>
        <p:nvSpPr>
          <p:cNvPr id="133" name="Text 17"/>
          <p:cNvSpPr/>
          <p:nvPr/>
        </p:nvSpPr>
        <p:spPr>
          <a:xfrm>
            <a:off x="3191400" y="4014360"/>
            <a:ext cx="1900800" cy="611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SDK, prompt, agent</a:t>
            </a:r>
            <a:endParaRPr b="0" lang="en-US" sz="1300" spc="-1" strike="noStrike">
              <a:solidFill>
                <a:srgbClr val="000000"/>
              </a:solidFill>
              <a:latin typeface="Arial"/>
            </a:endParaRPr>
          </a:p>
          <a:p>
            <a:pPr defTabSz="914400">
              <a:lnSpc>
                <a:spcPct val="100000"/>
              </a:lnSpc>
              <a:tabLst>
                <a:tab algn="l" pos="0"/>
              </a:tabLst>
            </a:pPr>
            <a:r>
              <a:rPr b="0" lang="en-US" sz="1300" spc="-1" strike="noStrike">
                <a:solidFill>
                  <a:srgbClr val="536775"/>
                </a:solidFill>
                <a:latin typeface="Aptos"/>
                <a:ea typeface="Aptos"/>
              </a:rPr>
              <a:t>ve veri bağlantısı</a:t>
            </a:r>
            <a:endParaRPr b="0" lang="en-US" sz="1300" spc="-1" strike="noStrike">
              <a:solidFill>
                <a:srgbClr val="000000"/>
              </a:solidFill>
              <a:latin typeface="Arial"/>
            </a:endParaRPr>
          </a:p>
        </p:txBody>
      </p:sp>
      <p:sp>
        <p:nvSpPr>
          <p:cNvPr id="134" name="Shape 18"/>
          <p:cNvSpPr/>
          <p:nvPr/>
        </p:nvSpPr>
        <p:spPr>
          <a:xfrm>
            <a:off x="4928400" y="341064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5" name="Shape 19"/>
          <p:cNvSpPr/>
          <p:nvPr/>
        </p:nvSpPr>
        <p:spPr>
          <a:xfrm>
            <a:off x="5130000" y="2423160"/>
            <a:ext cx="2184480" cy="2559240"/>
          </a:xfrm>
          <a:prstGeom prst="roundRect">
            <a:avLst>
              <a:gd name="adj" fmla="val 5021"/>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6" name="Text 20"/>
          <p:cNvSpPr/>
          <p:nvPr/>
        </p:nvSpPr>
        <p:spPr>
          <a:xfrm>
            <a:off x="5395320" y="2697480"/>
            <a:ext cx="4561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pc="-1" strike="noStrike">
                <a:solidFill>
                  <a:srgbClr val="0078d4"/>
                </a:solidFill>
                <a:latin typeface="Aptos"/>
                <a:ea typeface="Aptos"/>
              </a:rPr>
              <a:t>03</a:t>
            </a:r>
            <a:endParaRPr b="0" lang="en-US" sz="1800" spc="-1" strike="noStrike">
              <a:solidFill>
                <a:srgbClr val="000000"/>
              </a:solidFill>
              <a:latin typeface="Arial"/>
            </a:endParaRPr>
          </a:p>
        </p:txBody>
      </p:sp>
      <p:sp>
        <p:nvSpPr>
          <p:cNvPr id="137" name="Shape 21"/>
          <p:cNvSpPr/>
          <p:nvPr/>
        </p:nvSpPr>
        <p:spPr>
          <a:xfrm>
            <a:off x="5394960" y="3264120"/>
            <a:ext cx="1783080" cy="360"/>
          </a:xfrm>
          <a:prstGeom prst="line">
            <a:avLst/>
          </a:prstGeom>
          <a:ln w="1270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38" name="Text 22"/>
          <p:cNvSpPr/>
          <p:nvPr/>
        </p:nvSpPr>
        <p:spPr>
          <a:xfrm>
            <a:off x="5395320" y="3493080"/>
            <a:ext cx="187344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TEST ET</a:t>
            </a:r>
            <a:endParaRPr b="0" lang="en-US" sz="1900" spc="-1" strike="noStrike">
              <a:solidFill>
                <a:srgbClr val="000000"/>
              </a:solidFill>
              <a:latin typeface="Arial"/>
            </a:endParaRPr>
          </a:p>
        </p:txBody>
      </p:sp>
      <p:sp>
        <p:nvSpPr>
          <p:cNvPr id="139" name="Text 23"/>
          <p:cNvSpPr/>
          <p:nvPr/>
        </p:nvSpPr>
        <p:spPr>
          <a:xfrm>
            <a:off x="5395320" y="4014360"/>
            <a:ext cx="1900800" cy="611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Evaluation, güvenlik</a:t>
            </a:r>
            <a:endParaRPr b="0" lang="en-US" sz="1300" spc="-1" strike="noStrike">
              <a:solidFill>
                <a:srgbClr val="000000"/>
              </a:solidFill>
              <a:latin typeface="Arial"/>
            </a:endParaRPr>
          </a:p>
          <a:p>
            <a:pPr defTabSz="914400">
              <a:lnSpc>
                <a:spcPct val="100000"/>
              </a:lnSpc>
              <a:tabLst>
                <a:tab algn="l" pos="0"/>
              </a:tabLst>
            </a:pPr>
            <a:r>
              <a:rPr b="0" lang="en-US" sz="1300" spc="-1" strike="noStrike">
                <a:solidFill>
                  <a:srgbClr val="536775"/>
                </a:solidFill>
                <a:latin typeface="Aptos"/>
                <a:ea typeface="Aptos"/>
              </a:rPr>
              <a:t>ve senaryo testleri</a:t>
            </a:r>
            <a:endParaRPr b="0" lang="en-US" sz="1300" spc="-1" strike="noStrike">
              <a:solidFill>
                <a:srgbClr val="000000"/>
              </a:solidFill>
              <a:latin typeface="Arial"/>
            </a:endParaRPr>
          </a:p>
        </p:txBody>
      </p:sp>
      <p:sp>
        <p:nvSpPr>
          <p:cNvPr id="140" name="Shape 24"/>
          <p:cNvSpPr/>
          <p:nvPr/>
        </p:nvSpPr>
        <p:spPr>
          <a:xfrm>
            <a:off x="7333920" y="341064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1" name="Shape 25"/>
          <p:cNvSpPr/>
          <p:nvPr/>
        </p:nvSpPr>
        <p:spPr>
          <a:xfrm>
            <a:off x="7543800" y="2423160"/>
            <a:ext cx="2184480" cy="2559240"/>
          </a:xfrm>
          <a:prstGeom prst="roundRect">
            <a:avLst>
              <a:gd name="adj" fmla="val 5021"/>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2" name="Text 26"/>
          <p:cNvSpPr/>
          <p:nvPr/>
        </p:nvSpPr>
        <p:spPr>
          <a:xfrm>
            <a:off x="7854840" y="2697480"/>
            <a:ext cx="4561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pc="-1" strike="noStrike">
                <a:solidFill>
                  <a:srgbClr val="0078d4"/>
                </a:solidFill>
                <a:latin typeface="Aptos"/>
                <a:ea typeface="Aptos"/>
              </a:rPr>
              <a:t>04</a:t>
            </a:r>
            <a:endParaRPr b="0" lang="en-US" sz="1800" spc="-1" strike="noStrike">
              <a:solidFill>
                <a:srgbClr val="000000"/>
              </a:solidFill>
              <a:latin typeface="Arial"/>
            </a:endParaRPr>
          </a:p>
        </p:txBody>
      </p:sp>
      <p:sp>
        <p:nvSpPr>
          <p:cNvPr id="143" name="Shape 27"/>
          <p:cNvSpPr/>
          <p:nvPr/>
        </p:nvSpPr>
        <p:spPr>
          <a:xfrm>
            <a:off x="7854480" y="3264120"/>
            <a:ext cx="1783080" cy="360"/>
          </a:xfrm>
          <a:prstGeom prst="line">
            <a:avLst/>
          </a:prstGeom>
          <a:ln w="1270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44" name="Text 28"/>
          <p:cNvSpPr/>
          <p:nvPr/>
        </p:nvSpPr>
        <p:spPr>
          <a:xfrm>
            <a:off x="7854840" y="3493080"/>
            <a:ext cx="187344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YAYINLA</a:t>
            </a:r>
            <a:endParaRPr b="0" lang="en-US" sz="1900" spc="-1" strike="noStrike">
              <a:solidFill>
                <a:srgbClr val="000000"/>
              </a:solidFill>
              <a:latin typeface="Arial"/>
            </a:endParaRPr>
          </a:p>
        </p:txBody>
      </p:sp>
      <p:sp>
        <p:nvSpPr>
          <p:cNvPr id="145" name="Text 29"/>
          <p:cNvSpPr/>
          <p:nvPr/>
        </p:nvSpPr>
        <p:spPr>
          <a:xfrm>
            <a:off x="7854840" y="4014360"/>
            <a:ext cx="1900800" cy="611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Deployment, endpoint</a:t>
            </a:r>
            <a:endParaRPr b="0" lang="en-US" sz="1300" spc="-1" strike="noStrike">
              <a:solidFill>
                <a:srgbClr val="000000"/>
              </a:solidFill>
              <a:latin typeface="Arial"/>
            </a:endParaRPr>
          </a:p>
          <a:p>
            <a:pPr defTabSz="914400">
              <a:lnSpc>
                <a:spcPct val="100000"/>
              </a:lnSpc>
              <a:tabLst>
                <a:tab algn="l" pos="0"/>
              </a:tabLst>
            </a:pPr>
            <a:r>
              <a:rPr b="0" lang="en-US" sz="1300" spc="-1" strike="noStrike">
                <a:solidFill>
                  <a:srgbClr val="536775"/>
                </a:solidFill>
                <a:latin typeface="Aptos"/>
                <a:ea typeface="Aptos"/>
              </a:rPr>
              <a:t>ve entegrasyon</a:t>
            </a:r>
            <a:endParaRPr b="0" lang="en-US" sz="1300" spc="-1" strike="noStrike">
              <a:solidFill>
                <a:srgbClr val="000000"/>
              </a:solidFill>
              <a:latin typeface="Arial"/>
            </a:endParaRPr>
          </a:p>
        </p:txBody>
      </p:sp>
      <p:sp>
        <p:nvSpPr>
          <p:cNvPr id="146" name="Shape 30"/>
          <p:cNvSpPr/>
          <p:nvPr/>
        </p:nvSpPr>
        <p:spPr>
          <a:xfrm>
            <a:off x="9729000" y="341064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7" name="Shape 31"/>
          <p:cNvSpPr/>
          <p:nvPr/>
        </p:nvSpPr>
        <p:spPr>
          <a:xfrm>
            <a:off x="9930600" y="2423160"/>
            <a:ext cx="2184480" cy="2559240"/>
          </a:xfrm>
          <a:prstGeom prst="roundRect">
            <a:avLst>
              <a:gd name="adj" fmla="val 5021"/>
            </a:avLst>
          </a:prstGeom>
          <a:solidFill>
            <a:srgbClr val="142b3d"/>
          </a:solidFill>
          <a:ln w="10160">
            <a:solidFill>
              <a:srgbClr val="142b3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 name="Text 32"/>
          <p:cNvSpPr/>
          <p:nvPr/>
        </p:nvSpPr>
        <p:spPr>
          <a:xfrm>
            <a:off x="10095480" y="2697480"/>
            <a:ext cx="45612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pc="-1" strike="noStrike">
                <a:solidFill>
                  <a:srgbClr val="80d7f0"/>
                </a:solidFill>
                <a:latin typeface="Aptos"/>
                <a:ea typeface="Aptos"/>
              </a:rPr>
              <a:t>05</a:t>
            </a:r>
            <a:endParaRPr b="0" lang="en-US" sz="1800" spc="-1" strike="noStrike">
              <a:solidFill>
                <a:srgbClr val="000000"/>
              </a:solidFill>
              <a:latin typeface="Arial"/>
            </a:endParaRPr>
          </a:p>
        </p:txBody>
      </p:sp>
      <p:sp>
        <p:nvSpPr>
          <p:cNvPr id="149" name="Shape 33"/>
          <p:cNvSpPr/>
          <p:nvPr/>
        </p:nvSpPr>
        <p:spPr>
          <a:xfrm>
            <a:off x="10095120" y="3264120"/>
            <a:ext cx="1783080" cy="360"/>
          </a:xfrm>
          <a:prstGeom prst="line">
            <a:avLst/>
          </a:prstGeom>
          <a:ln w="12700">
            <a:solidFill>
              <a:srgbClr val="55758a"/>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50" name="Text 34"/>
          <p:cNvSpPr/>
          <p:nvPr/>
        </p:nvSpPr>
        <p:spPr>
          <a:xfrm>
            <a:off x="10095480" y="3493080"/>
            <a:ext cx="187344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ffffff"/>
                </a:solidFill>
                <a:latin typeface="Aptos"/>
                <a:ea typeface="Aptos"/>
              </a:rPr>
              <a:t>İZLE</a:t>
            </a:r>
            <a:endParaRPr b="0" lang="en-US" sz="1900" spc="-1" strike="noStrike">
              <a:solidFill>
                <a:srgbClr val="000000"/>
              </a:solidFill>
              <a:latin typeface="Arial"/>
            </a:endParaRPr>
          </a:p>
        </p:txBody>
      </p:sp>
      <p:sp>
        <p:nvSpPr>
          <p:cNvPr id="151" name="Text 35"/>
          <p:cNvSpPr/>
          <p:nvPr/>
        </p:nvSpPr>
        <p:spPr>
          <a:xfrm>
            <a:off x="10095480" y="4014360"/>
            <a:ext cx="1900800" cy="611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c9dbe5"/>
                </a:solidFill>
                <a:latin typeface="Aptos"/>
                <a:ea typeface="Aptos"/>
              </a:rPr>
              <a:t>Tracing, kalite</a:t>
            </a:r>
            <a:endParaRPr b="0" lang="en-US" sz="1300" spc="-1" strike="noStrike">
              <a:solidFill>
                <a:srgbClr val="000000"/>
              </a:solidFill>
              <a:latin typeface="Arial"/>
            </a:endParaRPr>
          </a:p>
          <a:p>
            <a:pPr defTabSz="914400">
              <a:lnSpc>
                <a:spcPct val="100000"/>
              </a:lnSpc>
              <a:tabLst>
                <a:tab algn="l" pos="0"/>
              </a:tabLst>
            </a:pPr>
            <a:r>
              <a:rPr b="0" lang="en-US" sz="1300" spc="-1" strike="noStrike">
                <a:solidFill>
                  <a:srgbClr val="c9dbe5"/>
                </a:solidFill>
                <a:latin typeface="Aptos"/>
                <a:ea typeface="Aptos"/>
              </a:rPr>
              <a:t>ve maliyet</a:t>
            </a:r>
            <a:endParaRPr b="0" lang="en-US" sz="1300" spc="-1" strike="noStrike">
              <a:solidFill>
                <a:srgbClr val="000000"/>
              </a:solidFill>
              <a:latin typeface="Arial"/>
            </a:endParaRPr>
          </a:p>
        </p:txBody>
      </p:sp>
      <p:sp>
        <p:nvSpPr>
          <p:cNvPr id="152" name="Shape 36"/>
          <p:cNvSpPr/>
          <p:nvPr/>
        </p:nvSpPr>
        <p:spPr>
          <a:xfrm>
            <a:off x="3520440" y="5449680"/>
            <a:ext cx="5110560" cy="291600"/>
          </a:xfrm>
          <a:prstGeom prst="roundRect">
            <a:avLst>
              <a:gd name="adj" fmla="val 46875"/>
            </a:avLst>
          </a:prstGeom>
          <a:solidFill>
            <a:srgbClr val="eaf5fc"/>
          </a:solidFill>
          <a:ln w="12700">
            <a:solidFill>
              <a:srgbClr val="eaf5f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3" name="Text 37"/>
          <p:cNvSpPr/>
          <p:nvPr/>
        </p:nvSpPr>
        <p:spPr>
          <a:xfrm>
            <a:off x="3611880" y="5477400"/>
            <a:ext cx="4927680" cy="218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46" strike="noStrike">
                <a:solidFill>
                  <a:srgbClr val="0078d4"/>
                </a:solidFill>
                <a:latin typeface="Aptos"/>
                <a:ea typeface="Aptos"/>
              </a:rPr>
              <a:t>TEKRARLANAN İYİLEŞTİRME DÖNGÜSÜ</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54"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05 / FOUNDRY MODELS</a:t>
            </a:r>
            <a:endParaRPr b="0" lang="en-US" sz="1000" spc="-1" strike="noStrike">
              <a:solidFill>
                <a:srgbClr val="000000"/>
              </a:solidFill>
              <a:latin typeface="Arial"/>
            </a:endParaRPr>
          </a:p>
        </p:txBody>
      </p:sp>
      <p:sp>
        <p:nvSpPr>
          <p:cNvPr id="155"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Model özgürlüğü. Tek bir seçime mahkum değiliz.</a:t>
            </a:r>
            <a:endParaRPr b="0" lang="en-US" sz="2900" spc="-1" strike="noStrike">
              <a:solidFill>
                <a:srgbClr val="000000"/>
              </a:solidFill>
              <a:latin typeface="Arial"/>
            </a:endParaRPr>
          </a:p>
        </p:txBody>
      </p:sp>
      <p:sp>
        <p:nvSpPr>
          <p:cNvPr id="156"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Katalog erişimi ≠ her modelin her bölgede, aynı koşullarla kullanılabilmesi.</a:t>
            </a:r>
            <a:endParaRPr b="0" lang="en-US" sz="1500" spc="-1" strike="noStrike">
              <a:solidFill>
                <a:srgbClr val="000000"/>
              </a:solidFill>
              <a:latin typeface="Arial"/>
            </a:endParaRPr>
          </a:p>
        </p:txBody>
      </p:sp>
      <p:sp>
        <p:nvSpPr>
          <p:cNvPr id="157"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58"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159"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160"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06</a:t>
            </a:r>
            <a:endParaRPr b="0" lang="en-US" sz="1000" spc="-1" strike="noStrike">
              <a:solidFill>
                <a:srgbClr val="000000"/>
              </a:solidFill>
              <a:latin typeface="Arial"/>
            </a:endParaRPr>
          </a:p>
        </p:txBody>
      </p:sp>
      <p:sp>
        <p:nvSpPr>
          <p:cNvPr id="161" name="Shape 7"/>
          <p:cNvSpPr/>
          <p:nvPr/>
        </p:nvSpPr>
        <p:spPr>
          <a:xfrm>
            <a:off x="694800" y="2277000"/>
            <a:ext cx="5924160" cy="3299760"/>
          </a:xfrm>
          <a:prstGeom prst="roundRect">
            <a:avLst>
              <a:gd name="adj" fmla="val 3324"/>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62" name="Text 8"/>
          <p:cNvSpPr/>
          <p:nvPr/>
        </p:nvSpPr>
        <p:spPr>
          <a:xfrm>
            <a:off x="951120" y="2587680"/>
            <a:ext cx="5302440" cy="364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pc="-1" strike="noStrike">
                <a:solidFill>
                  <a:srgbClr val="152632"/>
                </a:solidFill>
                <a:latin typeface="Aptos"/>
                <a:ea typeface="Aptos"/>
              </a:rPr>
              <a:t>Model seçimi için 4 soru</a:t>
            </a:r>
            <a:endParaRPr b="0" lang="en-US" sz="2100" spc="-1" strike="noStrike">
              <a:solidFill>
                <a:srgbClr val="000000"/>
              </a:solidFill>
              <a:latin typeface="Arial"/>
            </a:endParaRPr>
          </a:p>
        </p:txBody>
      </p:sp>
      <p:sp>
        <p:nvSpPr>
          <p:cNvPr id="163" name="Text 9"/>
          <p:cNvSpPr/>
          <p:nvPr/>
        </p:nvSpPr>
        <p:spPr>
          <a:xfrm>
            <a:off x="978480" y="3063240"/>
            <a:ext cx="45612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1" strike="noStrike">
                <a:solidFill>
                  <a:srgbClr val="0078d4"/>
                </a:solidFill>
                <a:latin typeface="Aptos"/>
                <a:ea typeface="Aptos"/>
              </a:rPr>
              <a:t>01</a:t>
            </a:r>
            <a:endParaRPr b="0" lang="en-US" sz="1200" spc="-1" strike="noStrike">
              <a:solidFill>
                <a:srgbClr val="000000"/>
              </a:solidFill>
              <a:latin typeface="Arial"/>
            </a:endParaRPr>
          </a:p>
        </p:txBody>
      </p:sp>
      <p:sp>
        <p:nvSpPr>
          <p:cNvPr id="164" name="Text 10"/>
          <p:cNvSpPr/>
          <p:nvPr/>
        </p:nvSpPr>
        <p:spPr>
          <a:xfrm>
            <a:off x="1472040" y="3063240"/>
            <a:ext cx="2037960" cy="24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152632"/>
                </a:solidFill>
                <a:latin typeface="Aptos"/>
                <a:ea typeface="Aptos"/>
              </a:rPr>
              <a:t>Yapılacak iş ne?</a:t>
            </a:r>
            <a:endParaRPr b="0" lang="en-US" sz="1300" spc="-1" strike="noStrike">
              <a:solidFill>
                <a:srgbClr val="000000"/>
              </a:solidFill>
              <a:latin typeface="Arial"/>
            </a:endParaRPr>
          </a:p>
        </p:txBody>
      </p:sp>
      <p:sp>
        <p:nvSpPr>
          <p:cNvPr id="165" name="Text 11"/>
          <p:cNvSpPr/>
          <p:nvPr/>
        </p:nvSpPr>
        <p:spPr>
          <a:xfrm>
            <a:off x="3566160" y="3063240"/>
            <a:ext cx="2678040" cy="291600"/>
          </a:xfrm>
          <a:prstGeom prst="rect">
            <a:avLst/>
          </a:prstGeom>
          <a:noFill/>
          <a:ln w="0">
            <a:noFill/>
          </a:ln>
        </p:spPr>
        <p:style>
          <a:lnRef idx="0"/>
          <a:fillRef idx="0"/>
          <a:effectRef idx="0"/>
          <a:fontRef idx="minor"/>
        </p:style>
        <p:txBody>
          <a:bodyPr lIns="0" rIns="0" tIns="0" bIns="0" anchor="ctr">
            <a:normAutofit fontScale="96666" lnSpcReduction="20000"/>
          </a:bodyPr>
          <a:p>
            <a:pPr defTabSz="914400">
              <a:lnSpc>
                <a:spcPct val="100000"/>
              </a:lnSpc>
              <a:tabLst>
                <a:tab algn="l" pos="0"/>
              </a:tabLst>
            </a:pPr>
            <a:r>
              <a:rPr b="0" lang="en-US" sz="1200" spc="-1" strike="noStrike">
                <a:solidFill>
                  <a:srgbClr val="536775"/>
                </a:solidFill>
                <a:latin typeface="Aptos"/>
                <a:ea typeface="Aptos"/>
              </a:rPr>
              <a:t>Chat, reasoning, vision, embedding…</a:t>
            </a:r>
            <a:endParaRPr b="0" lang="en-US" sz="1200" spc="-1" strike="noStrike">
              <a:solidFill>
                <a:srgbClr val="000000"/>
              </a:solidFill>
              <a:latin typeface="Arial"/>
            </a:endParaRPr>
          </a:p>
        </p:txBody>
      </p:sp>
      <p:sp>
        <p:nvSpPr>
          <p:cNvPr id="166" name="Text 12"/>
          <p:cNvSpPr/>
          <p:nvPr/>
        </p:nvSpPr>
        <p:spPr>
          <a:xfrm>
            <a:off x="978480" y="3648600"/>
            <a:ext cx="45612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1" strike="noStrike">
                <a:solidFill>
                  <a:srgbClr val="0078d4"/>
                </a:solidFill>
                <a:latin typeface="Aptos"/>
                <a:ea typeface="Aptos"/>
              </a:rPr>
              <a:t>02</a:t>
            </a:r>
            <a:endParaRPr b="0" lang="en-US" sz="1200" spc="-1" strike="noStrike">
              <a:solidFill>
                <a:srgbClr val="000000"/>
              </a:solidFill>
              <a:latin typeface="Arial"/>
            </a:endParaRPr>
          </a:p>
        </p:txBody>
      </p:sp>
      <p:sp>
        <p:nvSpPr>
          <p:cNvPr id="167" name="Text 13"/>
          <p:cNvSpPr/>
          <p:nvPr/>
        </p:nvSpPr>
        <p:spPr>
          <a:xfrm>
            <a:off x="1472040" y="3648600"/>
            <a:ext cx="2037960" cy="24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152632"/>
                </a:solidFill>
                <a:latin typeface="Aptos"/>
                <a:ea typeface="Aptos"/>
              </a:rPr>
              <a:t>Kalite ölçütü ne?</a:t>
            </a:r>
            <a:endParaRPr b="0" lang="en-US" sz="1300" spc="-1" strike="noStrike">
              <a:solidFill>
                <a:srgbClr val="000000"/>
              </a:solidFill>
              <a:latin typeface="Arial"/>
            </a:endParaRPr>
          </a:p>
        </p:txBody>
      </p:sp>
      <p:sp>
        <p:nvSpPr>
          <p:cNvPr id="168" name="Text 14"/>
          <p:cNvSpPr/>
          <p:nvPr/>
        </p:nvSpPr>
        <p:spPr>
          <a:xfrm>
            <a:off x="3566160" y="3648600"/>
            <a:ext cx="2678040" cy="291600"/>
          </a:xfrm>
          <a:prstGeom prst="rect">
            <a:avLst/>
          </a:prstGeom>
          <a:noFill/>
          <a:ln w="0">
            <a:noFill/>
          </a:ln>
        </p:spPr>
        <p:style>
          <a:lnRef idx="0"/>
          <a:fillRef idx="0"/>
          <a:effectRef idx="0"/>
          <a:fontRef idx="minor"/>
        </p:style>
        <p:txBody>
          <a:bodyPr lIns="0" rIns="0" tIns="0" bIns="0" anchor="ctr">
            <a:normAutofit fontScale="93333" lnSpcReduction="10000"/>
          </a:bodyPr>
          <a:p>
            <a:pPr defTabSz="914400">
              <a:lnSpc>
                <a:spcPct val="100000"/>
              </a:lnSpc>
              <a:tabLst>
                <a:tab algn="l" pos="0"/>
              </a:tabLst>
            </a:pPr>
            <a:r>
              <a:rPr b="0" lang="en-US" sz="1200" spc="-1" strike="noStrike">
                <a:solidFill>
                  <a:srgbClr val="536775"/>
                </a:solidFill>
                <a:latin typeface="Aptos"/>
                <a:ea typeface="Aptos"/>
              </a:rPr>
              <a:t>Göreve özgü benchmark ve hata analizi</a:t>
            </a:r>
            <a:endParaRPr b="0" lang="en-US" sz="1200" spc="-1" strike="noStrike">
              <a:solidFill>
                <a:srgbClr val="000000"/>
              </a:solidFill>
              <a:latin typeface="Arial"/>
            </a:endParaRPr>
          </a:p>
        </p:txBody>
      </p:sp>
      <p:sp>
        <p:nvSpPr>
          <p:cNvPr id="169" name="Text 15"/>
          <p:cNvSpPr/>
          <p:nvPr/>
        </p:nvSpPr>
        <p:spPr>
          <a:xfrm>
            <a:off x="978480" y="4233600"/>
            <a:ext cx="45612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1" strike="noStrike">
                <a:solidFill>
                  <a:srgbClr val="0078d4"/>
                </a:solidFill>
                <a:latin typeface="Aptos"/>
                <a:ea typeface="Aptos"/>
              </a:rPr>
              <a:t>03</a:t>
            </a:r>
            <a:endParaRPr b="0" lang="en-US" sz="1200" spc="-1" strike="noStrike">
              <a:solidFill>
                <a:srgbClr val="000000"/>
              </a:solidFill>
              <a:latin typeface="Arial"/>
            </a:endParaRPr>
          </a:p>
        </p:txBody>
      </p:sp>
      <p:sp>
        <p:nvSpPr>
          <p:cNvPr id="170" name="Text 16"/>
          <p:cNvSpPr/>
          <p:nvPr/>
        </p:nvSpPr>
        <p:spPr>
          <a:xfrm>
            <a:off x="1472040" y="4233600"/>
            <a:ext cx="2037960" cy="245880"/>
          </a:xfrm>
          <a:prstGeom prst="rect">
            <a:avLst/>
          </a:prstGeom>
          <a:noFill/>
          <a:ln w="0">
            <a:noFill/>
          </a:ln>
        </p:spPr>
        <p:style>
          <a:lnRef idx="0"/>
          <a:fillRef idx="0"/>
          <a:effectRef idx="0"/>
          <a:fontRef idx="minor"/>
        </p:style>
        <p:txBody>
          <a:bodyPr lIns="0" rIns="0" tIns="0" bIns="0" anchor="ctr">
            <a:normAutofit fontScale="87222"/>
          </a:bodyPr>
          <a:p>
            <a:pPr defTabSz="914400">
              <a:lnSpc>
                <a:spcPct val="100000"/>
              </a:lnSpc>
              <a:tabLst>
                <a:tab algn="l" pos="0"/>
              </a:tabLst>
            </a:pPr>
            <a:r>
              <a:rPr b="1" lang="en-US" sz="1300" spc="-1" strike="noStrike">
                <a:solidFill>
                  <a:srgbClr val="152632"/>
                </a:solidFill>
                <a:latin typeface="Aptos"/>
                <a:ea typeface="Aptos"/>
              </a:rPr>
              <a:t>Maliyet / gecikme hedefi?</a:t>
            </a:r>
            <a:endParaRPr b="0" lang="en-US" sz="1300" spc="-1" strike="noStrike">
              <a:solidFill>
                <a:srgbClr val="000000"/>
              </a:solidFill>
              <a:latin typeface="Arial"/>
            </a:endParaRPr>
          </a:p>
        </p:txBody>
      </p:sp>
      <p:sp>
        <p:nvSpPr>
          <p:cNvPr id="171" name="Text 17"/>
          <p:cNvSpPr/>
          <p:nvPr/>
        </p:nvSpPr>
        <p:spPr>
          <a:xfrm>
            <a:off x="3566160" y="4233600"/>
            <a:ext cx="267804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pc="-1" strike="noStrike">
                <a:solidFill>
                  <a:srgbClr val="536775"/>
                </a:solidFill>
                <a:latin typeface="Aptos"/>
                <a:ea typeface="Aptos"/>
              </a:rPr>
              <a:t>Token, throughput, response time</a:t>
            </a:r>
            <a:endParaRPr b="0" lang="en-US" sz="1200" spc="-1" strike="noStrike">
              <a:solidFill>
                <a:srgbClr val="000000"/>
              </a:solidFill>
              <a:latin typeface="Arial"/>
            </a:endParaRPr>
          </a:p>
        </p:txBody>
      </p:sp>
      <p:sp>
        <p:nvSpPr>
          <p:cNvPr id="172" name="Text 18"/>
          <p:cNvSpPr/>
          <p:nvPr/>
        </p:nvSpPr>
        <p:spPr>
          <a:xfrm>
            <a:off x="978480" y="4818960"/>
            <a:ext cx="45612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1" strike="noStrike">
                <a:solidFill>
                  <a:srgbClr val="0078d4"/>
                </a:solidFill>
                <a:latin typeface="Aptos"/>
                <a:ea typeface="Aptos"/>
              </a:rPr>
              <a:t>04</a:t>
            </a:r>
            <a:endParaRPr b="0" lang="en-US" sz="1200" spc="-1" strike="noStrike">
              <a:solidFill>
                <a:srgbClr val="000000"/>
              </a:solidFill>
              <a:latin typeface="Arial"/>
            </a:endParaRPr>
          </a:p>
        </p:txBody>
      </p:sp>
      <p:sp>
        <p:nvSpPr>
          <p:cNvPr id="173" name="Text 19"/>
          <p:cNvSpPr/>
          <p:nvPr/>
        </p:nvSpPr>
        <p:spPr>
          <a:xfrm>
            <a:off x="1472040" y="4818960"/>
            <a:ext cx="2037960" cy="24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152632"/>
                </a:solidFill>
                <a:latin typeface="Aptos"/>
                <a:ea typeface="Aptos"/>
              </a:rPr>
              <a:t>Kurumsal koşullar?</a:t>
            </a:r>
            <a:endParaRPr b="0" lang="en-US" sz="1300" spc="-1" strike="noStrike">
              <a:solidFill>
                <a:srgbClr val="000000"/>
              </a:solidFill>
              <a:latin typeface="Arial"/>
            </a:endParaRPr>
          </a:p>
        </p:txBody>
      </p:sp>
      <p:sp>
        <p:nvSpPr>
          <p:cNvPr id="174" name="Text 20"/>
          <p:cNvSpPr/>
          <p:nvPr/>
        </p:nvSpPr>
        <p:spPr>
          <a:xfrm>
            <a:off x="3566160" y="4818960"/>
            <a:ext cx="267804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pc="-1" strike="noStrike">
                <a:solidFill>
                  <a:srgbClr val="536775"/>
                </a:solidFill>
                <a:latin typeface="Aptos"/>
                <a:ea typeface="Aptos"/>
              </a:rPr>
              <a:t>Bölge, lisans, SLA, veri işleme</a:t>
            </a:r>
            <a:endParaRPr b="0" lang="en-US" sz="1200" spc="-1" strike="noStrike">
              <a:solidFill>
                <a:srgbClr val="000000"/>
              </a:solidFill>
              <a:latin typeface="Arial"/>
            </a:endParaRPr>
          </a:p>
        </p:txBody>
      </p:sp>
      <p:sp>
        <p:nvSpPr>
          <p:cNvPr id="175" name="Shape 21"/>
          <p:cNvSpPr/>
          <p:nvPr/>
        </p:nvSpPr>
        <p:spPr>
          <a:xfrm>
            <a:off x="6885360" y="2277000"/>
            <a:ext cx="4616640" cy="3299760"/>
          </a:xfrm>
          <a:prstGeom prst="roundRect">
            <a:avLst>
              <a:gd name="adj" fmla="val 3324"/>
            </a:avLst>
          </a:prstGeom>
          <a:solidFill>
            <a:srgbClr val="eaf5fc"/>
          </a:solidFill>
          <a:ln w="10160">
            <a:solidFill>
              <a:srgbClr val="d0e5f2"/>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6" name="Text 22"/>
          <p:cNvSpPr/>
          <p:nvPr/>
        </p:nvSpPr>
        <p:spPr>
          <a:xfrm>
            <a:off x="7169040" y="2597040"/>
            <a:ext cx="1827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2" strike="noStrike">
                <a:solidFill>
                  <a:srgbClr val="0078d4"/>
                </a:solidFill>
                <a:latin typeface="Aptos"/>
                <a:ea typeface="Aptos"/>
              </a:rPr>
              <a:t>CATALOG</a:t>
            </a:r>
            <a:endParaRPr b="0" lang="en-US" sz="1100" spc="-1" strike="noStrike">
              <a:solidFill>
                <a:srgbClr val="000000"/>
              </a:solidFill>
              <a:latin typeface="Arial"/>
            </a:endParaRPr>
          </a:p>
        </p:txBody>
      </p:sp>
      <p:sp>
        <p:nvSpPr>
          <p:cNvPr id="177" name="Text 23"/>
          <p:cNvSpPr/>
          <p:nvPr/>
        </p:nvSpPr>
        <p:spPr>
          <a:xfrm>
            <a:off x="7159680" y="3035880"/>
            <a:ext cx="3930840" cy="776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700" spc="-1" strike="noStrike">
                <a:solidFill>
                  <a:srgbClr val="152632"/>
                </a:solidFill>
                <a:latin typeface="Aptos"/>
                <a:ea typeface="Aptos"/>
              </a:rPr>
              <a:t>10.000+</a:t>
            </a:r>
            <a:endParaRPr b="0" lang="en-US" sz="4700" spc="-1" strike="noStrike">
              <a:solidFill>
                <a:srgbClr val="000000"/>
              </a:solidFill>
              <a:latin typeface="Arial"/>
            </a:endParaRPr>
          </a:p>
        </p:txBody>
      </p:sp>
      <p:sp>
        <p:nvSpPr>
          <p:cNvPr id="178" name="Text 24"/>
          <p:cNvSpPr/>
          <p:nvPr/>
        </p:nvSpPr>
        <p:spPr>
          <a:xfrm>
            <a:off x="7178040" y="3913560"/>
            <a:ext cx="393084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pc="-1" strike="noStrike">
                <a:solidFill>
                  <a:srgbClr val="152632"/>
                </a:solidFill>
                <a:latin typeface="Aptos"/>
                <a:ea typeface="Aptos"/>
              </a:rPr>
              <a:t>model erişimi</a:t>
            </a:r>
            <a:endParaRPr b="0" lang="en-US" sz="2000" spc="-1" strike="noStrike">
              <a:solidFill>
                <a:srgbClr val="000000"/>
              </a:solidFill>
              <a:latin typeface="Arial"/>
            </a:endParaRPr>
          </a:p>
        </p:txBody>
      </p:sp>
      <p:sp>
        <p:nvSpPr>
          <p:cNvPr id="179" name="Text 25"/>
          <p:cNvSpPr/>
          <p:nvPr/>
        </p:nvSpPr>
        <p:spPr>
          <a:xfrm>
            <a:off x="7178040" y="4526280"/>
            <a:ext cx="3894120" cy="630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Microsoft, OpenAI, Anthropic, Meta ve diğer model sağlayıcıları.</a:t>
            </a:r>
            <a:endParaRPr b="0" lang="en-US" sz="1400" spc="-1" strike="noStrike">
              <a:solidFill>
                <a:srgbClr val="000000"/>
              </a:solidFill>
              <a:latin typeface="Arial"/>
            </a:endParaRPr>
          </a:p>
        </p:txBody>
      </p:sp>
      <p:sp>
        <p:nvSpPr>
          <p:cNvPr id="180" name="Text 26"/>
          <p:cNvSpPr/>
          <p:nvPr/>
        </p:nvSpPr>
        <p:spPr>
          <a:xfrm>
            <a:off x="722520" y="5916240"/>
            <a:ext cx="10605960" cy="227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181"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06 / MODEL İŞLETİMİ</a:t>
            </a:r>
            <a:endParaRPr b="0" lang="en-US" sz="1000" spc="-1" strike="noStrike">
              <a:solidFill>
                <a:srgbClr val="000000"/>
              </a:solidFill>
              <a:latin typeface="Arial"/>
            </a:endParaRPr>
          </a:p>
        </p:txBody>
      </p:sp>
      <p:sp>
        <p:nvSpPr>
          <p:cNvPr id="182"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Modelden API’ye: dağıtım ve kapasite seçenekleri.</a:t>
            </a:r>
            <a:endParaRPr b="0" lang="en-US" sz="2900" spc="-1" strike="noStrike">
              <a:solidFill>
                <a:srgbClr val="000000"/>
              </a:solidFill>
              <a:latin typeface="Arial"/>
            </a:endParaRPr>
          </a:p>
        </p:txBody>
      </p:sp>
      <p:sp>
        <p:nvSpPr>
          <p:cNvPr id="183"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İş yüküne göre tüketim, ayrılmış kapasite veya toplu işleme.</a:t>
            </a:r>
            <a:endParaRPr b="0" lang="en-US" sz="1500" spc="-1" strike="noStrike">
              <a:solidFill>
                <a:srgbClr val="000000"/>
              </a:solidFill>
              <a:latin typeface="Arial"/>
            </a:endParaRPr>
          </a:p>
        </p:txBody>
      </p:sp>
      <p:sp>
        <p:nvSpPr>
          <p:cNvPr id="184"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85"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186"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187"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07</a:t>
            </a:r>
            <a:endParaRPr b="0" lang="en-US" sz="1000" spc="-1" strike="noStrike">
              <a:solidFill>
                <a:srgbClr val="000000"/>
              </a:solidFill>
              <a:latin typeface="Arial"/>
            </a:endParaRPr>
          </a:p>
        </p:txBody>
      </p:sp>
      <p:sp>
        <p:nvSpPr>
          <p:cNvPr id="188" name="Shape 7"/>
          <p:cNvSpPr/>
          <p:nvPr/>
        </p:nvSpPr>
        <p:spPr>
          <a:xfrm>
            <a:off x="722520" y="2286000"/>
            <a:ext cx="6994080" cy="950040"/>
          </a:xfrm>
          <a:prstGeom prst="roundRect">
            <a:avLst>
              <a:gd name="adj" fmla="val 1153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89" name="Shape 8"/>
          <p:cNvSpPr/>
          <p:nvPr/>
        </p:nvSpPr>
        <p:spPr>
          <a:xfrm>
            <a:off x="731520" y="2286000"/>
            <a:ext cx="81360" cy="940680"/>
          </a:xfrm>
          <a:prstGeom prst="rect">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 name="Text 9"/>
          <p:cNvSpPr/>
          <p:nvPr/>
        </p:nvSpPr>
        <p:spPr>
          <a:xfrm>
            <a:off x="1024200" y="2459880"/>
            <a:ext cx="1937520" cy="20916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1" lang="en-US" sz="1500" spc="-1" strike="noStrike">
                <a:solidFill>
                  <a:srgbClr val="152632"/>
                </a:solidFill>
                <a:latin typeface="Aptos"/>
                <a:ea typeface="Aptos"/>
              </a:rPr>
              <a:t>STANDARD</a:t>
            </a:r>
            <a:endParaRPr b="0" lang="en-US" sz="1500" spc="-1" strike="noStrike">
              <a:solidFill>
                <a:srgbClr val="000000"/>
              </a:solidFill>
              <a:latin typeface="Arial"/>
            </a:endParaRPr>
          </a:p>
        </p:txBody>
      </p:sp>
      <p:sp>
        <p:nvSpPr>
          <p:cNvPr id="191" name="Text 10"/>
          <p:cNvSpPr/>
          <p:nvPr/>
        </p:nvSpPr>
        <p:spPr>
          <a:xfrm>
            <a:off x="3072240" y="2404800"/>
            <a:ext cx="425088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Değişken trafik, pilot ve ilk üretim senaryoları</a:t>
            </a:r>
            <a:endParaRPr b="0" lang="en-US" sz="1300" spc="-1" strike="noStrike">
              <a:solidFill>
                <a:srgbClr val="000000"/>
              </a:solidFill>
              <a:latin typeface="Arial"/>
            </a:endParaRPr>
          </a:p>
        </p:txBody>
      </p:sp>
      <p:sp>
        <p:nvSpPr>
          <p:cNvPr id="192" name="Text 11"/>
          <p:cNvSpPr/>
          <p:nvPr/>
        </p:nvSpPr>
        <p:spPr>
          <a:xfrm>
            <a:off x="3072240" y="2853000"/>
            <a:ext cx="4278240" cy="190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 strike="noStrike">
                <a:solidFill>
                  <a:srgbClr val="0078d4"/>
                </a:solidFill>
                <a:latin typeface="Aptos"/>
                <a:ea typeface="Aptos"/>
              </a:rPr>
              <a:t>Kullanıma bağlı ücret</a:t>
            </a:r>
            <a:endParaRPr b="0" lang="en-US" sz="1000" spc="-1" strike="noStrike">
              <a:solidFill>
                <a:srgbClr val="000000"/>
              </a:solidFill>
              <a:latin typeface="Arial"/>
            </a:endParaRPr>
          </a:p>
        </p:txBody>
      </p:sp>
      <p:sp>
        <p:nvSpPr>
          <p:cNvPr id="193" name="Shape 12"/>
          <p:cNvSpPr/>
          <p:nvPr/>
        </p:nvSpPr>
        <p:spPr>
          <a:xfrm>
            <a:off x="722520" y="3429000"/>
            <a:ext cx="6994080" cy="950040"/>
          </a:xfrm>
          <a:prstGeom prst="roundRect">
            <a:avLst>
              <a:gd name="adj" fmla="val 1153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4" name="Shape 13"/>
          <p:cNvSpPr/>
          <p:nvPr/>
        </p:nvSpPr>
        <p:spPr>
          <a:xfrm>
            <a:off x="731520" y="3429000"/>
            <a:ext cx="81360" cy="940680"/>
          </a:xfrm>
          <a:prstGeom prst="rect">
            <a:avLst/>
          </a:prstGeom>
          <a:solidFill>
            <a:srgbClr val="167c68"/>
          </a:solidFill>
          <a:ln w="12700">
            <a:solidFill>
              <a:srgbClr val="167c6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 name="Text 14"/>
          <p:cNvSpPr/>
          <p:nvPr/>
        </p:nvSpPr>
        <p:spPr>
          <a:xfrm>
            <a:off x="1024200" y="3602880"/>
            <a:ext cx="1937520" cy="20916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1" lang="en-US" sz="1500" spc="-1" strike="noStrike">
                <a:solidFill>
                  <a:srgbClr val="152632"/>
                </a:solidFill>
                <a:latin typeface="Aptos"/>
                <a:ea typeface="Aptos"/>
              </a:rPr>
              <a:t>PROVISIONED</a:t>
            </a:r>
            <a:endParaRPr b="0" lang="en-US" sz="1500" spc="-1" strike="noStrike">
              <a:solidFill>
                <a:srgbClr val="000000"/>
              </a:solidFill>
              <a:latin typeface="Arial"/>
            </a:endParaRPr>
          </a:p>
        </p:txBody>
      </p:sp>
      <p:sp>
        <p:nvSpPr>
          <p:cNvPr id="196" name="Text 15"/>
          <p:cNvSpPr/>
          <p:nvPr/>
        </p:nvSpPr>
        <p:spPr>
          <a:xfrm>
            <a:off x="3072240" y="3547800"/>
            <a:ext cx="425088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Öngörülebilir yoğun talep ve kapasite planı</a:t>
            </a:r>
            <a:endParaRPr b="0" lang="en-US" sz="1300" spc="-1" strike="noStrike">
              <a:solidFill>
                <a:srgbClr val="000000"/>
              </a:solidFill>
              <a:latin typeface="Arial"/>
            </a:endParaRPr>
          </a:p>
        </p:txBody>
      </p:sp>
      <p:sp>
        <p:nvSpPr>
          <p:cNvPr id="197" name="Text 16"/>
          <p:cNvSpPr/>
          <p:nvPr/>
        </p:nvSpPr>
        <p:spPr>
          <a:xfrm>
            <a:off x="3072240" y="3996000"/>
            <a:ext cx="4278240" cy="190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 strike="noStrike">
                <a:solidFill>
                  <a:srgbClr val="0078d4"/>
                </a:solidFill>
                <a:latin typeface="Aptos"/>
                <a:ea typeface="Aptos"/>
              </a:rPr>
              <a:t>Ayrılmış throughput</a:t>
            </a:r>
            <a:endParaRPr b="0" lang="en-US" sz="1000" spc="-1" strike="noStrike">
              <a:solidFill>
                <a:srgbClr val="000000"/>
              </a:solidFill>
              <a:latin typeface="Arial"/>
            </a:endParaRPr>
          </a:p>
        </p:txBody>
      </p:sp>
      <p:sp>
        <p:nvSpPr>
          <p:cNvPr id="198" name="Shape 17"/>
          <p:cNvSpPr/>
          <p:nvPr/>
        </p:nvSpPr>
        <p:spPr>
          <a:xfrm>
            <a:off x="722520" y="4572000"/>
            <a:ext cx="6994080" cy="950040"/>
          </a:xfrm>
          <a:prstGeom prst="roundRect">
            <a:avLst>
              <a:gd name="adj" fmla="val 1153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9" name="Shape 18"/>
          <p:cNvSpPr/>
          <p:nvPr/>
        </p:nvSpPr>
        <p:spPr>
          <a:xfrm>
            <a:off x="731520" y="4572000"/>
            <a:ext cx="81360" cy="940680"/>
          </a:xfrm>
          <a:prstGeom prst="rect">
            <a:avLst/>
          </a:prstGeom>
          <a:solidFill>
            <a:srgbClr val="e9a351"/>
          </a:solidFill>
          <a:ln w="12700">
            <a:solidFill>
              <a:srgbClr val="e9a351">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0" name="Text 19"/>
          <p:cNvSpPr/>
          <p:nvPr/>
        </p:nvSpPr>
        <p:spPr>
          <a:xfrm>
            <a:off x="1024200" y="4745880"/>
            <a:ext cx="1937520" cy="20916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1" lang="en-US" sz="1500" spc="-1" strike="noStrike">
                <a:solidFill>
                  <a:srgbClr val="152632"/>
                </a:solidFill>
                <a:latin typeface="Aptos"/>
                <a:ea typeface="Aptos"/>
              </a:rPr>
              <a:t>BATCH</a:t>
            </a:r>
            <a:endParaRPr b="0" lang="en-US" sz="1500" spc="-1" strike="noStrike">
              <a:solidFill>
                <a:srgbClr val="000000"/>
              </a:solidFill>
              <a:latin typeface="Arial"/>
            </a:endParaRPr>
          </a:p>
        </p:txBody>
      </p:sp>
      <p:sp>
        <p:nvSpPr>
          <p:cNvPr id="201" name="Text 20"/>
          <p:cNvSpPr/>
          <p:nvPr/>
        </p:nvSpPr>
        <p:spPr>
          <a:xfrm>
            <a:off x="3072240" y="4690800"/>
            <a:ext cx="4250880" cy="383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Gecikmenin kritik olmadığı toplu görevler</a:t>
            </a:r>
            <a:endParaRPr b="0" lang="en-US" sz="1300" spc="-1" strike="noStrike">
              <a:solidFill>
                <a:srgbClr val="000000"/>
              </a:solidFill>
              <a:latin typeface="Arial"/>
            </a:endParaRPr>
          </a:p>
        </p:txBody>
      </p:sp>
      <p:sp>
        <p:nvSpPr>
          <p:cNvPr id="202" name="Text 21"/>
          <p:cNvSpPr/>
          <p:nvPr/>
        </p:nvSpPr>
        <p:spPr>
          <a:xfrm>
            <a:off x="3072240" y="5139000"/>
            <a:ext cx="4278240" cy="190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 strike="noStrike">
                <a:solidFill>
                  <a:srgbClr val="0078d4"/>
                </a:solidFill>
                <a:latin typeface="Aptos"/>
                <a:ea typeface="Aptos"/>
              </a:rPr>
              <a:t>Asenkron işleme</a:t>
            </a:r>
            <a:endParaRPr b="0" lang="en-US" sz="1000" spc="-1" strike="noStrike">
              <a:solidFill>
                <a:srgbClr val="000000"/>
              </a:solidFill>
              <a:latin typeface="Arial"/>
            </a:endParaRPr>
          </a:p>
        </p:txBody>
      </p:sp>
      <p:sp>
        <p:nvSpPr>
          <p:cNvPr id="203" name="Shape 22"/>
          <p:cNvSpPr/>
          <p:nvPr/>
        </p:nvSpPr>
        <p:spPr>
          <a:xfrm>
            <a:off x="7936920" y="2286000"/>
            <a:ext cx="3501000" cy="3272400"/>
          </a:xfrm>
          <a:prstGeom prst="roundRect">
            <a:avLst>
              <a:gd name="adj" fmla="val 3352"/>
            </a:avLst>
          </a:prstGeom>
          <a:solidFill>
            <a:srgbClr val="142b3d"/>
          </a:solidFill>
          <a:ln w="10160">
            <a:solidFill>
              <a:srgbClr val="142b3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 name="Text 23"/>
          <p:cNvSpPr/>
          <p:nvPr/>
        </p:nvSpPr>
        <p:spPr>
          <a:xfrm>
            <a:off x="8321040" y="2697480"/>
            <a:ext cx="270540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ffffff"/>
                </a:solidFill>
                <a:latin typeface="Aptos"/>
                <a:ea typeface="Aptos"/>
              </a:rPr>
              <a:t>Model Catalog</a:t>
            </a:r>
            <a:endParaRPr b="0" lang="en-US" sz="1900" spc="-1" strike="noStrike">
              <a:solidFill>
                <a:srgbClr val="000000"/>
              </a:solidFill>
              <a:latin typeface="Arial"/>
            </a:endParaRPr>
          </a:p>
        </p:txBody>
      </p:sp>
      <p:sp>
        <p:nvSpPr>
          <p:cNvPr id="205" name="Text 24"/>
          <p:cNvSpPr/>
          <p:nvPr/>
        </p:nvSpPr>
        <p:spPr>
          <a:xfrm>
            <a:off x="9381600" y="3117960"/>
            <a:ext cx="456120" cy="29160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0" lang="en-US" sz="2100" spc="-1" strike="noStrike">
                <a:solidFill>
                  <a:srgbClr val="82cee6"/>
                </a:solidFill>
                <a:latin typeface="Aptos"/>
                <a:ea typeface="Aptos"/>
              </a:rPr>
              <a:t>↓</a:t>
            </a:r>
            <a:endParaRPr b="0" lang="en-US" sz="2100" spc="-1" strike="noStrike">
              <a:solidFill>
                <a:srgbClr val="000000"/>
              </a:solidFill>
              <a:latin typeface="Arial"/>
            </a:endParaRPr>
          </a:p>
        </p:txBody>
      </p:sp>
      <p:sp>
        <p:nvSpPr>
          <p:cNvPr id="206" name="Text 25"/>
          <p:cNvSpPr/>
          <p:nvPr/>
        </p:nvSpPr>
        <p:spPr>
          <a:xfrm>
            <a:off x="8321040" y="3566160"/>
            <a:ext cx="2714760" cy="337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ffffff"/>
                </a:solidFill>
                <a:latin typeface="Aptos"/>
                <a:ea typeface="Aptos"/>
              </a:rPr>
              <a:t>Deployment</a:t>
            </a:r>
            <a:endParaRPr b="0" lang="en-US" sz="1900" spc="-1" strike="noStrike">
              <a:solidFill>
                <a:srgbClr val="000000"/>
              </a:solidFill>
              <a:latin typeface="Arial"/>
            </a:endParaRPr>
          </a:p>
        </p:txBody>
      </p:sp>
      <p:sp>
        <p:nvSpPr>
          <p:cNvPr id="207" name="Text 26"/>
          <p:cNvSpPr/>
          <p:nvPr/>
        </p:nvSpPr>
        <p:spPr>
          <a:xfrm>
            <a:off x="9381600" y="3959280"/>
            <a:ext cx="456120" cy="29160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0" lang="en-US" sz="2100" spc="-1" strike="noStrike">
                <a:solidFill>
                  <a:srgbClr val="82cee6"/>
                </a:solidFill>
                <a:latin typeface="Aptos"/>
                <a:ea typeface="Aptos"/>
              </a:rPr>
              <a:t>↓</a:t>
            </a:r>
            <a:endParaRPr b="0" lang="en-US" sz="2100" spc="-1" strike="noStrike">
              <a:solidFill>
                <a:srgbClr val="000000"/>
              </a:solidFill>
              <a:latin typeface="Arial"/>
            </a:endParaRPr>
          </a:p>
        </p:txBody>
      </p:sp>
      <p:sp>
        <p:nvSpPr>
          <p:cNvPr id="208" name="Text 27"/>
          <p:cNvSpPr/>
          <p:nvPr/>
        </p:nvSpPr>
        <p:spPr>
          <a:xfrm>
            <a:off x="8321040" y="4389120"/>
            <a:ext cx="27694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ffffff"/>
                </a:solidFill>
                <a:latin typeface="Aptos"/>
                <a:ea typeface="Aptos"/>
              </a:rPr>
              <a:t>API / Application</a:t>
            </a:r>
            <a:endParaRPr b="0" lang="en-US" sz="1900" spc="-1" strike="noStrike">
              <a:solidFill>
                <a:srgbClr val="000000"/>
              </a:solidFill>
              <a:latin typeface="Arial"/>
            </a:endParaRPr>
          </a:p>
        </p:txBody>
      </p:sp>
      <p:sp>
        <p:nvSpPr>
          <p:cNvPr id="209" name="Text 28"/>
          <p:cNvSpPr/>
          <p:nvPr/>
        </p:nvSpPr>
        <p:spPr>
          <a:xfrm>
            <a:off x="758880" y="5861160"/>
            <a:ext cx="10880280" cy="264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pc="-1" strike="noStrike">
                <a:solidFill>
                  <a:srgbClr val="82939c"/>
                </a:solidFill>
                <a:latin typeface="Aptos"/>
                <a:ea typeface="Aptos"/>
              </a:rPr>
              <a:t>Instant access ve managed compute gibi seçeneklerin durumunu ayrıca kontrol ederiz.</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210"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07 / AGENT SERVICE</a:t>
            </a:r>
            <a:endParaRPr b="0" lang="en-US" sz="1000" spc="-1" strike="noStrike">
              <a:solidFill>
                <a:srgbClr val="000000"/>
              </a:solidFill>
              <a:latin typeface="Arial"/>
            </a:endParaRPr>
          </a:p>
        </p:txBody>
      </p:sp>
      <p:sp>
        <p:nvSpPr>
          <p:cNvPr id="211"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Agent: Yanıt üretmekten iş yapmaya geçiş.</a:t>
            </a:r>
            <a:endParaRPr b="0" lang="en-US" sz="2900" spc="-1" strike="noStrike">
              <a:solidFill>
                <a:srgbClr val="000000"/>
              </a:solidFill>
              <a:latin typeface="Arial"/>
            </a:endParaRPr>
          </a:p>
        </p:txBody>
      </p:sp>
      <p:sp>
        <p:nvSpPr>
          <p:cNvPr id="212"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LLM + talimatlar + kurumsal araçlar + çalışma zamanı.</a:t>
            </a:r>
            <a:endParaRPr b="0" lang="en-US" sz="1500" spc="-1" strike="noStrike">
              <a:solidFill>
                <a:srgbClr val="000000"/>
              </a:solidFill>
              <a:latin typeface="Arial"/>
            </a:endParaRPr>
          </a:p>
        </p:txBody>
      </p:sp>
      <p:sp>
        <p:nvSpPr>
          <p:cNvPr id="213"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214"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215"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216"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08</a:t>
            </a:r>
            <a:endParaRPr b="0" lang="en-US" sz="1000" spc="-1" strike="noStrike">
              <a:solidFill>
                <a:srgbClr val="000000"/>
              </a:solidFill>
              <a:latin typeface="Arial"/>
            </a:endParaRPr>
          </a:p>
        </p:txBody>
      </p:sp>
      <p:sp>
        <p:nvSpPr>
          <p:cNvPr id="217" name="Shape 7"/>
          <p:cNvSpPr/>
          <p:nvPr/>
        </p:nvSpPr>
        <p:spPr>
          <a:xfrm>
            <a:off x="731520" y="2304360"/>
            <a:ext cx="5668200" cy="3190320"/>
          </a:xfrm>
          <a:prstGeom prst="roundRect">
            <a:avLst>
              <a:gd name="adj" fmla="val 343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8" name="Text 8"/>
          <p:cNvSpPr/>
          <p:nvPr/>
        </p:nvSpPr>
        <p:spPr>
          <a:xfrm>
            <a:off x="1042560" y="2578680"/>
            <a:ext cx="292500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92" strike="noStrike">
                <a:solidFill>
                  <a:srgbClr val="0078d4"/>
                </a:solidFill>
                <a:latin typeface="Aptos"/>
                <a:ea typeface="Aptos"/>
              </a:rPr>
              <a:t>AGENT RUNTIME</a:t>
            </a:r>
            <a:endParaRPr b="0" lang="en-US" sz="1200" spc="-1" strike="noStrike">
              <a:solidFill>
                <a:srgbClr val="000000"/>
              </a:solidFill>
              <a:latin typeface="Arial"/>
            </a:endParaRPr>
          </a:p>
        </p:txBody>
      </p:sp>
      <p:sp>
        <p:nvSpPr>
          <p:cNvPr id="219" name="Shape 9"/>
          <p:cNvSpPr/>
          <p:nvPr/>
        </p:nvSpPr>
        <p:spPr>
          <a:xfrm>
            <a:off x="1033200" y="2999160"/>
            <a:ext cx="2266560" cy="812880"/>
          </a:xfrm>
          <a:prstGeom prst="roundRect">
            <a:avLst>
              <a:gd name="adj" fmla="val 8989"/>
            </a:avLst>
          </a:prstGeom>
          <a:solidFill>
            <a:srgbClr val="f7f9fa"/>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0" name="Text 10"/>
          <p:cNvSpPr/>
          <p:nvPr/>
        </p:nvSpPr>
        <p:spPr>
          <a:xfrm>
            <a:off x="1188720" y="3099960"/>
            <a:ext cx="200160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152632"/>
                </a:solidFill>
                <a:latin typeface="Aptos"/>
                <a:ea typeface="Aptos"/>
              </a:rPr>
              <a:t>MODEL</a:t>
            </a:r>
            <a:endParaRPr b="0" lang="en-US" sz="1300" spc="-1" strike="noStrike">
              <a:solidFill>
                <a:srgbClr val="000000"/>
              </a:solidFill>
              <a:latin typeface="Arial"/>
            </a:endParaRPr>
          </a:p>
        </p:txBody>
      </p:sp>
      <p:sp>
        <p:nvSpPr>
          <p:cNvPr id="221" name="Text 11"/>
          <p:cNvSpPr/>
          <p:nvPr/>
        </p:nvSpPr>
        <p:spPr>
          <a:xfrm>
            <a:off x="1188720" y="3401640"/>
            <a:ext cx="2010600" cy="200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pc="-1" strike="noStrike">
                <a:solidFill>
                  <a:srgbClr val="536775"/>
                </a:solidFill>
                <a:latin typeface="Aptos"/>
                <a:ea typeface="Aptos"/>
              </a:rPr>
              <a:t>Anlama ve planlama</a:t>
            </a:r>
            <a:endParaRPr b="0" lang="en-US" sz="1100" spc="-1" strike="noStrike">
              <a:solidFill>
                <a:srgbClr val="000000"/>
              </a:solidFill>
              <a:latin typeface="Arial"/>
            </a:endParaRPr>
          </a:p>
        </p:txBody>
      </p:sp>
      <p:sp>
        <p:nvSpPr>
          <p:cNvPr id="222" name="Shape 12"/>
          <p:cNvSpPr/>
          <p:nvPr/>
        </p:nvSpPr>
        <p:spPr>
          <a:xfrm>
            <a:off x="3529440" y="2999160"/>
            <a:ext cx="2266560" cy="812880"/>
          </a:xfrm>
          <a:prstGeom prst="roundRect">
            <a:avLst>
              <a:gd name="adj" fmla="val 8989"/>
            </a:avLst>
          </a:prstGeom>
          <a:solidFill>
            <a:srgbClr val="f7f9fa"/>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3" name="Text 13"/>
          <p:cNvSpPr/>
          <p:nvPr/>
        </p:nvSpPr>
        <p:spPr>
          <a:xfrm>
            <a:off x="3684960" y="3099960"/>
            <a:ext cx="200160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152632"/>
                </a:solidFill>
                <a:latin typeface="Aptos"/>
                <a:ea typeface="Aptos"/>
              </a:rPr>
              <a:t>INSTRUCTIONS</a:t>
            </a:r>
            <a:endParaRPr b="0" lang="en-US" sz="1300" spc="-1" strike="noStrike">
              <a:solidFill>
                <a:srgbClr val="000000"/>
              </a:solidFill>
              <a:latin typeface="Arial"/>
            </a:endParaRPr>
          </a:p>
        </p:txBody>
      </p:sp>
      <p:sp>
        <p:nvSpPr>
          <p:cNvPr id="224" name="Text 14"/>
          <p:cNvSpPr/>
          <p:nvPr/>
        </p:nvSpPr>
        <p:spPr>
          <a:xfrm>
            <a:off x="3684960" y="3401640"/>
            <a:ext cx="2010600" cy="200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pc="-1" strike="noStrike">
                <a:solidFill>
                  <a:srgbClr val="536775"/>
                </a:solidFill>
                <a:latin typeface="Aptos"/>
                <a:ea typeface="Aptos"/>
              </a:rPr>
              <a:t>Davranış ve sınırlar</a:t>
            </a:r>
            <a:endParaRPr b="0" lang="en-US" sz="1100" spc="-1" strike="noStrike">
              <a:solidFill>
                <a:srgbClr val="000000"/>
              </a:solidFill>
              <a:latin typeface="Arial"/>
            </a:endParaRPr>
          </a:p>
        </p:txBody>
      </p:sp>
      <p:sp>
        <p:nvSpPr>
          <p:cNvPr id="225" name="Shape 15"/>
          <p:cNvSpPr/>
          <p:nvPr/>
        </p:nvSpPr>
        <p:spPr>
          <a:xfrm>
            <a:off x="1033200" y="3977640"/>
            <a:ext cx="2266560" cy="812880"/>
          </a:xfrm>
          <a:prstGeom prst="roundRect">
            <a:avLst>
              <a:gd name="adj" fmla="val 8989"/>
            </a:avLst>
          </a:prstGeom>
          <a:solidFill>
            <a:srgbClr val="f7f9fa"/>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6" name="Text 16"/>
          <p:cNvSpPr/>
          <p:nvPr/>
        </p:nvSpPr>
        <p:spPr>
          <a:xfrm>
            <a:off x="1188720" y="4078080"/>
            <a:ext cx="200160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152632"/>
                </a:solidFill>
                <a:latin typeface="Aptos"/>
                <a:ea typeface="Aptos"/>
              </a:rPr>
              <a:t>TOOLS</a:t>
            </a:r>
            <a:endParaRPr b="0" lang="en-US" sz="1300" spc="-1" strike="noStrike">
              <a:solidFill>
                <a:srgbClr val="000000"/>
              </a:solidFill>
              <a:latin typeface="Arial"/>
            </a:endParaRPr>
          </a:p>
        </p:txBody>
      </p:sp>
      <p:sp>
        <p:nvSpPr>
          <p:cNvPr id="227" name="Text 17"/>
          <p:cNvSpPr/>
          <p:nvPr/>
        </p:nvSpPr>
        <p:spPr>
          <a:xfrm>
            <a:off x="1188720" y="4380120"/>
            <a:ext cx="2010600" cy="200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pc="-1" strike="noStrike">
                <a:solidFill>
                  <a:srgbClr val="536775"/>
                </a:solidFill>
                <a:latin typeface="Aptos"/>
                <a:ea typeface="Aptos"/>
              </a:rPr>
              <a:t>Arama, API, fonksiyon</a:t>
            </a:r>
            <a:endParaRPr b="0" lang="en-US" sz="1100" spc="-1" strike="noStrike">
              <a:solidFill>
                <a:srgbClr val="000000"/>
              </a:solidFill>
              <a:latin typeface="Arial"/>
            </a:endParaRPr>
          </a:p>
        </p:txBody>
      </p:sp>
      <p:sp>
        <p:nvSpPr>
          <p:cNvPr id="228" name="Shape 18"/>
          <p:cNvSpPr/>
          <p:nvPr/>
        </p:nvSpPr>
        <p:spPr>
          <a:xfrm>
            <a:off x="3529440" y="3977640"/>
            <a:ext cx="2266560" cy="812880"/>
          </a:xfrm>
          <a:prstGeom prst="roundRect">
            <a:avLst>
              <a:gd name="adj" fmla="val 8989"/>
            </a:avLst>
          </a:prstGeom>
          <a:solidFill>
            <a:srgbClr val="f7f9fa"/>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29" name="Text 19"/>
          <p:cNvSpPr/>
          <p:nvPr/>
        </p:nvSpPr>
        <p:spPr>
          <a:xfrm>
            <a:off x="3684960" y="4078080"/>
            <a:ext cx="200160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152632"/>
                </a:solidFill>
                <a:latin typeface="Aptos"/>
                <a:ea typeface="Aptos"/>
              </a:rPr>
              <a:t>STATE</a:t>
            </a:r>
            <a:endParaRPr b="0" lang="en-US" sz="1300" spc="-1" strike="noStrike">
              <a:solidFill>
                <a:srgbClr val="000000"/>
              </a:solidFill>
              <a:latin typeface="Arial"/>
            </a:endParaRPr>
          </a:p>
        </p:txBody>
      </p:sp>
      <p:sp>
        <p:nvSpPr>
          <p:cNvPr id="230" name="Text 20"/>
          <p:cNvSpPr/>
          <p:nvPr/>
        </p:nvSpPr>
        <p:spPr>
          <a:xfrm>
            <a:off x="3684960" y="4380120"/>
            <a:ext cx="2010600" cy="200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pc="-1" strike="noStrike">
                <a:solidFill>
                  <a:srgbClr val="536775"/>
                </a:solidFill>
                <a:latin typeface="Aptos"/>
                <a:ea typeface="Aptos"/>
              </a:rPr>
              <a:t>Konuşma / bağlam</a:t>
            </a:r>
            <a:endParaRPr b="0" lang="en-US" sz="1100" spc="-1" strike="noStrike">
              <a:solidFill>
                <a:srgbClr val="000000"/>
              </a:solidFill>
              <a:latin typeface="Arial"/>
            </a:endParaRPr>
          </a:p>
        </p:txBody>
      </p:sp>
      <p:sp>
        <p:nvSpPr>
          <p:cNvPr id="231" name="Shape 21"/>
          <p:cNvSpPr/>
          <p:nvPr/>
        </p:nvSpPr>
        <p:spPr>
          <a:xfrm>
            <a:off x="6629400" y="2295000"/>
            <a:ext cx="4817880" cy="940680"/>
          </a:xfrm>
          <a:prstGeom prst="roundRect">
            <a:avLst>
              <a:gd name="adj" fmla="val 1165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32" name="Text 22"/>
          <p:cNvSpPr/>
          <p:nvPr/>
        </p:nvSpPr>
        <p:spPr>
          <a:xfrm>
            <a:off x="6885360" y="2432160"/>
            <a:ext cx="414108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pc="-1" strike="noStrike">
                <a:solidFill>
                  <a:srgbClr val="152632"/>
                </a:solidFill>
                <a:latin typeface="Aptos"/>
                <a:ea typeface="Aptos"/>
              </a:rPr>
              <a:t>PROMPT AGENT</a:t>
            </a:r>
            <a:endParaRPr b="0" lang="en-US" sz="1500" spc="-1" strike="noStrike">
              <a:solidFill>
                <a:srgbClr val="000000"/>
              </a:solidFill>
              <a:latin typeface="Arial"/>
            </a:endParaRPr>
          </a:p>
        </p:txBody>
      </p:sp>
      <p:sp>
        <p:nvSpPr>
          <p:cNvPr id="233" name="Text 23"/>
          <p:cNvSpPr/>
          <p:nvPr/>
        </p:nvSpPr>
        <p:spPr>
          <a:xfrm>
            <a:off x="6885360" y="2752200"/>
            <a:ext cx="4196160" cy="337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pc="-1" strike="noStrike">
                <a:solidFill>
                  <a:srgbClr val="536775"/>
                </a:solidFill>
                <a:latin typeface="Aptos"/>
                <a:ea typeface="Aptos"/>
              </a:rPr>
              <a:t>Konfigürasyon odaklı; altyapı yönetimi daha az.</a:t>
            </a:r>
            <a:endParaRPr b="0" lang="en-US" sz="1200" spc="-1" strike="noStrike">
              <a:solidFill>
                <a:srgbClr val="000000"/>
              </a:solidFill>
              <a:latin typeface="Arial"/>
            </a:endParaRPr>
          </a:p>
        </p:txBody>
      </p:sp>
      <p:sp>
        <p:nvSpPr>
          <p:cNvPr id="234" name="Shape 24"/>
          <p:cNvSpPr/>
          <p:nvPr/>
        </p:nvSpPr>
        <p:spPr>
          <a:xfrm>
            <a:off x="6629400" y="3383280"/>
            <a:ext cx="4817880" cy="940680"/>
          </a:xfrm>
          <a:prstGeom prst="roundRect">
            <a:avLst>
              <a:gd name="adj" fmla="val 11650"/>
            </a:avLst>
          </a:prstGeom>
          <a:solidFill>
            <a:srgbClr val="eaf5fc"/>
          </a:solidFill>
          <a:ln w="10160">
            <a:solidFill>
              <a:srgbClr val="d1e8f6"/>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35" name="Text 25"/>
          <p:cNvSpPr/>
          <p:nvPr/>
        </p:nvSpPr>
        <p:spPr>
          <a:xfrm>
            <a:off x="6885360" y="3520440"/>
            <a:ext cx="414108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pc="-1" strike="noStrike">
                <a:solidFill>
                  <a:srgbClr val="152632"/>
                </a:solidFill>
                <a:latin typeface="Aptos"/>
                <a:ea typeface="Aptos"/>
              </a:rPr>
              <a:t>HOSTED AGENT</a:t>
            </a:r>
            <a:endParaRPr b="0" lang="en-US" sz="1500" spc="-1" strike="noStrike">
              <a:solidFill>
                <a:srgbClr val="000000"/>
              </a:solidFill>
              <a:latin typeface="Arial"/>
            </a:endParaRPr>
          </a:p>
        </p:txBody>
      </p:sp>
      <p:sp>
        <p:nvSpPr>
          <p:cNvPr id="236" name="Text 26"/>
          <p:cNvSpPr/>
          <p:nvPr/>
        </p:nvSpPr>
        <p:spPr>
          <a:xfrm>
            <a:off x="6885360" y="3840480"/>
            <a:ext cx="4196160" cy="337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pc="-1" strike="noStrike">
                <a:solidFill>
                  <a:srgbClr val="536775"/>
                </a:solidFill>
                <a:latin typeface="Aptos"/>
                <a:ea typeface="Aptos"/>
              </a:rPr>
              <a:t>Kendi kodun / framework’ün; daha geniş kontrol.</a:t>
            </a:r>
            <a:endParaRPr b="0" lang="en-US" sz="1200" spc="-1" strike="noStrike">
              <a:solidFill>
                <a:srgbClr val="000000"/>
              </a:solidFill>
              <a:latin typeface="Arial"/>
            </a:endParaRPr>
          </a:p>
        </p:txBody>
      </p:sp>
      <p:sp>
        <p:nvSpPr>
          <p:cNvPr id="237" name="Shape 27"/>
          <p:cNvSpPr/>
          <p:nvPr/>
        </p:nvSpPr>
        <p:spPr>
          <a:xfrm>
            <a:off x="6629400" y="4471560"/>
            <a:ext cx="4817880" cy="940680"/>
          </a:xfrm>
          <a:prstGeom prst="roundRect">
            <a:avLst>
              <a:gd name="adj" fmla="val 1165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38" name="Text 28"/>
          <p:cNvSpPr/>
          <p:nvPr/>
        </p:nvSpPr>
        <p:spPr>
          <a:xfrm>
            <a:off x="6885360" y="4608720"/>
            <a:ext cx="414108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pc="-1" strike="noStrike">
                <a:solidFill>
                  <a:srgbClr val="152632"/>
                </a:solidFill>
                <a:latin typeface="Aptos"/>
                <a:ea typeface="Aptos"/>
              </a:rPr>
              <a:t>RESPONSES API</a:t>
            </a:r>
            <a:endParaRPr b="0" lang="en-US" sz="1500" spc="-1" strike="noStrike">
              <a:solidFill>
                <a:srgbClr val="000000"/>
              </a:solidFill>
              <a:latin typeface="Arial"/>
            </a:endParaRPr>
          </a:p>
        </p:txBody>
      </p:sp>
      <p:sp>
        <p:nvSpPr>
          <p:cNvPr id="239" name="Text 29"/>
          <p:cNvSpPr/>
          <p:nvPr/>
        </p:nvSpPr>
        <p:spPr>
          <a:xfrm>
            <a:off x="6885360" y="4928760"/>
            <a:ext cx="4196160" cy="337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pc="-1" strike="noStrike">
                <a:solidFill>
                  <a:srgbClr val="536775"/>
                </a:solidFill>
                <a:latin typeface="Aptos"/>
                <a:ea typeface="Aptos"/>
              </a:rPr>
              <a:t>Kendi uygulamandan model ve araç çağrıları.</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240"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08 / KNOWLEDGE</a:t>
            </a:r>
            <a:endParaRPr b="0" lang="en-US" sz="1000" spc="-1" strike="noStrike">
              <a:solidFill>
                <a:srgbClr val="000000"/>
              </a:solidFill>
              <a:latin typeface="Arial"/>
            </a:endParaRPr>
          </a:p>
        </p:txBody>
      </p:sp>
      <p:sp>
        <p:nvSpPr>
          <p:cNvPr id="241"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Kurumsal veriye dayanan, kaynaklı yanıtlar.</a:t>
            </a:r>
            <a:endParaRPr b="0" lang="en-US" sz="2900" spc="-1" strike="noStrike">
              <a:solidFill>
                <a:srgbClr val="000000"/>
              </a:solidFill>
              <a:latin typeface="Arial"/>
            </a:endParaRPr>
          </a:p>
        </p:txBody>
      </p:sp>
      <p:sp>
        <p:nvSpPr>
          <p:cNvPr id="242"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RAG / Foundry IQ: yalnızca model hafızasına güvenmek yerine doğru kaynağı getir.</a:t>
            </a:r>
            <a:endParaRPr b="0" lang="en-US" sz="1500" spc="-1" strike="noStrike">
              <a:solidFill>
                <a:srgbClr val="000000"/>
              </a:solidFill>
              <a:latin typeface="Arial"/>
            </a:endParaRPr>
          </a:p>
        </p:txBody>
      </p:sp>
      <p:sp>
        <p:nvSpPr>
          <p:cNvPr id="243"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244"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245"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246"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09</a:t>
            </a:r>
            <a:endParaRPr b="0" lang="en-US" sz="1000" spc="-1" strike="noStrike">
              <a:solidFill>
                <a:srgbClr val="000000"/>
              </a:solidFill>
              <a:latin typeface="Arial"/>
            </a:endParaRPr>
          </a:p>
        </p:txBody>
      </p:sp>
      <p:sp>
        <p:nvSpPr>
          <p:cNvPr id="247" name="Shape 7"/>
          <p:cNvSpPr/>
          <p:nvPr/>
        </p:nvSpPr>
        <p:spPr>
          <a:xfrm>
            <a:off x="722520" y="2157840"/>
            <a:ext cx="6765480" cy="803520"/>
          </a:xfrm>
          <a:prstGeom prst="roundRect">
            <a:avLst>
              <a:gd name="adj" fmla="val 13636"/>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48" name="Text 8"/>
          <p:cNvSpPr/>
          <p:nvPr/>
        </p:nvSpPr>
        <p:spPr>
          <a:xfrm>
            <a:off x="960120" y="2377440"/>
            <a:ext cx="36468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0078d4"/>
                </a:solidFill>
                <a:latin typeface="Aptos"/>
                <a:ea typeface="Aptos"/>
              </a:rPr>
              <a:t>01</a:t>
            </a:r>
            <a:endParaRPr b="0" lang="en-US" sz="1300" spc="-1" strike="noStrike">
              <a:solidFill>
                <a:srgbClr val="000000"/>
              </a:solidFill>
              <a:latin typeface="Arial"/>
            </a:endParaRPr>
          </a:p>
        </p:txBody>
      </p:sp>
      <p:sp>
        <p:nvSpPr>
          <p:cNvPr id="249" name="Text 9"/>
          <p:cNvSpPr/>
          <p:nvPr/>
        </p:nvSpPr>
        <p:spPr>
          <a:xfrm>
            <a:off x="1435680" y="2295000"/>
            <a:ext cx="219348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Çalışan sorusu</a:t>
            </a:r>
            <a:endParaRPr b="0" lang="en-US" sz="1600" spc="-1" strike="noStrike">
              <a:solidFill>
                <a:srgbClr val="000000"/>
              </a:solidFill>
              <a:latin typeface="Arial"/>
            </a:endParaRPr>
          </a:p>
        </p:txBody>
      </p:sp>
      <p:sp>
        <p:nvSpPr>
          <p:cNvPr id="250" name="Text 10"/>
          <p:cNvSpPr/>
          <p:nvPr/>
        </p:nvSpPr>
        <p:spPr>
          <a:xfrm>
            <a:off x="3684960" y="2304360"/>
            <a:ext cx="346464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a:t>
            </a:r>
            <a:r>
              <a:rPr b="0" lang="en-US" sz="1300" spc="-1" strike="noStrike">
                <a:solidFill>
                  <a:srgbClr val="536775"/>
                </a:solidFill>
                <a:latin typeface="Aptos"/>
                <a:ea typeface="Aptos"/>
              </a:rPr>
              <a:t>İade politikamız ne diyor?”</a:t>
            </a:r>
            <a:endParaRPr b="0" lang="en-US" sz="1300" spc="-1" strike="noStrike">
              <a:solidFill>
                <a:srgbClr val="000000"/>
              </a:solidFill>
              <a:latin typeface="Arial"/>
            </a:endParaRPr>
          </a:p>
        </p:txBody>
      </p:sp>
      <p:sp>
        <p:nvSpPr>
          <p:cNvPr id="251" name="Shape 11"/>
          <p:cNvSpPr/>
          <p:nvPr/>
        </p:nvSpPr>
        <p:spPr>
          <a:xfrm>
            <a:off x="722520" y="3136320"/>
            <a:ext cx="6765480" cy="803520"/>
          </a:xfrm>
          <a:prstGeom prst="roundRect">
            <a:avLst>
              <a:gd name="adj" fmla="val 13636"/>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52" name="Text 12"/>
          <p:cNvSpPr/>
          <p:nvPr/>
        </p:nvSpPr>
        <p:spPr>
          <a:xfrm>
            <a:off x="960120" y="3355920"/>
            <a:ext cx="36468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0078d4"/>
                </a:solidFill>
                <a:latin typeface="Aptos"/>
                <a:ea typeface="Aptos"/>
              </a:rPr>
              <a:t>02</a:t>
            </a:r>
            <a:endParaRPr b="0" lang="en-US" sz="1300" spc="-1" strike="noStrike">
              <a:solidFill>
                <a:srgbClr val="000000"/>
              </a:solidFill>
              <a:latin typeface="Arial"/>
            </a:endParaRPr>
          </a:p>
        </p:txBody>
      </p:sp>
      <p:sp>
        <p:nvSpPr>
          <p:cNvPr id="253" name="Text 13"/>
          <p:cNvSpPr/>
          <p:nvPr/>
        </p:nvSpPr>
        <p:spPr>
          <a:xfrm>
            <a:off x="1435680" y="3273480"/>
            <a:ext cx="219348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Bilgi arama</a:t>
            </a:r>
            <a:endParaRPr b="0" lang="en-US" sz="1600" spc="-1" strike="noStrike">
              <a:solidFill>
                <a:srgbClr val="000000"/>
              </a:solidFill>
              <a:latin typeface="Arial"/>
            </a:endParaRPr>
          </a:p>
        </p:txBody>
      </p:sp>
      <p:sp>
        <p:nvSpPr>
          <p:cNvPr id="254" name="Text 14"/>
          <p:cNvSpPr/>
          <p:nvPr/>
        </p:nvSpPr>
        <p:spPr>
          <a:xfrm>
            <a:off x="3684960" y="3282840"/>
            <a:ext cx="346464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SharePoint, OneLake, Blob veya indeks</a:t>
            </a:r>
            <a:endParaRPr b="0" lang="en-US" sz="1300" spc="-1" strike="noStrike">
              <a:solidFill>
                <a:srgbClr val="000000"/>
              </a:solidFill>
              <a:latin typeface="Arial"/>
            </a:endParaRPr>
          </a:p>
        </p:txBody>
      </p:sp>
      <p:sp>
        <p:nvSpPr>
          <p:cNvPr id="255" name="Shape 15"/>
          <p:cNvSpPr/>
          <p:nvPr/>
        </p:nvSpPr>
        <p:spPr>
          <a:xfrm>
            <a:off x="722520" y="4114800"/>
            <a:ext cx="6765480" cy="803520"/>
          </a:xfrm>
          <a:prstGeom prst="roundRect">
            <a:avLst>
              <a:gd name="adj" fmla="val 13636"/>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56" name="Text 16"/>
          <p:cNvSpPr/>
          <p:nvPr/>
        </p:nvSpPr>
        <p:spPr>
          <a:xfrm>
            <a:off x="960120" y="4334400"/>
            <a:ext cx="36468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0078d4"/>
                </a:solidFill>
                <a:latin typeface="Aptos"/>
                <a:ea typeface="Aptos"/>
              </a:rPr>
              <a:t>03</a:t>
            </a:r>
            <a:endParaRPr b="0" lang="en-US" sz="1300" spc="-1" strike="noStrike">
              <a:solidFill>
                <a:srgbClr val="000000"/>
              </a:solidFill>
              <a:latin typeface="Arial"/>
            </a:endParaRPr>
          </a:p>
        </p:txBody>
      </p:sp>
      <p:sp>
        <p:nvSpPr>
          <p:cNvPr id="257" name="Text 17"/>
          <p:cNvSpPr/>
          <p:nvPr/>
        </p:nvSpPr>
        <p:spPr>
          <a:xfrm>
            <a:off x="1435680" y="4251960"/>
            <a:ext cx="2193480" cy="25488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1" lang="en-US" sz="1600" spc="-1" strike="noStrike">
                <a:solidFill>
                  <a:srgbClr val="152632"/>
                </a:solidFill>
                <a:latin typeface="Aptos"/>
                <a:ea typeface="Aptos"/>
              </a:rPr>
              <a:t>Kanıta dayalı üretim</a:t>
            </a:r>
            <a:endParaRPr b="0" lang="en-US" sz="1600" spc="-1" strike="noStrike">
              <a:solidFill>
                <a:srgbClr val="000000"/>
              </a:solidFill>
              <a:latin typeface="Arial"/>
            </a:endParaRPr>
          </a:p>
        </p:txBody>
      </p:sp>
      <p:sp>
        <p:nvSpPr>
          <p:cNvPr id="258" name="Text 18"/>
          <p:cNvSpPr/>
          <p:nvPr/>
        </p:nvSpPr>
        <p:spPr>
          <a:xfrm>
            <a:off x="3684960" y="4260960"/>
            <a:ext cx="346464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İlgili bölümler + model yanıtı</a:t>
            </a:r>
            <a:endParaRPr b="0" lang="en-US" sz="1300" spc="-1" strike="noStrike">
              <a:solidFill>
                <a:srgbClr val="000000"/>
              </a:solidFill>
              <a:latin typeface="Arial"/>
            </a:endParaRPr>
          </a:p>
        </p:txBody>
      </p:sp>
      <p:sp>
        <p:nvSpPr>
          <p:cNvPr id="259" name="Shape 19"/>
          <p:cNvSpPr/>
          <p:nvPr/>
        </p:nvSpPr>
        <p:spPr>
          <a:xfrm>
            <a:off x="722520" y="5093280"/>
            <a:ext cx="6765480" cy="803520"/>
          </a:xfrm>
          <a:prstGeom prst="roundRect">
            <a:avLst>
              <a:gd name="adj" fmla="val 13636"/>
            </a:avLst>
          </a:prstGeom>
          <a:solidFill>
            <a:srgbClr val="eaf5fc"/>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0" name="Text 20"/>
          <p:cNvSpPr/>
          <p:nvPr/>
        </p:nvSpPr>
        <p:spPr>
          <a:xfrm>
            <a:off x="960120" y="5312520"/>
            <a:ext cx="36468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0078d4"/>
                </a:solidFill>
                <a:latin typeface="Aptos"/>
                <a:ea typeface="Aptos"/>
              </a:rPr>
              <a:t>04</a:t>
            </a:r>
            <a:endParaRPr b="0" lang="en-US" sz="1300" spc="-1" strike="noStrike">
              <a:solidFill>
                <a:srgbClr val="000000"/>
              </a:solidFill>
              <a:latin typeface="Arial"/>
            </a:endParaRPr>
          </a:p>
        </p:txBody>
      </p:sp>
      <p:sp>
        <p:nvSpPr>
          <p:cNvPr id="261" name="Text 21"/>
          <p:cNvSpPr/>
          <p:nvPr/>
        </p:nvSpPr>
        <p:spPr>
          <a:xfrm>
            <a:off x="1435680" y="5230440"/>
            <a:ext cx="219348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Kaynak ve kontrol</a:t>
            </a:r>
            <a:endParaRPr b="0" lang="en-US" sz="1600" spc="-1" strike="noStrike">
              <a:solidFill>
                <a:srgbClr val="000000"/>
              </a:solidFill>
              <a:latin typeface="Arial"/>
            </a:endParaRPr>
          </a:p>
        </p:txBody>
      </p:sp>
      <p:sp>
        <p:nvSpPr>
          <p:cNvPr id="262" name="Text 22"/>
          <p:cNvSpPr/>
          <p:nvPr/>
        </p:nvSpPr>
        <p:spPr>
          <a:xfrm>
            <a:off x="3684960" y="5239440"/>
            <a:ext cx="346464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Referanslar, yetki, güvenlik sınırları</a:t>
            </a:r>
            <a:endParaRPr b="0" lang="en-US" sz="1300" spc="-1" strike="noStrike">
              <a:solidFill>
                <a:srgbClr val="000000"/>
              </a:solidFill>
              <a:latin typeface="Arial"/>
            </a:endParaRPr>
          </a:p>
        </p:txBody>
      </p:sp>
      <p:sp>
        <p:nvSpPr>
          <p:cNvPr id="263" name="Shape 23"/>
          <p:cNvSpPr/>
          <p:nvPr/>
        </p:nvSpPr>
        <p:spPr>
          <a:xfrm>
            <a:off x="7882200" y="2185560"/>
            <a:ext cx="3537720" cy="3702240"/>
          </a:xfrm>
          <a:prstGeom prst="roundRect">
            <a:avLst>
              <a:gd name="adj" fmla="val 3618"/>
            </a:avLst>
          </a:prstGeom>
          <a:solidFill>
            <a:srgbClr val="142b3d"/>
          </a:solidFill>
          <a:ln w="12700">
            <a:solidFill>
              <a:srgbClr val="142b3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4" name="Text 24"/>
          <p:cNvSpPr/>
          <p:nvPr/>
        </p:nvSpPr>
        <p:spPr>
          <a:xfrm>
            <a:off x="8220600" y="2633400"/>
            <a:ext cx="2860920" cy="273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92" strike="noStrike">
                <a:solidFill>
                  <a:srgbClr val="9de1f8"/>
                </a:solidFill>
                <a:latin typeface="Aptos"/>
                <a:ea typeface="Aptos"/>
              </a:rPr>
              <a:t>FOUNDRY IQ</a:t>
            </a:r>
            <a:endParaRPr b="0" lang="en-US" sz="1200" spc="-1" strike="noStrike">
              <a:solidFill>
                <a:srgbClr val="000000"/>
              </a:solidFill>
              <a:latin typeface="Arial"/>
            </a:endParaRPr>
          </a:p>
        </p:txBody>
      </p:sp>
      <p:sp>
        <p:nvSpPr>
          <p:cNvPr id="265" name="Text 25"/>
          <p:cNvSpPr/>
          <p:nvPr/>
        </p:nvSpPr>
        <p:spPr>
          <a:xfrm>
            <a:off x="8211240" y="3063240"/>
            <a:ext cx="2916000" cy="195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pc="-1" strike="noStrike">
                <a:solidFill>
                  <a:srgbClr val="ffffff"/>
                </a:solidFill>
                <a:latin typeface="Aptos"/>
                <a:ea typeface="Aptos"/>
              </a:rPr>
              <a:t>Bilgiyi</a:t>
            </a:r>
            <a:endParaRPr b="0" lang="en-US" sz="3000" spc="-1" strike="noStrike">
              <a:solidFill>
                <a:srgbClr val="000000"/>
              </a:solidFill>
              <a:latin typeface="Arial"/>
            </a:endParaRPr>
          </a:p>
          <a:p>
            <a:pPr defTabSz="914400">
              <a:lnSpc>
                <a:spcPct val="100000"/>
              </a:lnSpc>
              <a:tabLst>
                <a:tab algn="l" pos="0"/>
              </a:tabLst>
            </a:pPr>
            <a:r>
              <a:rPr b="1" lang="en-US" sz="3000" spc="-1" strike="noStrike">
                <a:solidFill>
                  <a:srgbClr val="ffffff"/>
                </a:solidFill>
                <a:latin typeface="Aptos"/>
                <a:ea typeface="Aptos"/>
              </a:rPr>
              <a:t>getir.</a:t>
            </a:r>
            <a:endParaRPr b="0" lang="en-US" sz="3000" spc="-1" strike="noStrike">
              <a:solidFill>
                <a:srgbClr val="000000"/>
              </a:solidFill>
              <a:latin typeface="Arial"/>
            </a:endParaRPr>
          </a:p>
          <a:p>
            <a:pPr defTabSz="914400">
              <a:lnSpc>
                <a:spcPct val="100000"/>
              </a:lnSpc>
              <a:tabLst>
                <a:tab algn="l" pos="0"/>
              </a:tabLst>
            </a:pPr>
            <a:r>
              <a:rPr b="1" lang="en-US" sz="3000" spc="-1" strike="noStrike">
                <a:solidFill>
                  <a:srgbClr val="ffffff"/>
                </a:solidFill>
                <a:latin typeface="Aptos"/>
                <a:ea typeface="Aptos"/>
              </a:rPr>
              <a:t>Kararı</a:t>
            </a:r>
            <a:endParaRPr b="0" lang="en-US" sz="3000" spc="-1" strike="noStrike">
              <a:solidFill>
                <a:srgbClr val="000000"/>
              </a:solidFill>
              <a:latin typeface="Arial"/>
            </a:endParaRPr>
          </a:p>
          <a:p>
            <a:pPr defTabSz="914400">
              <a:lnSpc>
                <a:spcPct val="100000"/>
              </a:lnSpc>
              <a:tabLst>
                <a:tab algn="l" pos="0"/>
              </a:tabLst>
            </a:pPr>
            <a:r>
              <a:rPr b="1" lang="en-US" sz="3000" spc="-1" strike="noStrike">
                <a:solidFill>
                  <a:srgbClr val="ffffff"/>
                </a:solidFill>
                <a:latin typeface="Aptos"/>
                <a:ea typeface="Aptos"/>
              </a:rPr>
              <a:t>destekle.</a:t>
            </a:r>
            <a:endParaRPr b="0" lang="en-US" sz="3000" spc="-1" strike="noStrike">
              <a:solidFill>
                <a:srgbClr val="000000"/>
              </a:solidFill>
              <a:latin typeface="Arial"/>
            </a:endParaRPr>
          </a:p>
        </p:txBody>
      </p:sp>
      <p:sp>
        <p:nvSpPr>
          <p:cNvPr id="266" name="Text 26"/>
          <p:cNvSpPr/>
          <p:nvPr/>
        </p:nvSpPr>
        <p:spPr>
          <a:xfrm>
            <a:off x="758880" y="5925240"/>
            <a:ext cx="10605960" cy="24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pc="-1" strike="noStrike">
                <a:solidFill>
                  <a:srgbClr val="82939c"/>
                </a:solidFill>
                <a:latin typeface="Aptos"/>
                <a:ea typeface="Aptos"/>
              </a:rPr>
              <a:t>Azure AI Search temelli; erişim denetimleri veri kaynağına ve kurguya bağlıdır.</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267"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09 / TOOLS &amp; INTEGRATION</a:t>
            </a:r>
            <a:endParaRPr b="0" lang="en-US" sz="1000" spc="-1" strike="noStrike">
              <a:solidFill>
                <a:srgbClr val="000000"/>
              </a:solidFill>
              <a:latin typeface="Arial"/>
            </a:endParaRPr>
          </a:p>
        </p:txBody>
      </p:sp>
      <p:sp>
        <p:nvSpPr>
          <p:cNvPr id="268"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Agent’lar sistemlere bağlanır, süreçler başlar.</a:t>
            </a:r>
            <a:endParaRPr b="0" lang="en-US" sz="2900" spc="-1" strike="noStrike">
              <a:solidFill>
                <a:srgbClr val="000000"/>
              </a:solidFill>
              <a:latin typeface="Arial"/>
            </a:endParaRPr>
          </a:p>
        </p:txBody>
      </p:sp>
      <p:sp>
        <p:nvSpPr>
          <p:cNvPr id="269"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API, MCP, arama ve gerektiğinde insan onayıyla kontrollü eylem.</a:t>
            </a:r>
            <a:endParaRPr b="0" lang="en-US" sz="1500" spc="-1" strike="noStrike">
              <a:solidFill>
                <a:srgbClr val="000000"/>
              </a:solidFill>
              <a:latin typeface="Arial"/>
            </a:endParaRPr>
          </a:p>
        </p:txBody>
      </p:sp>
      <p:sp>
        <p:nvSpPr>
          <p:cNvPr id="270"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271"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272"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273"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10</a:t>
            </a:r>
            <a:endParaRPr b="0" lang="en-US" sz="1000" spc="-1" strike="noStrike">
              <a:solidFill>
                <a:srgbClr val="000000"/>
              </a:solidFill>
              <a:latin typeface="Arial"/>
            </a:endParaRPr>
          </a:p>
        </p:txBody>
      </p:sp>
      <p:sp>
        <p:nvSpPr>
          <p:cNvPr id="274" name="Shape 7"/>
          <p:cNvSpPr/>
          <p:nvPr/>
        </p:nvSpPr>
        <p:spPr>
          <a:xfrm>
            <a:off x="4919400" y="2871360"/>
            <a:ext cx="2376360" cy="1324800"/>
          </a:xfrm>
          <a:prstGeom prst="roundRect">
            <a:avLst>
              <a:gd name="adj" fmla="val 8276"/>
            </a:avLst>
          </a:prstGeom>
          <a:solidFill>
            <a:srgbClr val="142b3d"/>
          </a:solidFill>
          <a:ln w="12700">
            <a:solidFill>
              <a:srgbClr val="142b3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5" name="Text 8"/>
          <p:cNvSpPr/>
          <p:nvPr/>
        </p:nvSpPr>
        <p:spPr>
          <a:xfrm>
            <a:off x="5257800" y="3136320"/>
            <a:ext cx="1736280" cy="346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100" spc="-1" strike="noStrike">
                <a:solidFill>
                  <a:srgbClr val="ffffff"/>
                </a:solidFill>
                <a:latin typeface="Aptos"/>
                <a:ea typeface="Aptos"/>
              </a:rPr>
              <a:t>FOUNDRY</a:t>
            </a:r>
            <a:endParaRPr b="0" lang="en-US" sz="2100" spc="-1" strike="noStrike">
              <a:solidFill>
                <a:srgbClr val="000000"/>
              </a:solidFill>
              <a:latin typeface="Arial"/>
            </a:endParaRPr>
          </a:p>
        </p:txBody>
      </p:sp>
      <p:sp>
        <p:nvSpPr>
          <p:cNvPr id="276" name="Text 9"/>
          <p:cNvSpPr/>
          <p:nvPr/>
        </p:nvSpPr>
        <p:spPr>
          <a:xfrm>
            <a:off x="5257800" y="3602880"/>
            <a:ext cx="1736280" cy="254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a6d6ee"/>
                </a:solidFill>
                <a:latin typeface="Aptos"/>
                <a:ea typeface="Aptos"/>
              </a:rPr>
              <a:t>AGENT</a:t>
            </a:r>
            <a:endParaRPr b="0" lang="en-US" sz="1200" spc="-1" strike="noStrike">
              <a:solidFill>
                <a:srgbClr val="000000"/>
              </a:solidFill>
              <a:latin typeface="Arial"/>
            </a:endParaRPr>
          </a:p>
        </p:txBody>
      </p:sp>
      <p:sp>
        <p:nvSpPr>
          <p:cNvPr id="277" name="Shape 10"/>
          <p:cNvSpPr/>
          <p:nvPr/>
        </p:nvSpPr>
        <p:spPr>
          <a:xfrm>
            <a:off x="731520" y="2176200"/>
            <a:ext cx="2943360" cy="1132920"/>
          </a:xfrm>
          <a:prstGeom prst="roundRect">
            <a:avLst>
              <a:gd name="adj" fmla="val 9677"/>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78" name="Text 11"/>
          <p:cNvSpPr/>
          <p:nvPr/>
        </p:nvSpPr>
        <p:spPr>
          <a:xfrm>
            <a:off x="923400" y="2350080"/>
            <a:ext cx="2550240" cy="24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0078d4"/>
                </a:solidFill>
                <a:latin typeface="Aptos"/>
                <a:ea typeface="Aptos"/>
              </a:rPr>
              <a:t>INTERNAL APIs</a:t>
            </a:r>
            <a:endParaRPr b="0" lang="en-US" sz="1300" spc="-1" strike="noStrike">
              <a:solidFill>
                <a:srgbClr val="000000"/>
              </a:solidFill>
              <a:latin typeface="Arial"/>
            </a:endParaRPr>
          </a:p>
        </p:txBody>
      </p:sp>
      <p:sp>
        <p:nvSpPr>
          <p:cNvPr id="279" name="Text 12"/>
          <p:cNvSpPr/>
          <p:nvPr/>
        </p:nvSpPr>
        <p:spPr>
          <a:xfrm>
            <a:off x="923400" y="2715840"/>
            <a:ext cx="255024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ERP / CRM / SQL</a:t>
            </a:r>
            <a:endParaRPr b="0" lang="en-US" sz="1400" spc="-1" strike="noStrike">
              <a:solidFill>
                <a:srgbClr val="000000"/>
              </a:solidFill>
              <a:latin typeface="Arial"/>
            </a:endParaRPr>
          </a:p>
        </p:txBody>
      </p:sp>
      <p:sp>
        <p:nvSpPr>
          <p:cNvPr id="280" name="Shape 13"/>
          <p:cNvSpPr/>
          <p:nvPr/>
        </p:nvSpPr>
        <p:spPr>
          <a:xfrm>
            <a:off x="8485560" y="2176200"/>
            <a:ext cx="2943360" cy="1132920"/>
          </a:xfrm>
          <a:prstGeom prst="roundRect">
            <a:avLst>
              <a:gd name="adj" fmla="val 9677"/>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81" name="Text 14"/>
          <p:cNvSpPr/>
          <p:nvPr/>
        </p:nvSpPr>
        <p:spPr>
          <a:xfrm>
            <a:off x="8677800" y="2350080"/>
            <a:ext cx="2550240" cy="24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0078d4"/>
                </a:solidFill>
                <a:latin typeface="Aptos"/>
                <a:ea typeface="Aptos"/>
              </a:rPr>
              <a:t>KNOWLEDGE</a:t>
            </a:r>
            <a:endParaRPr b="0" lang="en-US" sz="1300" spc="-1" strike="noStrike">
              <a:solidFill>
                <a:srgbClr val="000000"/>
              </a:solidFill>
              <a:latin typeface="Arial"/>
            </a:endParaRPr>
          </a:p>
        </p:txBody>
      </p:sp>
      <p:sp>
        <p:nvSpPr>
          <p:cNvPr id="282" name="Text 15"/>
          <p:cNvSpPr/>
          <p:nvPr/>
        </p:nvSpPr>
        <p:spPr>
          <a:xfrm>
            <a:off x="8677800" y="2715840"/>
            <a:ext cx="255024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Search / Docs</a:t>
            </a:r>
            <a:endParaRPr b="0" lang="en-US" sz="1400" spc="-1" strike="noStrike">
              <a:solidFill>
                <a:srgbClr val="000000"/>
              </a:solidFill>
              <a:latin typeface="Arial"/>
            </a:endParaRPr>
          </a:p>
        </p:txBody>
      </p:sp>
      <p:sp>
        <p:nvSpPr>
          <p:cNvPr id="283" name="Shape 16"/>
          <p:cNvSpPr/>
          <p:nvPr/>
        </p:nvSpPr>
        <p:spPr>
          <a:xfrm>
            <a:off x="731520" y="4160520"/>
            <a:ext cx="2943360" cy="1132920"/>
          </a:xfrm>
          <a:prstGeom prst="roundRect">
            <a:avLst>
              <a:gd name="adj" fmla="val 9677"/>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84" name="Text 17"/>
          <p:cNvSpPr/>
          <p:nvPr/>
        </p:nvSpPr>
        <p:spPr>
          <a:xfrm>
            <a:off x="923400" y="4334400"/>
            <a:ext cx="2550240" cy="24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0078d4"/>
                </a:solidFill>
                <a:latin typeface="Aptos"/>
                <a:ea typeface="Aptos"/>
              </a:rPr>
              <a:t>MCP &amp; TOOLS</a:t>
            </a:r>
            <a:endParaRPr b="0" lang="en-US" sz="1300" spc="-1" strike="noStrike">
              <a:solidFill>
                <a:srgbClr val="000000"/>
              </a:solidFill>
              <a:latin typeface="Arial"/>
            </a:endParaRPr>
          </a:p>
        </p:txBody>
      </p:sp>
      <p:sp>
        <p:nvSpPr>
          <p:cNvPr id="285" name="Text 18"/>
          <p:cNvSpPr/>
          <p:nvPr/>
        </p:nvSpPr>
        <p:spPr>
          <a:xfrm>
            <a:off x="923400" y="4700160"/>
            <a:ext cx="255024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Fonksiyonlar / araçlar</a:t>
            </a:r>
            <a:endParaRPr b="0" lang="en-US" sz="1400" spc="-1" strike="noStrike">
              <a:solidFill>
                <a:srgbClr val="000000"/>
              </a:solidFill>
              <a:latin typeface="Arial"/>
            </a:endParaRPr>
          </a:p>
        </p:txBody>
      </p:sp>
      <p:sp>
        <p:nvSpPr>
          <p:cNvPr id="286" name="Shape 19"/>
          <p:cNvSpPr/>
          <p:nvPr/>
        </p:nvSpPr>
        <p:spPr>
          <a:xfrm>
            <a:off x="8485560" y="4160520"/>
            <a:ext cx="2943360" cy="1132920"/>
          </a:xfrm>
          <a:prstGeom prst="roundRect">
            <a:avLst>
              <a:gd name="adj" fmla="val 9677"/>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87" name="Text 20"/>
          <p:cNvSpPr/>
          <p:nvPr/>
        </p:nvSpPr>
        <p:spPr>
          <a:xfrm>
            <a:off x="8677800" y="4334400"/>
            <a:ext cx="2550240" cy="245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0078d4"/>
                </a:solidFill>
                <a:latin typeface="Aptos"/>
                <a:ea typeface="Aptos"/>
              </a:rPr>
              <a:t>HUMAN APPROVAL</a:t>
            </a:r>
            <a:endParaRPr b="0" lang="en-US" sz="1300" spc="-1" strike="noStrike">
              <a:solidFill>
                <a:srgbClr val="000000"/>
              </a:solidFill>
              <a:latin typeface="Arial"/>
            </a:endParaRPr>
          </a:p>
        </p:txBody>
      </p:sp>
      <p:sp>
        <p:nvSpPr>
          <p:cNvPr id="288" name="Text 21"/>
          <p:cNvSpPr/>
          <p:nvPr/>
        </p:nvSpPr>
        <p:spPr>
          <a:xfrm>
            <a:off x="8677800" y="4700160"/>
            <a:ext cx="255024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Kritik işlem kontrolü</a:t>
            </a:r>
            <a:endParaRPr b="0" lang="en-US" sz="1400" spc="-1" strike="noStrike">
              <a:solidFill>
                <a:srgbClr val="000000"/>
              </a:solidFill>
              <a:latin typeface="Arial"/>
            </a:endParaRPr>
          </a:p>
        </p:txBody>
      </p:sp>
      <p:sp>
        <p:nvSpPr>
          <p:cNvPr id="289" name="Shape 22"/>
          <p:cNvSpPr/>
          <p:nvPr/>
        </p:nvSpPr>
        <p:spPr>
          <a:xfrm>
            <a:off x="3675600" y="2743200"/>
            <a:ext cx="1243800" cy="493560"/>
          </a:xfrm>
          <a:prstGeom prst="line">
            <a:avLst/>
          </a:prstGeom>
          <a:ln w="21590">
            <a:solidFill>
              <a:srgbClr val="7eafc8"/>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290" name="Shape 23"/>
          <p:cNvSpPr/>
          <p:nvPr/>
        </p:nvSpPr>
        <p:spPr>
          <a:xfrm flipV="1">
            <a:off x="7296840" y="2743200"/>
            <a:ext cx="1188720" cy="493560"/>
          </a:xfrm>
          <a:prstGeom prst="line">
            <a:avLst/>
          </a:prstGeom>
          <a:ln w="21590">
            <a:solidFill>
              <a:srgbClr val="7eafc8"/>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291" name="Shape 24"/>
          <p:cNvSpPr/>
          <p:nvPr/>
        </p:nvSpPr>
        <p:spPr>
          <a:xfrm flipV="1">
            <a:off x="3675600" y="3840480"/>
            <a:ext cx="1243800" cy="886680"/>
          </a:xfrm>
          <a:prstGeom prst="line">
            <a:avLst/>
          </a:prstGeom>
          <a:ln w="21590">
            <a:solidFill>
              <a:srgbClr val="7eafc8"/>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292" name="Shape 25"/>
          <p:cNvSpPr/>
          <p:nvPr/>
        </p:nvSpPr>
        <p:spPr>
          <a:xfrm>
            <a:off x="7296840" y="3876840"/>
            <a:ext cx="1188720" cy="841320"/>
          </a:xfrm>
          <a:prstGeom prst="line">
            <a:avLst/>
          </a:prstGeom>
          <a:ln w="21590">
            <a:solidFill>
              <a:srgbClr val="7eafc8"/>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293" name="Text 26"/>
          <p:cNvSpPr/>
          <p:nvPr/>
        </p:nvSpPr>
        <p:spPr>
          <a:xfrm>
            <a:off x="786240" y="5742360"/>
            <a:ext cx="10880280" cy="437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pc="-1" strike="noStrike">
                <a:solidFill>
                  <a:srgbClr val="152632"/>
                </a:solidFill>
                <a:latin typeface="Aptos"/>
                <a:ea typeface="Aptos"/>
              </a:rPr>
              <a:t>İyi bir agent tasarımı, “neleri yapabilir?” kadar “neleri yapamaz?” sorusunu da yanıtlar.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294"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10 / ENTERPRISE TRUST</a:t>
            </a:r>
            <a:endParaRPr b="0" lang="en-US" sz="1000" spc="-1" strike="noStrike">
              <a:solidFill>
                <a:srgbClr val="000000"/>
              </a:solidFill>
              <a:latin typeface="Arial"/>
            </a:endParaRPr>
          </a:p>
        </p:txBody>
      </p:sp>
      <p:sp>
        <p:nvSpPr>
          <p:cNvPr id="295"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Kurumsal güven: sonradan eklenen bir özellik değil.</a:t>
            </a:r>
            <a:endParaRPr b="0" lang="en-US" sz="2900" spc="-1" strike="noStrike">
              <a:solidFill>
                <a:srgbClr val="000000"/>
              </a:solidFill>
              <a:latin typeface="Arial"/>
            </a:endParaRPr>
          </a:p>
        </p:txBody>
      </p:sp>
      <p:sp>
        <p:nvSpPr>
          <p:cNvPr id="296"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Kimlik, ağ, içerik ve veri yönetişimi tasarımın başlangıcında.</a:t>
            </a:r>
            <a:endParaRPr b="0" lang="en-US" sz="1500" spc="-1" strike="noStrike">
              <a:solidFill>
                <a:srgbClr val="000000"/>
              </a:solidFill>
              <a:latin typeface="Arial"/>
            </a:endParaRPr>
          </a:p>
        </p:txBody>
      </p:sp>
      <p:sp>
        <p:nvSpPr>
          <p:cNvPr id="297"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298"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299"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300"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11</a:t>
            </a:r>
            <a:endParaRPr b="0" lang="en-US" sz="1000" spc="-1" strike="noStrike">
              <a:solidFill>
                <a:srgbClr val="000000"/>
              </a:solidFill>
              <a:latin typeface="Arial"/>
            </a:endParaRPr>
          </a:p>
        </p:txBody>
      </p:sp>
      <p:sp>
        <p:nvSpPr>
          <p:cNvPr id="301" name="Shape 7"/>
          <p:cNvSpPr/>
          <p:nvPr/>
        </p:nvSpPr>
        <p:spPr>
          <a:xfrm>
            <a:off x="722520" y="2212920"/>
            <a:ext cx="3619800" cy="1196640"/>
          </a:xfrm>
          <a:prstGeom prst="roundRect">
            <a:avLst>
              <a:gd name="adj" fmla="val 916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2" name="Shape 8"/>
          <p:cNvSpPr/>
          <p:nvPr/>
        </p:nvSpPr>
        <p:spPr>
          <a:xfrm>
            <a:off x="923400" y="2450520"/>
            <a:ext cx="355680" cy="355680"/>
          </a:xfrm>
          <a:prstGeom prst="roundRect">
            <a:avLst>
              <a:gd name="adj" fmla="val 15385"/>
            </a:avLst>
          </a:prstGeom>
          <a:solidFill>
            <a:srgbClr val="d8f0ea"/>
          </a:solidFill>
          <a:ln w="12700">
            <a:solidFill>
              <a:srgbClr val="d8f0e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3" name="Text 9"/>
          <p:cNvSpPr/>
          <p:nvPr/>
        </p:nvSpPr>
        <p:spPr>
          <a:xfrm>
            <a:off x="1444680" y="2414160"/>
            <a:ext cx="2714760" cy="273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43" strike="noStrike">
                <a:solidFill>
                  <a:srgbClr val="0078d4"/>
                </a:solidFill>
                <a:latin typeface="Aptos"/>
                <a:ea typeface="Aptos"/>
              </a:rPr>
              <a:t>IDENTITY</a:t>
            </a:r>
            <a:endParaRPr b="0" lang="en-US" sz="1300" spc="-1" strike="noStrike">
              <a:solidFill>
                <a:srgbClr val="000000"/>
              </a:solidFill>
              <a:latin typeface="Arial"/>
            </a:endParaRPr>
          </a:p>
        </p:txBody>
      </p:sp>
      <p:sp>
        <p:nvSpPr>
          <p:cNvPr id="304" name="Text 10"/>
          <p:cNvSpPr/>
          <p:nvPr/>
        </p:nvSpPr>
        <p:spPr>
          <a:xfrm>
            <a:off x="1444680" y="2752200"/>
            <a:ext cx="2687400" cy="483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Microsoft Entra ID / managed identity</a:t>
            </a:r>
            <a:endParaRPr b="0" lang="en-US" sz="1300" spc="-1" strike="noStrike">
              <a:solidFill>
                <a:srgbClr val="000000"/>
              </a:solidFill>
              <a:latin typeface="Arial"/>
            </a:endParaRPr>
          </a:p>
        </p:txBody>
      </p:sp>
      <p:sp>
        <p:nvSpPr>
          <p:cNvPr id="305" name="Shape 11"/>
          <p:cNvSpPr/>
          <p:nvPr/>
        </p:nvSpPr>
        <p:spPr>
          <a:xfrm>
            <a:off x="4572000" y="2212920"/>
            <a:ext cx="3619800" cy="1196640"/>
          </a:xfrm>
          <a:prstGeom prst="roundRect">
            <a:avLst>
              <a:gd name="adj" fmla="val 916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6" name="Shape 12"/>
          <p:cNvSpPr/>
          <p:nvPr/>
        </p:nvSpPr>
        <p:spPr>
          <a:xfrm>
            <a:off x="4773240" y="2450520"/>
            <a:ext cx="355680" cy="355680"/>
          </a:xfrm>
          <a:prstGeom prst="roundRect">
            <a:avLst>
              <a:gd name="adj" fmla="val 15385"/>
            </a:avLst>
          </a:prstGeom>
          <a:solidFill>
            <a:srgbClr val="eaf5fc"/>
          </a:solidFill>
          <a:ln w="12700">
            <a:solidFill>
              <a:srgbClr val="eaf5f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07" name="Text 13"/>
          <p:cNvSpPr/>
          <p:nvPr/>
        </p:nvSpPr>
        <p:spPr>
          <a:xfrm>
            <a:off x="5294520" y="2414160"/>
            <a:ext cx="2714760" cy="273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43" strike="noStrike">
                <a:solidFill>
                  <a:srgbClr val="0078d4"/>
                </a:solidFill>
                <a:latin typeface="Aptos"/>
                <a:ea typeface="Aptos"/>
              </a:rPr>
              <a:t>ACCESS</a:t>
            </a:r>
            <a:endParaRPr b="0" lang="en-US" sz="1300" spc="-1" strike="noStrike">
              <a:solidFill>
                <a:srgbClr val="000000"/>
              </a:solidFill>
              <a:latin typeface="Arial"/>
            </a:endParaRPr>
          </a:p>
        </p:txBody>
      </p:sp>
      <p:sp>
        <p:nvSpPr>
          <p:cNvPr id="308" name="Text 14"/>
          <p:cNvSpPr/>
          <p:nvPr/>
        </p:nvSpPr>
        <p:spPr>
          <a:xfrm>
            <a:off x="5294520" y="2752200"/>
            <a:ext cx="2687400" cy="483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RBAC ve en az yetki yaklaşımı</a:t>
            </a:r>
            <a:endParaRPr b="0" lang="en-US" sz="1300" spc="-1" strike="noStrike">
              <a:solidFill>
                <a:srgbClr val="000000"/>
              </a:solidFill>
              <a:latin typeface="Arial"/>
            </a:endParaRPr>
          </a:p>
        </p:txBody>
      </p:sp>
      <p:sp>
        <p:nvSpPr>
          <p:cNvPr id="309" name="Shape 15"/>
          <p:cNvSpPr/>
          <p:nvPr/>
        </p:nvSpPr>
        <p:spPr>
          <a:xfrm>
            <a:off x="8421480" y="2212920"/>
            <a:ext cx="3619800" cy="1196640"/>
          </a:xfrm>
          <a:prstGeom prst="roundRect">
            <a:avLst>
              <a:gd name="adj" fmla="val 916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0" name="Shape 16"/>
          <p:cNvSpPr/>
          <p:nvPr/>
        </p:nvSpPr>
        <p:spPr>
          <a:xfrm>
            <a:off x="8622720" y="2450520"/>
            <a:ext cx="355680" cy="355680"/>
          </a:xfrm>
          <a:prstGeom prst="roundRect">
            <a:avLst>
              <a:gd name="adj" fmla="val 15385"/>
            </a:avLst>
          </a:prstGeom>
          <a:solidFill>
            <a:srgbClr val="d8f0ea"/>
          </a:solidFill>
          <a:ln w="12700">
            <a:solidFill>
              <a:srgbClr val="d8f0e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1" name="Text 17"/>
          <p:cNvSpPr/>
          <p:nvPr/>
        </p:nvSpPr>
        <p:spPr>
          <a:xfrm>
            <a:off x="9144000" y="2414160"/>
            <a:ext cx="2714760" cy="273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43" strike="noStrike">
                <a:solidFill>
                  <a:srgbClr val="0078d4"/>
                </a:solidFill>
                <a:latin typeface="Aptos"/>
                <a:ea typeface="Aptos"/>
              </a:rPr>
              <a:t>NETWORK</a:t>
            </a:r>
            <a:endParaRPr b="0" lang="en-US" sz="1300" spc="-1" strike="noStrike">
              <a:solidFill>
                <a:srgbClr val="000000"/>
              </a:solidFill>
              <a:latin typeface="Arial"/>
            </a:endParaRPr>
          </a:p>
        </p:txBody>
      </p:sp>
      <p:sp>
        <p:nvSpPr>
          <p:cNvPr id="312" name="Text 18"/>
          <p:cNvSpPr/>
          <p:nvPr/>
        </p:nvSpPr>
        <p:spPr>
          <a:xfrm>
            <a:off x="9144000" y="2752200"/>
            <a:ext cx="2687400" cy="483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Ağ izolasyonu ve özel bağlantı seçenekleri</a:t>
            </a:r>
            <a:endParaRPr b="0" lang="en-US" sz="1300" spc="-1" strike="noStrike">
              <a:solidFill>
                <a:srgbClr val="000000"/>
              </a:solidFill>
              <a:latin typeface="Arial"/>
            </a:endParaRPr>
          </a:p>
        </p:txBody>
      </p:sp>
      <p:sp>
        <p:nvSpPr>
          <p:cNvPr id="313" name="Shape 19"/>
          <p:cNvSpPr/>
          <p:nvPr/>
        </p:nvSpPr>
        <p:spPr>
          <a:xfrm>
            <a:off x="722520" y="3620880"/>
            <a:ext cx="3619800" cy="1196640"/>
          </a:xfrm>
          <a:prstGeom prst="roundRect">
            <a:avLst>
              <a:gd name="adj" fmla="val 916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4" name="Shape 20"/>
          <p:cNvSpPr/>
          <p:nvPr/>
        </p:nvSpPr>
        <p:spPr>
          <a:xfrm>
            <a:off x="923400" y="3858840"/>
            <a:ext cx="355680" cy="355680"/>
          </a:xfrm>
          <a:prstGeom prst="roundRect">
            <a:avLst>
              <a:gd name="adj" fmla="val 15385"/>
            </a:avLst>
          </a:prstGeom>
          <a:solidFill>
            <a:srgbClr val="eaf5fc"/>
          </a:solidFill>
          <a:ln w="12700">
            <a:solidFill>
              <a:srgbClr val="eaf5f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5" name="Text 21"/>
          <p:cNvSpPr/>
          <p:nvPr/>
        </p:nvSpPr>
        <p:spPr>
          <a:xfrm>
            <a:off x="1444680" y="3822120"/>
            <a:ext cx="2714760" cy="273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43" strike="noStrike">
                <a:solidFill>
                  <a:srgbClr val="0078d4"/>
                </a:solidFill>
                <a:latin typeface="Aptos"/>
                <a:ea typeface="Aptos"/>
              </a:rPr>
              <a:t>SAFETY</a:t>
            </a:r>
            <a:endParaRPr b="0" lang="en-US" sz="1300" spc="-1" strike="noStrike">
              <a:solidFill>
                <a:srgbClr val="000000"/>
              </a:solidFill>
              <a:latin typeface="Arial"/>
            </a:endParaRPr>
          </a:p>
        </p:txBody>
      </p:sp>
      <p:sp>
        <p:nvSpPr>
          <p:cNvPr id="316" name="Text 22"/>
          <p:cNvSpPr/>
          <p:nvPr/>
        </p:nvSpPr>
        <p:spPr>
          <a:xfrm>
            <a:off x="1444680" y="4160520"/>
            <a:ext cx="2687400" cy="483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İçerik filtreleri ve uygulama guardrail’leri</a:t>
            </a:r>
            <a:endParaRPr b="0" lang="en-US" sz="1300" spc="-1" strike="noStrike">
              <a:solidFill>
                <a:srgbClr val="000000"/>
              </a:solidFill>
              <a:latin typeface="Arial"/>
            </a:endParaRPr>
          </a:p>
        </p:txBody>
      </p:sp>
      <p:sp>
        <p:nvSpPr>
          <p:cNvPr id="317" name="Shape 23"/>
          <p:cNvSpPr/>
          <p:nvPr/>
        </p:nvSpPr>
        <p:spPr>
          <a:xfrm>
            <a:off x="4572000" y="3620880"/>
            <a:ext cx="3619800" cy="1196640"/>
          </a:xfrm>
          <a:prstGeom prst="roundRect">
            <a:avLst>
              <a:gd name="adj" fmla="val 916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8" name="Shape 24"/>
          <p:cNvSpPr/>
          <p:nvPr/>
        </p:nvSpPr>
        <p:spPr>
          <a:xfrm>
            <a:off x="4773240" y="3858840"/>
            <a:ext cx="355680" cy="355680"/>
          </a:xfrm>
          <a:prstGeom prst="roundRect">
            <a:avLst>
              <a:gd name="adj" fmla="val 15385"/>
            </a:avLst>
          </a:prstGeom>
          <a:solidFill>
            <a:srgbClr val="d8f0ea"/>
          </a:solidFill>
          <a:ln w="12700">
            <a:solidFill>
              <a:srgbClr val="d8f0e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9" name="Text 25"/>
          <p:cNvSpPr/>
          <p:nvPr/>
        </p:nvSpPr>
        <p:spPr>
          <a:xfrm>
            <a:off x="5294520" y="3822120"/>
            <a:ext cx="2714760" cy="273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43" strike="noStrike">
                <a:solidFill>
                  <a:srgbClr val="0078d4"/>
                </a:solidFill>
                <a:latin typeface="Aptos"/>
                <a:ea typeface="Aptos"/>
              </a:rPr>
              <a:t>POLICIES</a:t>
            </a:r>
            <a:endParaRPr b="0" lang="en-US" sz="1300" spc="-1" strike="noStrike">
              <a:solidFill>
                <a:srgbClr val="000000"/>
              </a:solidFill>
              <a:latin typeface="Arial"/>
            </a:endParaRPr>
          </a:p>
        </p:txBody>
      </p:sp>
      <p:sp>
        <p:nvSpPr>
          <p:cNvPr id="320" name="Text 26"/>
          <p:cNvSpPr/>
          <p:nvPr/>
        </p:nvSpPr>
        <p:spPr>
          <a:xfrm>
            <a:off x="5294520" y="4160520"/>
            <a:ext cx="2687400" cy="483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Azure Policy ve kurumsal yönetişim</a:t>
            </a:r>
            <a:endParaRPr b="0" lang="en-US" sz="1300" spc="-1" strike="noStrike">
              <a:solidFill>
                <a:srgbClr val="000000"/>
              </a:solidFill>
              <a:latin typeface="Arial"/>
            </a:endParaRPr>
          </a:p>
        </p:txBody>
      </p:sp>
      <p:sp>
        <p:nvSpPr>
          <p:cNvPr id="321" name="Shape 27"/>
          <p:cNvSpPr/>
          <p:nvPr/>
        </p:nvSpPr>
        <p:spPr>
          <a:xfrm>
            <a:off x="8421480" y="3620880"/>
            <a:ext cx="3619800" cy="1196640"/>
          </a:xfrm>
          <a:prstGeom prst="roundRect">
            <a:avLst>
              <a:gd name="adj" fmla="val 916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22" name="Shape 28"/>
          <p:cNvSpPr/>
          <p:nvPr/>
        </p:nvSpPr>
        <p:spPr>
          <a:xfrm>
            <a:off x="8622720" y="3858840"/>
            <a:ext cx="355680" cy="355680"/>
          </a:xfrm>
          <a:prstGeom prst="roundRect">
            <a:avLst>
              <a:gd name="adj" fmla="val 15385"/>
            </a:avLst>
          </a:prstGeom>
          <a:solidFill>
            <a:srgbClr val="eaf5fc"/>
          </a:solidFill>
          <a:ln w="12700">
            <a:solidFill>
              <a:srgbClr val="eaf5f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23" name="Text 29"/>
          <p:cNvSpPr/>
          <p:nvPr/>
        </p:nvSpPr>
        <p:spPr>
          <a:xfrm>
            <a:off x="9144000" y="3822120"/>
            <a:ext cx="2714760" cy="273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43" strike="noStrike">
                <a:solidFill>
                  <a:srgbClr val="0078d4"/>
                </a:solidFill>
                <a:latin typeface="Aptos"/>
                <a:ea typeface="Aptos"/>
              </a:rPr>
              <a:t>AUDIT</a:t>
            </a:r>
            <a:endParaRPr b="0" lang="en-US" sz="1300" spc="-1" strike="noStrike">
              <a:solidFill>
                <a:srgbClr val="000000"/>
              </a:solidFill>
              <a:latin typeface="Arial"/>
            </a:endParaRPr>
          </a:p>
        </p:txBody>
      </p:sp>
      <p:sp>
        <p:nvSpPr>
          <p:cNvPr id="324" name="Text 30"/>
          <p:cNvSpPr/>
          <p:nvPr/>
        </p:nvSpPr>
        <p:spPr>
          <a:xfrm>
            <a:off x="9144000" y="4160520"/>
            <a:ext cx="2687400" cy="483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İz kayıtları ve uygulama telemetrisi</a:t>
            </a:r>
            <a:endParaRPr b="0" lang="en-US" sz="1300" spc="-1" strike="noStrike">
              <a:solidFill>
                <a:srgbClr val="000000"/>
              </a:solidFill>
              <a:latin typeface="Arial"/>
            </a:endParaRPr>
          </a:p>
        </p:txBody>
      </p:sp>
      <p:sp>
        <p:nvSpPr>
          <p:cNvPr id="325" name="Shape 31"/>
          <p:cNvSpPr/>
          <p:nvPr/>
        </p:nvSpPr>
        <p:spPr>
          <a:xfrm>
            <a:off x="749880" y="5266800"/>
            <a:ext cx="10779840" cy="593280"/>
          </a:xfrm>
          <a:prstGeom prst="rect">
            <a:avLst/>
          </a:prstGeom>
          <a:solidFill>
            <a:srgbClr val="142b3d"/>
          </a:solidFill>
          <a:ln w="12700">
            <a:solidFill>
              <a:srgbClr val="142b3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6" name="Text 32"/>
          <p:cNvSpPr/>
          <p:nvPr/>
        </p:nvSpPr>
        <p:spPr>
          <a:xfrm>
            <a:off x="987480" y="5440680"/>
            <a:ext cx="1096200" cy="227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1" strike="noStrike">
                <a:solidFill>
                  <a:srgbClr val="9ed8f1"/>
                </a:solidFill>
                <a:latin typeface="Aptos"/>
                <a:ea typeface="Aptos"/>
              </a:rPr>
              <a:t>ÖNEMLİ</a:t>
            </a:r>
            <a:endParaRPr b="0" lang="en-US" sz="1200" spc="-1" strike="noStrike">
              <a:solidFill>
                <a:srgbClr val="000000"/>
              </a:solidFill>
              <a:latin typeface="Arial"/>
            </a:endParaRPr>
          </a:p>
        </p:txBody>
      </p:sp>
      <p:sp>
        <p:nvSpPr>
          <p:cNvPr id="327" name="Text 33"/>
          <p:cNvSpPr/>
          <p:nvPr/>
        </p:nvSpPr>
        <p:spPr>
          <a:xfrm>
            <a:off x="2240280" y="5422320"/>
            <a:ext cx="879552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ffffff"/>
                </a:solidFill>
                <a:latin typeface="Aptos"/>
                <a:ea typeface="Aptos"/>
              </a:rPr>
              <a:t>Uyumluluk ve veri yerleşimi, seçilen model / bölge / servis bazında doğrulanır.</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328"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11 / QUALITY &amp; OPERATIONS</a:t>
            </a:r>
            <a:endParaRPr b="0" lang="en-US" sz="1000" spc="-1" strike="noStrike">
              <a:solidFill>
                <a:srgbClr val="000000"/>
              </a:solidFill>
              <a:latin typeface="Arial"/>
            </a:endParaRPr>
          </a:p>
        </p:txBody>
      </p:sp>
      <p:sp>
        <p:nvSpPr>
          <p:cNvPr id="329"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Güvenilir AI ölçülür, izlenir, geliştirilir.</a:t>
            </a:r>
            <a:endParaRPr b="0" lang="en-US" sz="2900" spc="-1" strike="noStrike">
              <a:solidFill>
                <a:srgbClr val="000000"/>
              </a:solidFill>
              <a:latin typeface="Arial"/>
            </a:endParaRPr>
          </a:p>
        </p:txBody>
      </p:sp>
      <p:sp>
        <p:nvSpPr>
          <p:cNvPr id="330"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Evaluation + tracing + monitoring: model performansının ötesine geçer.</a:t>
            </a:r>
            <a:endParaRPr b="0" lang="en-US" sz="1500" spc="-1" strike="noStrike">
              <a:solidFill>
                <a:srgbClr val="000000"/>
              </a:solidFill>
              <a:latin typeface="Arial"/>
            </a:endParaRPr>
          </a:p>
        </p:txBody>
      </p:sp>
      <p:sp>
        <p:nvSpPr>
          <p:cNvPr id="331"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332"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333"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334"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12</a:t>
            </a:r>
            <a:endParaRPr b="0" lang="en-US" sz="1000" spc="-1" strike="noStrike">
              <a:solidFill>
                <a:srgbClr val="000000"/>
              </a:solidFill>
              <a:latin typeface="Arial"/>
            </a:endParaRPr>
          </a:p>
        </p:txBody>
      </p:sp>
      <p:sp>
        <p:nvSpPr>
          <p:cNvPr id="335" name="Shape 7"/>
          <p:cNvSpPr/>
          <p:nvPr/>
        </p:nvSpPr>
        <p:spPr>
          <a:xfrm>
            <a:off x="704160" y="2240280"/>
            <a:ext cx="5421240" cy="1178640"/>
          </a:xfrm>
          <a:prstGeom prst="roundRect">
            <a:avLst>
              <a:gd name="adj" fmla="val 930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36" name="Text 8"/>
          <p:cNvSpPr/>
          <p:nvPr/>
        </p:nvSpPr>
        <p:spPr>
          <a:xfrm>
            <a:off x="914400" y="2414160"/>
            <a:ext cx="429660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pc="-1" strike="noStrike">
                <a:solidFill>
                  <a:srgbClr val="0078d4"/>
                </a:solidFill>
                <a:latin typeface="Aptos"/>
                <a:ea typeface="Aptos"/>
              </a:rPr>
              <a:t>QUALITY</a:t>
            </a:r>
            <a:endParaRPr b="0" lang="en-US" sz="1400" spc="-1" strike="noStrike">
              <a:solidFill>
                <a:srgbClr val="000000"/>
              </a:solidFill>
              <a:latin typeface="Arial"/>
            </a:endParaRPr>
          </a:p>
        </p:txBody>
      </p:sp>
      <p:sp>
        <p:nvSpPr>
          <p:cNvPr id="337" name="Text 9"/>
          <p:cNvSpPr/>
          <p:nvPr/>
        </p:nvSpPr>
        <p:spPr>
          <a:xfrm>
            <a:off x="914400" y="2797920"/>
            <a:ext cx="491832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Doğruluk, göreve uygunluk, kaynak bağlılığı</a:t>
            </a:r>
            <a:endParaRPr b="0" lang="en-US" sz="1500" spc="-1" strike="noStrike">
              <a:solidFill>
                <a:srgbClr val="000000"/>
              </a:solidFill>
              <a:latin typeface="Arial"/>
            </a:endParaRPr>
          </a:p>
        </p:txBody>
      </p:sp>
      <p:sp>
        <p:nvSpPr>
          <p:cNvPr id="338" name="Shape 10"/>
          <p:cNvSpPr/>
          <p:nvPr/>
        </p:nvSpPr>
        <p:spPr>
          <a:xfrm>
            <a:off x="6391800" y="2240280"/>
            <a:ext cx="5421240" cy="1178640"/>
          </a:xfrm>
          <a:prstGeom prst="roundRect">
            <a:avLst>
              <a:gd name="adj" fmla="val 930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39" name="Text 11"/>
          <p:cNvSpPr/>
          <p:nvPr/>
        </p:nvSpPr>
        <p:spPr>
          <a:xfrm>
            <a:off x="6602040" y="2414160"/>
            <a:ext cx="429660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pc="-1" strike="noStrike">
                <a:solidFill>
                  <a:srgbClr val="0078d4"/>
                </a:solidFill>
                <a:latin typeface="Aptos"/>
                <a:ea typeface="Aptos"/>
              </a:rPr>
              <a:t>SAFETY</a:t>
            </a:r>
            <a:endParaRPr b="0" lang="en-US" sz="1400" spc="-1" strike="noStrike">
              <a:solidFill>
                <a:srgbClr val="000000"/>
              </a:solidFill>
              <a:latin typeface="Arial"/>
            </a:endParaRPr>
          </a:p>
        </p:txBody>
      </p:sp>
      <p:sp>
        <p:nvSpPr>
          <p:cNvPr id="340" name="Text 12"/>
          <p:cNvSpPr/>
          <p:nvPr/>
        </p:nvSpPr>
        <p:spPr>
          <a:xfrm>
            <a:off x="6602040" y="2797920"/>
            <a:ext cx="491832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Riskli çıktı, talimat ihlali, uygunsuz içerik</a:t>
            </a:r>
            <a:endParaRPr b="0" lang="en-US" sz="1500" spc="-1" strike="noStrike">
              <a:solidFill>
                <a:srgbClr val="000000"/>
              </a:solidFill>
              <a:latin typeface="Arial"/>
            </a:endParaRPr>
          </a:p>
        </p:txBody>
      </p:sp>
      <p:sp>
        <p:nvSpPr>
          <p:cNvPr id="341" name="Shape 13"/>
          <p:cNvSpPr/>
          <p:nvPr/>
        </p:nvSpPr>
        <p:spPr>
          <a:xfrm>
            <a:off x="704160" y="3657600"/>
            <a:ext cx="5421240" cy="1178640"/>
          </a:xfrm>
          <a:prstGeom prst="roundRect">
            <a:avLst>
              <a:gd name="adj" fmla="val 930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2" name="Text 14"/>
          <p:cNvSpPr/>
          <p:nvPr/>
        </p:nvSpPr>
        <p:spPr>
          <a:xfrm>
            <a:off x="914400" y="3831480"/>
            <a:ext cx="429660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pc="-1" strike="noStrike">
                <a:solidFill>
                  <a:srgbClr val="0078d4"/>
                </a:solidFill>
                <a:latin typeface="Aptos"/>
                <a:ea typeface="Aptos"/>
              </a:rPr>
              <a:t>RELIABILITY</a:t>
            </a:r>
            <a:endParaRPr b="0" lang="en-US" sz="1400" spc="-1" strike="noStrike">
              <a:solidFill>
                <a:srgbClr val="000000"/>
              </a:solidFill>
              <a:latin typeface="Arial"/>
            </a:endParaRPr>
          </a:p>
        </p:txBody>
      </p:sp>
      <p:sp>
        <p:nvSpPr>
          <p:cNvPr id="343" name="Text 15"/>
          <p:cNvSpPr/>
          <p:nvPr/>
        </p:nvSpPr>
        <p:spPr>
          <a:xfrm>
            <a:off x="914400" y="4215240"/>
            <a:ext cx="491832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Hata oranı, tool başarısı, başarısız görevler</a:t>
            </a:r>
            <a:endParaRPr b="0" lang="en-US" sz="1500" spc="-1" strike="noStrike">
              <a:solidFill>
                <a:srgbClr val="000000"/>
              </a:solidFill>
              <a:latin typeface="Arial"/>
            </a:endParaRPr>
          </a:p>
        </p:txBody>
      </p:sp>
      <p:sp>
        <p:nvSpPr>
          <p:cNvPr id="344" name="Shape 16"/>
          <p:cNvSpPr/>
          <p:nvPr/>
        </p:nvSpPr>
        <p:spPr>
          <a:xfrm>
            <a:off x="6391800" y="3657600"/>
            <a:ext cx="5421240" cy="1178640"/>
          </a:xfrm>
          <a:prstGeom prst="roundRect">
            <a:avLst>
              <a:gd name="adj" fmla="val 930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5" name="Text 17"/>
          <p:cNvSpPr/>
          <p:nvPr/>
        </p:nvSpPr>
        <p:spPr>
          <a:xfrm>
            <a:off x="6602040" y="3831480"/>
            <a:ext cx="429660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pc="-1" strike="noStrike">
                <a:solidFill>
                  <a:srgbClr val="0078d4"/>
                </a:solidFill>
                <a:latin typeface="Aptos"/>
                <a:ea typeface="Aptos"/>
              </a:rPr>
              <a:t>EFFICIENCY</a:t>
            </a:r>
            <a:endParaRPr b="0" lang="en-US" sz="1400" spc="-1" strike="noStrike">
              <a:solidFill>
                <a:srgbClr val="000000"/>
              </a:solidFill>
              <a:latin typeface="Arial"/>
            </a:endParaRPr>
          </a:p>
        </p:txBody>
      </p:sp>
      <p:sp>
        <p:nvSpPr>
          <p:cNvPr id="346" name="Text 18"/>
          <p:cNvSpPr/>
          <p:nvPr/>
        </p:nvSpPr>
        <p:spPr>
          <a:xfrm>
            <a:off x="6602040" y="4215240"/>
            <a:ext cx="491832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Gecikme, token kullanımı, çağrı başı maliyet</a:t>
            </a:r>
            <a:endParaRPr b="0" lang="en-US" sz="1500" spc="-1" strike="noStrike">
              <a:solidFill>
                <a:srgbClr val="000000"/>
              </a:solidFill>
              <a:latin typeface="Arial"/>
            </a:endParaRPr>
          </a:p>
        </p:txBody>
      </p:sp>
      <p:sp>
        <p:nvSpPr>
          <p:cNvPr id="347" name="Shape 19"/>
          <p:cNvSpPr/>
          <p:nvPr/>
        </p:nvSpPr>
        <p:spPr>
          <a:xfrm>
            <a:off x="722520" y="5321880"/>
            <a:ext cx="10944360" cy="529200"/>
          </a:xfrm>
          <a:prstGeom prst="roundRect">
            <a:avLst>
              <a:gd name="adj" fmla="val 13793"/>
            </a:avLst>
          </a:prstGeom>
          <a:solidFill>
            <a:srgbClr val="eaf5fc"/>
          </a:solidFill>
          <a:ln w="12700">
            <a:solidFill>
              <a:srgbClr val="eaf5f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48" name="Text 20"/>
          <p:cNvSpPr/>
          <p:nvPr/>
        </p:nvSpPr>
        <p:spPr>
          <a:xfrm>
            <a:off x="1069920" y="5468040"/>
            <a:ext cx="10276920" cy="227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pc="-1" strike="noStrike">
                <a:solidFill>
                  <a:srgbClr val="152632"/>
                </a:solidFill>
                <a:latin typeface="Aptos"/>
                <a:ea typeface="Aptos"/>
              </a:rPr>
              <a:t>ÖLÇ  →  KARŞILAŞTIR  →  İYİLEŞTİR  →  YENİDEN TEST ET</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349"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12 / REFERANS MİMARİ</a:t>
            </a:r>
            <a:endParaRPr b="0" lang="en-US" sz="1000" spc="-1" strike="noStrike">
              <a:solidFill>
                <a:srgbClr val="000000"/>
              </a:solidFill>
              <a:latin typeface="Arial"/>
            </a:endParaRPr>
          </a:p>
        </p:txBody>
      </p:sp>
      <p:sp>
        <p:nvSpPr>
          <p:cNvPr id="350"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900" spc="-1" strike="noStrike">
                <a:solidFill>
                  <a:srgbClr val="152632"/>
                </a:solidFill>
                <a:latin typeface="Aptos"/>
                <a:ea typeface="Aptos"/>
              </a:rPr>
              <a:t>İş uygulamasından agent’a, agent’dan kurumsal veriye.</a:t>
            </a:r>
            <a:endParaRPr b="0" lang="en-US" sz="2900" spc="-1" strike="noStrike">
              <a:solidFill>
                <a:srgbClr val="000000"/>
              </a:solidFill>
              <a:latin typeface="Arial"/>
            </a:endParaRPr>
          </a:p>
        </p:txBody>
      </p:sp>
      <p:sp>
        <p:nvSpPr>
          <p:cNvPr id="351"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Temsili referans mimari — müşteri ortamına göre değişir.</a:t>
            </a:r>
            <a:endParaRPr b="0" lang="en-US" sz="1500" spc="-1" strike="noStrike">
              <a:solidFill>
                <a:srgbClr val="000000"/>
              </a:solidFill>
              <a:latin typeface="Arial"/>
            </a:endParaRPr>
          </a:p>
        </p:txBody>
      </p:sp>
      <p:sp>
        <p:nvSpPr>
          <p:cNvPr id="352"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353"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354"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355"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13</a:t>
            </a:r>
            <a:endParaRPr b="0" lang="en-US" sz="1000" spc="-1" strike="noStrike">
              <a:solidFill>
                <a:srgbClr val="000000"/>
              </a:solidFill>
              <a:latin typeface="Arial"/>
            </a:endParaRPr>
          </a:p>
        </p:txBody>
      </p:sp>
      <p:sp>
        <p:nvSpPr>
          <p:cNvPr id="356" name="Shape 7"/>
          <p:cNvSpPr/>
          <p:nvPr/>
        </p:nvSpPr>
        <p:spPr>
          <a:xfrm>
            <a:off x="713160" y="2331720"/>
            <a:ext cx="2358000" cy="538560"/>
          </a:xfrm>
          <a:prstGeom prst="roundRect">
            <a:avLst>
              <a:gd name="adj" fmla="val 13559"/>
            </a:avLst>
          </a:prstGeom>
          <a:solidFill>
            <a:srgbClr val="eaf5fc"/>
          </a:solidFill>
          <a:ln w="12700">
            <a:solidFill>
              <a:srgbClr val="eaf5f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57" name="Text 8"/>
          <p:cNvSpPr/>
          <p:nvPr/>
        </p:nvSpPr>
        <p:spPr>
          <a:xfrm>
            <a:off x="841320" y="2487240"/>
            <a:ext cx="2102040" cy="209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0078d4"/>
                </a:solidFill>
                <a:latin typeface="Aptos"/>
                <a:ea typeface="Aptos"/>
              </a:rPr>
              <a:t>KANALLAR</a:t>
            </a:r>
            <a:endParaRPr b="0" lang="en-US" sz="1200" spc="-1" strike="noStrike">
              <a:solidFill>
                <a:srgbClr val="000000"/>
              </a:solidFill>
              <a:latin typeface="Arial"/>
            </a:endParaRPr>
          </a:p>
        </p:txBody>
      </p:sp>
      <p:sp>
        <p:nvSpPr>
          <p:cNvPr id="358" name="Shape 9"/>
          <p:cNvSpPr/>
          <p:nvPr/>
        </p:nvSpPr>
        <p:spPr>
          <a:xfrm>
            <a:off x="713160" y="3026520"/>
            <a:ext cx="235800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59" name="Text 10"/>
          <p:cNvSpPr/>
          <p:nvPr/>
        </p:nvSpPr>
        <p:spPr>
          <a:xfrm>
            <a:off x="804600" y="3182040"/>
            <a:ext cx="217512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152632"/>
                </a:solidFill>
                <a:latin typeface="Aptos"/>
                <a:ea typeface="Aptos"/>
              </a:rPr>
              <a:t>Web uygulaması</a:t>
            </a:r>
            <a:endParaRPr b="0" lang="en-US" sz="1200" spc="-1" strike="noStrike">
              <a:solidFill>
                <a:srgbClr val="000000"/>
              </a:solidFill>
              <a:latin typeface="Arial"/>
            </a:endParaRPr>
          </a:p>
        </p:txBody>
      </p:sp>
      <p:sp>
        <p:nvSpPr>
          <p:cNvPr id="360" name="Shape 11"/>
          <p:cNvSpPr/>
          <p:nvPr/>
        </p:nvSpPr>
        <p:spPr>
          <a:xfrm>
            <a:off x="713160" y="3657600"/>
            <a:ext cx="235800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61" name="Text 12"/>
          <p:cNvSpPr/>
          <p:nvPr/>
        </p:nvSpPr>
        <p:spPr>
          <a:xfrm>
            <a:off x="804600" y="3813120"/>
            <a:ext cx="217512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pc="-1" strike="noStrike">
                <a:solidFill>
                  <a:srgbClr val="152632"/>
                </a:solidFill>
                <a:latin typeface="Aptos"/>
                <a:ea typeface="Aptos"/>
              </a:rPr>
              <a:t>Teams / CRM</a:t>
            </a:r>
            <a:endParaRPr b="0" lang="en-US" sz="1200" spc="-1" strike="noStrike">
              <a:solidFill>
                <a:srgbClr val="000000"/>
              </a:solidFill>
              <a:latin typeface="Arial"/>
            </a:endParaRPr>
          </a:p>
        </p:txBody>
      </p:sp>
      <p:sp>
        <p:nvSpPr>
          <p:cNvPr id="362" name="Shape 13"/>
          <p:cNvSpPr/>
          <p:nvPr/>
        </p:nvSpPr>
        <p:spPr>
          <a:xfrm>
            <a:off x="713160" y="4288680"/>
            <a:ext cx="235800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63" name="Text 14"/>
          <p:cNvSpPr/>
          <p:nvPr/>
        </p:nvSpPr>
        <p:spPr>
          <a:xfrm>
            <a:off x="804600" y="4443840"/>
            <a:ext cx="217512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pc="-1" strike="noStrike">
                <a:solidFill>
                  <a:srgbClr val="152632"/>
                </a:solidFill>
                <a:latin typeface="Aptos"/>
                <a:ea typeface="Aptos"/>
              </a:rPr>
              <a:t>Müşteri portalı</a:t>
            </a:r>
            <a:endParaRPr b="0" lang="en-US" sz="1200" spc="-1" strike="noStrike">
              <a:solidFill>
                <a:srgbClr val="000000"/>
              </a:solidFill>
              <a:latin typeface="Arial"/>
            </a:endParaRPr>
          </a:p>
        </p:txBody>
      </p:sp>
      <p:sp>
        <p:nvSpPr>
          <p:cNvPr id="364" name="Shape 15"/>
          <p:cNvSpPr/>
          <p:nvPr/>
        </p:nvSpPr>
        <p:spPr>
          <a:xfrm>
            <a:off x="3218760" y="376740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5" name="Shape 16"/>
          <p:cNvSpPr/>
          <p:nvPr/>
        </p:nvSpPr>
        <p:spPr>
          <a:xfrm>
            <a:off x="3456360" y="2331720"/>
            <a:ext cx="2613960" cy="538560"/>
          </a:xfrm>
          <a:prstGeom prst="roundRect">
            <a:avLst>
              <a:gd name="adj" fmla="val 13559"/>
            </a:avLst>
          </a:prstGeom>
          <a:solidFill>
            <a:srgbClr val="142b3d"/>
          </a:solidFill>
          <a:ln w="12700">
            <a:solidFill>
              <a:srgbClr val="142b3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6" name="Text 17"/>
          <p:cNvSpPr/>
          <p:nvPr/>
        </p:nvSpPr>
        <p:spPr>
          <a:xfrm>
            <a:off x="3584520" y="2487240"/>
            <a:ext cx="2358000" cy="209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ffffff"/>
                </a:solidFill>
                <a:latin typeface="Aptos"/>
                <a:ea typeface="Aptos"/>
              </a:rPr>
              <a:t>ORCHESTRATION</a:t>
            </a:r>
            <a:endParaRPr b="0" lang="en-US" sz="1200" spc="-1" strike="noStrike">
              <a:solidFill>
                <a:srgbClr val="000000"/>
              </a:solidFill>
              <a:latin typeface="Arial"/>
            </a:endParaRPr>
          </a:p>
        </p:txBody>
      </p:sp>
      <p:sp>
        <p:nvSpPr>
          <p:cNvPr id="367" name="Shape 18"/>
          <p:cNvSpPr/>
          <p:nvPr/>
        </p:nvSpPr>
        <p:spPr>
          <a:xfrm>
            <a:off x="3456360" y="3026520"/>
            <a:ext cx="261396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68" name="Text 19"/>
          <p:cNvSpPr/>
          <p:nvPr/>
        </p:nvSpPr>
        <p:spPr>
          <a:xfrm>
            <a:off x="3547800" y="3182040"/>
            <a:ext cx="243108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152632"/>
                </a:solidFill>
                <a:latin typeface="Aptos"/>
                <a:ea typeface="Aptos"/>
              </a:rPr>
              <a:t>Foundry Agent</a:t>
            </a:r>
            <a:endParaRPr b="0" lang="en-US" sz="1200" spc="-1" strike="noStrike">
              <a:solidFill>
                <a:srgbClr val="000000"/>
              </a:solidFill>
              <a:latin typeface="Arial"/>
            </a:endParaRPr>
          </a:p>
        </p:txBody>
      </p:sp>
      <p:sp>
        <p:nvSpPr>
          <p:cNvPr id="369" name="Shape 20"/>
          <p:cNvSpPr/>
          <p:nvPr/>
        </p:nvSpPr>
        <p:spPr>
          <a:xfrm>
            <a:off x="3456360" y="3657600"/>
            <a:ext cx="261396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70" name="Text 21"/>
          <p:cNvSpPr/>
          <p:nvPr/>
        </p:nvSpPr>
        <p:spPr>
          <a:xfrm>
            <a:off x="3547800" y="3813120"/>
            <a:ext cx="243108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pc="-1" strike="noStrike">
                <a:solidFill>
                  <a:srgbClr val="152632"/>
                </a:solidFill>
                <a:latin typeface="Aptos"/>
                <a:ea typeface="Aptos"/>
              </a:rPr>
              <a:t>Instructions</a:t>
            </a:r>
            <a:endParaRPr b="0" lang="en-US" sz="1200" spc="-1" strike="noStrike">
              <a:solidFill>
                <a:srgbClr val="000000"/>
              </a:solidFill>
              <a:latin typeface="Arial"/>
            </a:endParaRPr>
          </a:p>
        </p:txBody>
      </p:sp>
      <p:sp>
        <p:nvSpPr>
          <p:cNvPr id="371" name="Shape 22"/>
          <p:cNvSpPr/>
          <p:nvPr/>
        </p:nvSpPr>
        <p:spPr>
          <a:xfrm>
            <a:off x="3456360" y="4288680"/>
            <a:ext cx="261396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72" name="Text 23"/>
          <p:cNvSpPr/>
          <p:nvPr/>
        </p:nvSpPr>
        <p:spPr>
          <a:xfrm>
            <a:off x="3547800" y="4443840"/>
            <a:ext cx="243108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pc="-1" strike="noStrike">
                <a:solidFill>
                  <a:srgbClr val="152632"/>
                </a:solidFill>
                <a:latin typeface="Aptos"/>
                <a:ea typeface="Aptos"/>
              </a:rPr>
              <a:t>Workflow / Tool calls</a:t>
            </a:r>
            <a:endParaRPr b="0" lang="en-US" sz="1200" spc="-1" strike="noStrike">
              <a:solidFill>
                <a:srgbClr val="000000"/>
              </a:solidFill>
              <a:latin typeface="Arial"/>
            </a:endParaRPr>
          </a:p>
        </p:txBody>
      </p:sp>
      <p:sp>
        <p:nvSpPr>
          <p:cNvPr id="373" name="Shape 24"/>
          <p:cNvSpPr/>
          <p:nvPr/>
        </p:nvSpPr>
        <p:spPr>
          <a:xfrm>
            <a:off x="6217920" y="376740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4" name="Shape 25"/>
          <p:cNvSpPr/>
          <p:nvPr/>
        </p:nvSpPr>
        <p:spPr>
          <a:xfrm>
            <a:off x="6409800" y="2331720"/>
            <a:ext cx="2540880" cy="538560"/>
          </a:xfrm>
          <a:prstGeom prst="roundRect">
            <a:avLst>
              <a:gd name="adj" fmla="val 13559"/>
            </a:avLst>
          </a:prstGeom>
          <a:solidFill>
            <a:srgbClr val="142b3d"/>
          </a:solidFill>
          <a:ln w="12700">
            <a:solidFill>
              <a:srgbClr val="142b3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5" name="Text 26"/>
          <p:cNvSpPr/>
          <p:nvPr/>
        </p:nvSpPr>
        <p:spPr>
          <a:xfrm>
            <a:off x="6537960" y="2487240"/>
            <a:ext cx="2284920" cy="209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ffffff"/>
                </a:solidFill>
                <a:latin typeface="Aptos"/>
                <a:ea typeface="Aptos"/>
              </a:rPr>
              <a:t>FOUNDRY AI</a:t>
            </a:r>
            <a:endParaRPr b="0" lang="en-US" sz="1200" spc="-1" strike="noStrike">
              <a:solidFill>
                <a:srgbClr val="000000"/>
              </a:solidFill>
              <a:latin typeface="Arial"/>
            </a:endParaRPr>
          </a:p>
        </p:txBody>
      </p:sp>
      <p:sp>
        <p:nvSpPr>
          <p:cNvPr id="376" name="Shape 27"/>
          <p:cNvSpPr/>
          <p:nvPr/>
        </p:nvSpPr>
        <p:spPr>
          <a:xfrm>
            <a:off x="6409800" y="3026520"/>
            <a:ext cx="254088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77" name="Text 28"/>
          <p:cNvSpPr/>
          <p:nvPr/>
        </p:nvSpPr>
        <p:spPr>
          <a:xfrm>
            <a:off x="6501240" y="3182040"/>
            <a:ext cx="235800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152632"/>
                </a:solidFill>
                <a:latin typeface="Aptos"/>
                <a:ea typeface="Aptos"/>
              </a:rPr>
              <a:t>Model Deployment</a:t>
            </a:r>
            <a:endParaRPr b="0" lang="en-US" sz="1200" spc="-1" strike="noStrike">
              <a:solidFill>
                <a:srgbClr val="000000"/>
              </a:solidFill>
              <a:latin typeface="Arial"/>
            </a:endParaRPr>
          </a:p>
        </p:txBody>
      </p:sp>
      <p:sp>
        <p:nvSpPr>
          <p:cNvPr id="378" name="Shape 29"/>
          <p:cNvSpPr/>
          <p:nvPr/>
        </p:nvSpPr>
        <p:spPr>
          <a:xfrm>
            <a:off x="6409800" y="3657600"/>
            <a:ext cx="254088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79" name="Text 30"/>
          <p:cNvSpPr/>
          <p:nvPr/>
        </p:nvSpPr>
        <p:spPr>
          <a:xfrm>
            <a:off x="6501240" y="3813120"/>
            <a:ext cx="235800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pc="-1" strike="noStrike">
                <a:solidFill>
                  <a:srgbClr val="152632"/>
                </a:solidFill>
                <a:latin typeface="Aptos"/>
                <a:ea typeface="Aptos"/>
              </a:rPr>
              <a:t>Foundry IQ / RAG</a:t>
            </a:r>
            <a:endParaRPr b="0" lang="en-US" sz="1200" spc="-1" strike="noStrike">
              <a:solidFill>
                <a:srgbClr val="000000"/>
              </a:solidFill>
              <a:latin typeface="Arial"/>
            </a:endParaRPr>
          </a:p>
        </p:txBody>
      </p:sp>
      <p:sp>
        <p:nvSpPr>
          <p:cNvPr id="380" name="Shape 31"/>
          <p:cNvSpPr/>
          <p:nvPr/>
        </p:nvSpPr>
        <p:spPr>
          <a:xfrm>
            <a:off x="6409800" y="4288680"/>
            <a:ext cx="254088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81" name="Text 32"/>
          <p:cNvSpPr/>
          <p:nvPr/>
        </p:nvSpPr>
        <p:spPr>
          <a:xfrm>
            <a:off x="6501240" y="4443840"/>
            <a:ext cx="235800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pc="-1" strike="noStrike">
                <a:solidFill>
                  <a:srgbClr val="152632"/>
                </a:solidFill>
                <a:latin typeface="Aptos"/>
                <a:ea typeface="Aptos"/>
              </a:rPr>
              <a:t>Evaluation / Tracing</a:t>
            </a:r>
            <a:endParaRPr b="0" lang="en-US" sz="1200" spc="-1" strike="noStrike">
              <a:solidFill>
                <a:srgbClr val="000000"/>
              </a:solidFill>
              <a:latin typeface="Arial"/>
            </a:endParaRPr>
          </a:p>
        </p:txBody>
      </p:sp>
      <p:sp>
        <p:nvSpPr>
          <p:cNvPr id="382" name="Shape 33"/>
          <p:cNvSpPr/>
          <p:nvPr/>
        </p:nvSpPr>
        <p:spPr>
          <a:xfrm>
            <a:off x="9098280" y="376740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3" name="Shape 34"/>
          <p:cNvSpPr/>
          <p:nvPr/>
        </p:nvSpPr>
        <p:spPr>
          <a:xfrm>
            <a:off x="9217080" y="2331720"/>
            <a:ext cx="2257560" cy="538560"/>
          </a:xfrm>
          <a:prstGeom prst="roundRect">
            <a:avLst>
              <a:gd name="adj" fmla="val 13559"/>
            </a:avLst>
          </a:prstGeom>
          <a:solidFill>
            <a:srgbClr val="eaf5fc"/>
          </a:solidFill>
          <a:ln w="12700">
            <a:solidFill>
              <a:srgbClr val="eaf5f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84" name="Text 35"/>
          <p:cNvSpPr/>
          <p:nvPr/>
        </p:nvSpPr>
        <p:spPr>
          <a:xfrm>
            <a:off x="9345240" y="2487240"/>
            <a:ext cx="2001600" cy="209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0078d4"/>
                </a:solidFill>
                <a:latin typeface="Aptos"/>
                <a:ea typeface="Aptos"/>
              </a:rPr>
              <a:t>DATA &amp; ACTION</a:t>
            </a:r>
            <a:endParaRPr b="0" lang="en-US" sz="1200" spc="-1" strike="noStrike">
              <a:solidFill>
                <a:srgbClr val="000000"/>
              </a:solidFill>
              <a:latin typeface="Arial"/>
            </a:endParaRPr>
          </a:p>
        </p:txBody>
      </p:sp>
      <p:sp>
        <p:nvSpPr>
          <p:cNvPr id="385" name="Shape 36"/>
          <p:cNvSpPr/>
          <p:nvPr/>
        </p:nvSpPr>
        <p:spPr>
          <a:xfrm>
            <a:off x="9217080" y="3026520"/>
            <a:ext cx="225756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86" name="Text 37"/>
          <p:cNvSpPr/>
          <p:nvPr/>
        </p:nvSpPr>
        <p:spPr>
          <a:xfrm>
            <a:off x="9308520" y="3182040"/>
            <a:ext cx="207468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pc="-1" strike="noStrike">
                <a:solidFill>
                  <a:srgbClr val="152632"/>
                </a:solidFill>
                <a:latin typeface="Aptos"/>
                <a:ea typeface="Aptos"/>
              </a:rPr>
              <a:t>Azure AI Search</a:t>
            </a:r>
            <a:endParaRPr b="0" lang="en-US" sz="1200" spc="-1" strike="noStrike">
              <a:solidFill>
                <a:srgbClr val="000000"/>
              </a:solidFill>
              <a:latin typeface="Arial"/>
            </a:endParaRPr>
          </a:p>
        </p:txBody>
      </p:sp>
      <p:sp>
        <p:nvSpPr>
          <p:cNvPr id="387" name="Shape 38"/>
          <p:cNvSpPr/>
          <p:nvPr/>
        </p:nvSpPr>
        <p:spPr>
          <a:xfrm>
            <a:off x="9217080" y="3657600"/>
            <a:ext cx="225756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88" name="Text 39"/>
          <p:cNvSpPr/>
          <p:nvPr/>
        </p:nvSpPr>
        <p:spPr>
          <a:xfrm>
            <a:off x="9308520" y="3813120"/>
            <a:ext cx="207468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pc="-1" strike="noStrike">
                <a:solidFill>
                  <a:srgbClr val="152632"/>
                </a:solidFill>
                <a:latin typeface="Aptos"/>
                <a:ea typeface="Aptos"/>
              </a:rPr>
              <a:t>Kurumsal API’ler</a:t>
            </a:r>
            <a:endParaRPr b="0" lang="en-US" sz="1200" spc="-1" strike="noStrike">
              <a:solidFill>
                <a:srgbClr val="000000"/>
              </a:solidFill>
              <a:latin typeface="Arial"/>
            </a:endParaRPr>
          </a:p>
        </p:txBody>
      </p:sp>
      <p:sp>
        <p:nvSpPr>
          <p:cNvPr id="389" name="Shape 40"/>
          <p:cNvSpPr/>
          <p:nvPr/>
        </p:nvSpPr>
        <p:spPr>
          <a:xfrm>
            <a:off x="9217080" y="4288680"/>
            <a:ext cx="2257560" cy="501840"/>
          </a:xfrm>
          <a:prstGeom prst="roundRect">
            <a:avLst>
              <a:gd name="adj" fmla="val 10909"/>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0" name="Text 41"/>
          <p:cNvSpPr/>
          <p:nvPr/>
        </p:nvSpPr>
        <p:spPr>
          <a:xfrm>
            <a:off x="9308520" y="4443840"/>
            <a:ext cx="2074680" cy="1818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pc="-1" strike="noStrike">
                <a:solidFill>
                  <a:srgbClr val="152632"/>
                </a:solidFill>
                <a:latin typeface="Aptos"/>
                <a:ea typeface="Aptos"/>
              </a:rPr>
              <a:t>CRM / ERP / SQL</a:t>
            </a:r>
            <a:endParaRPr b="0" lang="en-US" sz="1200" spc="-1" strike="noStrike">
              <a:solidFill>
                <a:srgbClr val="000000"/>
              </a:solidFill>
              <a:latin typeface="Arial"/>
            </a:endParaRPr>
          </a:p>
        </p:txBody>
      </p:sp>
      <p:sp>
        <p:nvSpPr>
          <p:cNvPr id="391" name="Shape 42"/>
          <p:cNvSpPr/>
          <p:nvPr/>
        </p:nvSpPr>
        <p:spPr>
          <a:xfrm>
            <a:off x="713160" y="5376600"/>
            <a:ext cx="10761480" cy="529200"/>
          </a:xfrm>
          <a:prstGeom prst="roundRect">
            <a:avLst>
              <a:gd name="adj" fmla="val 12069"/>
            </a:avLst>
          </a:prstGeom>
          <a:solidFill>
            <a:srgbClr val="e6f3f7"/>
          </a:solidFill>
          <a:ln w="12700">
            <a:solidFill>
              <a:srgbClr val="e6f3f7">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2" name="Text 43"/>
          <p:cNvSpPr/>
          <p:nvPr/>
        </p:nvSpPr>
        <p:spPr>
          <a:xfrm>
            <a:off x="987480" y="5532120"/>
            <a:ext cx="10240200" cy="218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pc="-1" strike="noStrike">
                <a:solidFill>
                  <a:srgbClr val="142b3d"/>
                </a:solidFill>
                <a:latin typeface="Aptos"/>
                <a:ea typeface="Aptos"/>
              </a:rPr>
              <a:t>ORTAK KONTROL: ENTRA ID  /  RBAC  /  NETWORK  /  POLICY  /  OBSERVABILITY</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393"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13 / USE CASES</a:t>
            </a:r>
            <a:endParaRPr b="0" lang="en-US" sz="1000" spc="-1" strike="noStrike">
              <a:solidFill>
                <a:srgbClr val="000000"/>
              </a:solidFill>
              <a:latin typeface="Arial"/>
            </a:endParaRPr>
          </a:p>
        </p:txBody>
      </p:sp>
      <p:sp>
        <p:nvSpPr>
          <p:cNvPr id="394"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Tek platform, farklı sektörlerde somut kullanım.</a:t>
            </a:r>
            <a:endParaRPr b="0" lang="en-US" sz="2900" spc="-1" strike="noStrike">
              <a:solidFill>
                <a:srgbClr val="000000"/>
              </a:solidFill>
              <a:latin typeface="Arial"/>
            </a:endParaRPr>
          </a:p>
        </p:txBody>
      </p:sp>
      <p:sp>
        <p:nvSpPr>
          <p:cNvPr id="395"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Müşterinin mevcut veri ve süreç olgunluğuna göre başlıyoruz.</a:t>
            </a:r>
            <a:endParaRPr b="0" lang="en-US" sz="1500" spc="-1" strike="noStrike">
              <a:solidFill>
                <a:srgbClr val="000000"/>
              </a:solidFill>
              <a:latin typeface="Arial"/>
            </a:endParaRPr>
          </a:p>
        </p:txBody>
      </p:sp>
      <p:sp>
        <p:nvSpPr>
          <p:cNvPr id="396"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397"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398"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399"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14</a:t>
            </a:r>
            <a:endParaRPr b="0" lang="en-US" sz="1000" spc="-1" strike="noStrike">
              <a:solidFill>
                <a:srgbClr val="000000"/>
              </a:solidFill>
              <a:latin typeface="Arial"/>
            </a:endParaRPr>
          </a:p>
        </p:txBody>
      </p:sp>
      <p:sp>
        <p:nvSpPr>
          <p:cNvPr id="400" name="Shape 7"/>
          <p:cNvSpPr/>
          <p:nvPr/>
        </p:nvSpPr>
        <p:spPr>
          <a:xfrm>
            <a:off x="713160" y="2267640"/>
            <a:ext cx="5348160" cy="1315800"/>
          </a:xfrm>
          <a:prstGeom prst="roundRect">
            <a:avLst>
              <a:gd name="adj" fmla="val 8333"/>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01" name="Text 8"/>
          <p:cNvSpPr/>
          <p:nvPr/>
        </p:nvSpPr>
        <p:spPr>
          <a:xfrm>
            <a:off x="960120" y="2441520"/>
            <a:ext cx="478116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72" strike="noStrike">
                <a:solidFill>
                  <a:srgbClr val="0078d4"/>
                </a:solidFill>
                <a:latin typeface="Aptos"/>
                <a:ea typeface="Aptos"/>
              </a:rPr>
              <a:t>FİNANS</a:t>
            </a:r>
            <a:endParaRPr b="0" lang="en-US" sz="1100" spc="-1" strike="noStrike">
              <a:solidFill>
                <a:srgbClr val="000000"/>
              </a:solidFill>
              <a:latin typeface="Arial"/>
            </a:endParaRPr>
          </a:p>
        </p:txBody>
      </p:sp>
      <p:sp>
        <p:nvSpPr>
          <p:cNvPr id="402" name="Text 9"/>
          <p:cNvSpPr/>
          <p:nvPr/>
        </p:nvSpPr>
        <p:spPr>
          <a:xfrm>
            <a:off x="960120" y="2761560"/>
            <a:ext cx="482688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İç politika asistanı</a:t>
            </a:r>
            <a:endParaRPr b="0" lang="en-US" sz="1900" spc="-1" strike="noStrike">
              <a:solidFill>
                <a:srgbClr val="000000"/>
              </a:solidFill>
              <a:latin typeface="Arial"/>
            </a:endParaRPr>
          </a:p>
        </p:txBody>
      </p:sp>
      <p:sp>
        <p:nvSpPr>
          <p:cNvPr id="403" name="Text 10"/>
          <p:cNvSpPr/>
          <p:nvPr/>
        </p:nvSpPr>
        <p:spPr>
          <a:xfrm>
            <a:off x="960120" y="3163680"/>
            <a:ext cx="4808520" cy="264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Prosedürlere dayalı ve kaynaklı yanıtlar.</a:t>
            </a:r>
            <a:endParaRPr b="0" lang="en-US" sz="1300" spc="-1" strike="noStrike">
              <a:solidFill>
                <a:srgbClr val="000000"/>
              </a:solidFill>
              <a:latin typeface="Arial"/>
            </a:endParaRPr>
          </a:p>
        </p:txBody>
      </p:sp>
      <p:sp>
        <p:nvSpPr>
          <p:cNvPr id="404" name="Shape 11"/>
          <p:cNvSpPr/>
          <p:nvPr/>
        </p:nvSpPr>
        <p:spPr>
          <a:xfrm>
            <a:off x="6355080" y="2267640"/>
            <a:ext cx="5348160" cy="1315800"/>
          </a:xfrm>
          <a:prstGeom prst="roundRect">
            <a:avLst>
              <a:gd name="adj" fmla="val 8333"/>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05" name="Text 12"/>
          <p:cNvSpPr/>
          <p:nvPr/>
        </p:nvSpPr>
        <p:spPr>
          <a:xfrm>
            <a:off x="6602040" y="2441520"/>
            <a:ext cx="478116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72" strike="noStrike">
                <a:solidFill>
                  <a:srgbClr val="0078d4"/>
                </a:solidFill>
                <a:latin typeface="Aptos"/>
                <a:ea typeface="Aptos"/>
              </a:rPr>
              <a:t>PERAKENDE</a:t>
            </a:r>
            <a:endParaRPr b="0" lang="en-US" sz="1100" spc="-1" strike="noStrike">
              <a:solidFill>
                <a:srgbClr val="000000"/>
              </a:solidFill>
              <a:latin typeface="Arial"/>
            </a:endParaRPr>
          </a:p>
        </p:txBody>
      </p:sp>
      <p:sp>
        <p:nvSpPr>
          <p:cNvPr id="406" name="Text 13"/>
          <p:cNvSpPr/>
          <p:nvPr/>
        </p:nvSpPr>
        <p:spPr>
          <a:xfrm>
            <a:off x="6602040" y="2761560"/>
            <a:ext cx="482688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Talep operasyonu</a:t>
            </a:r>
            <a:endParaRPr b="0" lang="en-US" sz="1900" spc="-1" strike="noStrike">
              <a:solidFill>
                <a:srgbClr val="000000"/>
              </a:solidFill>
              <a:latin typeface="Arial"/>
            </a:endParaRPr>
          </a:p>
        </p:txBody>
      </p:sp>
      <p:sp>
        <p:nvSpPr>
          <p:cNvPr id="407" name="Text 14"/>
          <p:cNvSpPr/>
          <p:nvPr/>
        </p:nvSpPr>
        <p:spPr>
          <a:xfrm>
            <a:off x="6602040" y="3163680"/>
            <a:ext cx="4808520" cy="264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Sınıflandırma, yönlendirme, insan onayı.</a:t>
            </a:r>
            <a:endParaRPr b="0" lang="en-US" sz="1300" spc="-1" strike="noStrike">
              <a:solidFill>
                <a:srgbClr val="000000"/>
              </a:solidFill>
              <a:latin typeface="Arial"/>
            </a:endParaRPr>
          </a:p>
        </p:txBody>
      </p:sp>
      <p:sp>
        <p:nvSpPr>
          <p:cNvPr id="408" name="Shape 15"/>
          <p:cNvSpPr/>
          <p:nvPr/>
        </p:nvSpPr>
        <p:spPr>
          <a:xfrm>
            <a:off x="713160" y="3803760"/>
            <a:ext cx="5348160" cy="1315800"/>
          </a:xfrm>
          <a:prstGeom prst="roundRect">
            <a:avLst>
              <a:gd name="adj" fmla="val 8333"/>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09" name="Text 16"/>
          <p:cNvSpPr/>
          <p:nvPr/>
        </p:nvSpPr>
        <p:spPr>
          <a:xfrm>
            <a:off x="960120" y="3977640"/>
            <a:ext cx="478116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72" strike="noStrike">
                <a:solidFill>
                  <a:srgbClr val="0078d4"/>
                </a:solidFill>
                <a:latin typeface="Aptos"/>
                <a:ea typeface="Aptos"/>
              </a:rPr>
              <a:t>ÜRETİM</a:t>
            </a:r>
            <a:endParaRPr b="0" lang="en-US" sz="1100" spc="-1" strike="noStrike">
              <a:solidFill>
                <a:srgbClr val="000000"/>
              </a:solidFill>
              <a:latin typeface="Arial"/>
            </a:endParaRPr>
          </a:p>
        </p:txBody>
      </p:sp>
      <p:sp>
        <p:nvSpPr>
          <p:cNvPr id="410" name="Text 17"/>
          <p:cNvSpPr/>
          <p:nvPr/>
        </p:nvSpPr>
        <p:spPr>
          <a:xfrm>
            <a:off x="960120" y="4297680"/>
            <a:ext cx="482688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Teknik doküman asistanı</a:t>
            </a:r>
            <a:endParaRPr b="0" lang="en-US" sz="1900" spc="-1" strike="noStrike">
              <a:solidFill>
                <a:srgbClr val="000000"/>
              </a:solidFill>
              <a:latin typeface="Arial"/>
            </a:endParaRPr>
          </a:p>
        </p:txBody>
      </p:sp>
      <p:sp>
        <p:nvSpPr>
          <p:cNvPr id="411" name="Text 18"/>
          <p:cNvSpPr/>
          <p:nvPr/>
        </p:nvSpPr>
        <p:spPr>
          <a:xfrm>
            <a:off x="960120" y="4700160"/>
            <a:ext cx="4808520" cy="264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Bakım belgelerinden hızlı bilgi erişimi.</a:t>
            </a:r>
            <a:endParaRPr b="0" lang="en-US" sz="1300" spc="-1" strike="noStrike">
              <a:solidFill>
                <a:srgbClr val="000000"/>
              </a:solidFill>
              <a:latin typeface="Arial"/>
            </a:endParaRPr>
          </a:p>
        </p:txBody>
      </p:sp>
      <p:sp>
        <p:nvSpPr>
          <p:cNvPr id="412" name="Shape 19"/>
          <p:cNvSpPr/>
          <p:nvPr/>
        </p:nvSpPr>
        <p:spPr>
          <a:xfrm>
            <a:off x="6355080" y="3803760"/>
            <a:ext cx="5348160" cy="1315800"/>
          </a:xfrm>
          <a:prstGeom prst="roundRect">
            <a:avLst>
              <a:gd name="adj" fmla="val 8333"/>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13" name="Text 20"/>
          <p:cNvSpPr/>
          <p:nvPr/>
        </p:nvSpPr>
        <p:spPr>
          <a:xfrm>
            <a:off x="6602040" y="3977640"/>
            <a:ext cx="4781160" cy="20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72" strike="noStrike">
                <a:solidFill>
                  <a:srgbClr val="0078d4"/>
                </a:solidFill>
                <a:latin typeface="Aptos"/>
                <a:ea typeface="Aptos"/>
              </a:rPr>
              <a:t>PROFESYONEL HİZMETLER</a:t>
            </a:r>
            <a:endParaRPr b="0" lang="en-US" sz="1100" spc="-1" strike="noStrike">
              <a:solidFill>
                <a:srgbClr val="000000"/>
              </a:solidFill>
              <a:latin typeface="Arial"/>
            </a:endParaRPr>
          </a:p>
        </p:txBody>
      </p:sp>
      <p:sp>
        <p:nvSpPr>
          <p:cNvPr id="414" name="Text 21"/>
          <p:cNvSpPr/>
          <p:nvPr/>
        </p:nvSpPr>
        <p:spPr>
          <a:xfrm>
            <a:off x="6602040" y="4297680"/>
            <a:ext cx="482688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Doküman işleme</a:t>
            </a:r>
            <a:endParaRPr b="0" lang="en-US" sz="1900" spc="-1" strike="noStrike">
              <a:solidFill>
                <a:srgbClr val="000000"/>
              </a:solidFill>
              <a:latin typeface="Arial"/>
            </a:endParaRPr>
          </a:p>
        </p:txBody>
      </p:sp>
      <p:sp>
        <p:nvSpPr>
          <p:cNvPr id="415" name="Text 22"/>
          <p:cNvSpPr/>
          <p:nvPr/>
        </p:nvSpPr>
        <p:spPr>
          <a:xfrm>
            <a:off x="6602040" y="4700160"/>
            <a:ext cx="4808520" cy="264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Form / rapor analizi ve kontroller.</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416"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14 / ÖRNEK ÇÖZÜM</a:t>
            </a:r>
            <a:endParaRPr b="0" lang="en-US" sz="1000" spc="-1" strike="noStrike">
              <a:solidFill>
                <a:srgbClr val="000000"/>
              </a:solidFill>
              <a:latin typeface="Arial"/>
            </a:endParaRPr>
          </a:p>
        </p:txBody>
      </p:sp>
      <p:sp>
        <p:nvSpPr>
          <p:cNvPr id="417"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Örnek senaryo: Akıllı talep yönetimi.</a:t>
            </a:r>
            <a:endParaRPr b="0" lang="en-US" sz="2900" spc="-1" strike="noStrike">
              <a:solidFill>
                <a:srgbClr val="000000"/>
              </a:solidFill>
              <a:latin typeface="Arial"/>
            </a:endParaRPr>
          </a:p>
        </p:txBody>
      </p:sp>
      <p:sp>
        <p:nvSpPr>
          <p:cNvPr id="418"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Satış görüşmesinde gösterilebilecek, gerçeğe yakın bir pilot kapsamı.</a:t>
            </a:r>
            <a:endParaRPr b="0" lang="en-US" sz="1500" spc="-1" strike="noStrike">
              <a:solidFill>
                <a:srgbClr val="000000"/>
              </a:solidFill>
              <a:latin typeface="Arial"/>
            </a:endParaRPr>
          </a:p>
        </p:txBody>
      </p:sp>
      <p:sp>
        <p:nvSpPr>
          <p:cNvPr id="419"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20"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421"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422"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15</a:t>
            </a:r>
            <a:endParaRPr b="0" lang="en-US" sz="1000" spc="-1" strike="noStrike">
              <a:solidFill>
                <a:srgbClr val="000000"/>
              </a:solidFill>
              <a:latin typeface="Arial"/>
            </a:endParaRPr>
          </a:p>
        </p:txBody>
      </p:sp>
      <p:sp>
        <p:nvSpPr>
          <p:cNvPr id="423" name="Shape 7"/>
          <p:cNvSpPr/>
          <p:nvPr/>
        </p:nvSpPr>
        <p:spPr>
          <a:xfrm>
            <a:off x="713160" y="2340720"/>
            <a:ext cx="2659680" cy="2239200"/>
          </a:xfrm>
          <a:prstGeom prst="roundRect">
            <a:avLst>
              <a:gd name="adj" fmla="val 489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24" name="Text 8"/>
          <p:cNvSpPr/>
          <p:nvPr/>
        </p:nvSpPr>
        <p:spPr>
          <a:xfrm>
            <a:off x="905400" y="2642760"/>
            <a:ext cx="223020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63" strike="noStrike">
                <a:solidFill>
                  <a:srgbClr val="0078d4"/>
                </a:solidFill>
                <a:latin typeface="Aptos"/>
                <a:ea typeface="Aptos"/>
              </a:rPr>
              <a:t>GİRDİ</a:t>
            </a:r>
            <a:endParaRPr b="0" lang="en-US" sz="1200" spc="-1" strike="noStrike">
              <a:solidFill>
                <a:srgbClr val="000000"/>
              </a:solidFill>
              <a:latin typeface="Arial"/>
            </a:endParaRPr>
          </a:p>
        </p:txBody>
      </p:sp>
      <p:sp>
        <p:nvSpPr>
          <p:cNvPr id="425" name="Text 9"/>
          <p:cNvSpPr/>
          <p:nvPr/>
        </p:nvSpPr>
        <p:spPr>
          <a:xfrm>
            <a:off x="905400" y="3145680"/>
            <a:ext cx="2257560" cy="913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E-posta / portal üzerinden gelen talep</a:t>
            </a:r>
            <a:endParaRPr b="0" lang="en-US" sz="1900" spc="-1" strike="noStrike">
              <a:solidFill>
                <a:srgbClr val="000000"/>
              </a:solidFill>
              <a:latin typeface="Arial"/>
            </a:endParaRPr>
          </a:p>
        </p:txBody>
      </p:sp>
      <p:sp>
        <p:nvSpPr>
          <p:cNvPr id="426" name="Shape 10"/>
          <p:cNvSpPr/>
          <p:nvPr/>
        </p:nvSpPr>
        <p:spPr>
          <a:xfrm>
            <a:off x="3438000" y="326448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7" name="Shape 11"/>
          <p:cNvSpPr/>
          <p:nvPr/>
        </p:nvSpPr>
        <p:spPr>
          <a:xfrm>
            <a:off x="3584520" y="2340720"/>
            <a:ext cx="2659680" cy="2239200"/>
          </a:xfrm>
          <a:prstGeom prst="roundRect">
            <a:avLst>
              <a:gd name="adj" fmla="val 489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28" name="Text 12"/>
          <p:cNvSpPr/>
          <p:nvPr/>
        </p:nvSpPr>
        <p:spPr>
          <a:xfrm>
            <a:off x="3776400" y="2642760"/>
            <a:ext cx="223020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63" strike="noStrike">
                <a:solidFill>
                  <a:srgbClr val="0078d4"/>
                </a:solidFill>
                <a:latin typeface="Aptos"/>
                <a:ea typeface="Aptos"/>
              </a:rPr>
              <a:t>ANALİZ</a:t>
            </a:r>
            <a:endParaRPr b="0" lang="en-US" sz="1200" spc="-1" strike="noStrike">
              <a:solidFill>
                <a:srgbClr val="000000"/>
              </a:solidFill>
              <a:latin typeface="Arial"/>
            </a:endParaRPr>
          </a:p>
        </p:txBody>
      </p:sp>
      <p:sp>
        <p:nvSpPr>
          <p:cNvPr id="429" name="Text 13"/>
          <p:cNvSpPr/>
          <p:nvPr/>
        </p:nvSpPr>
        <p:spPr>
          <a:xfrm>
            <a:off x="3776400" y="3145680"/>
            <a:ext cx="2257560" cy="913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Kategori, aciliyet, konu ve özet</a:t>
            </a:r>
            <a:endParaRPr b="0" lang="en-US" sz="1900" spc="-1" strike="noStrike">
              <a:solidFill>
                <a:srgbClr val="000000"/>
              </a:solidFill>
              <a:latin typeface="Arial"/>
            </a:endParaRPr>
          </a:p>
        </p:txBody>
      </p:sp>
      <p:sp>
        <p:nvSpPr>
          <p:cNvPr id="430" name="Shape 14"/>
          <p:cNvSpPr/>
          <p:nvPr/>
        </p:nvSpPr>
        <p:spPr>
          <a:xfrm>
            <a:off x="6309360" y="326448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1" name="Shape 15"/>
          <p:cNvSpPr/>
          <p:nvPr/>
        </p:nvSpPr>
        <p:spPr>
          <a:xfrm>
            <a:off x="6455520" y="2340720"/>
            <a:ext cx="2659680" cy="2239200"/>
          </a:xfrm>
          <a:prstGeom prst="roundRect">
            <a:avLst>
              <a:gd name="adj" fmla="val 4898"/>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32" name="Text 16"/>
          <p:cNvSpPr/>
          <p:nvPr/>
        </p:nvSpPr>
        <p:spPr>
          <a:xfrm>
            <a:off x="6647760" y="2642760"/>
            <a:ext cx="223020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63" strike="noStrike">
                <a:solidFill>
                  <a:srgbClr val="0078d4"/>
                </a:solidFill>
                <a:latin typeface="Aptos"/>
                <a:ea typeface="Aptos"/>
              </a:rPr>
              <a:t>GROUNDING</a:t>
            </a:r>
            <a:endParaRPr b="0" lang="en-US" sz="1200" spc="-1" strike="noStrike">
              <a:solidFill>
                <a:srgbClr val="000000"/>
              </a:solidFill>
              <a:latin typeface="Arial"/>
            </a:endParaRPr>
          </a:p>
        </p:txBody>
      </p:sp>
      <p:sp>
        <p:nvSpPr>
          <p:cNvPr id="433" name="Text 17"/>
          <p:cNvSpPr/>
          <p:nvPr/>
        </p:nvSpPr>
        <p:spPr>
          <a:xfrm>
            <a:off x="6647760" y="3145680"/>
            <a:ext cx="2257560" cy="913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152632"/>
                </a:solidFill>
                <a:latin typeface="Aptos"/>
                <a:ea typeface="Aptos"/>
              </a:rPr>
              <a:t>İlgili politika / destek dokümanı</a:t>
            </a:r>
            <a:endParaRPr b="0" lang="en-US" sz="1900" spc="-1" strike="noStrike">
              <a:solidFill>
                <a:srgbClr val="000000"/>
              </a:solidFill>
              <a:latin typeface="Arial"/>
            </a:endParaRPr>
          </a:p>
        </p:txBody>
      </p:sp>
      <p:sp>
        <p:nvSpPr>
          <p:cNvPr id="434" name="Shape 18"/>
          <p:cNvSpPr/>
          <p:nvPr/>
        </p:nvSpPr>
        <p:spPr>
          <a:xfrm>
            <a:off x="9180720" y="3264480"/>
            <a:ext cx="209160" cy="209160"/>
          </a:xfrm>
          <a:prstGeom prst="chevron">
            <a:avLst>
              <a:gd name="adj" fmla="val 50000"/>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5" name="Shape 19"/>
          <p:cNvSpPr/>
          <p:nvPr/>
        </p:nvSpPr>
        <p:spPr>
          <a:xfrm>
            <a:off x="9326880" y="2340720"/>
            <a:ext cx="2659680" cy="2239200"/>
          </a:xfrm>
          <a:prstGeom prst="roundRect">
            <a:avLst>
              <a:gd name="adj" fmla="val 4898"/>
            </a:avLst>
          </a:prstGeom>
          <a:solidFill>
            <a:srgbClr val="142b3d"/>
          </a:solidFill>
          <a:ln w="10160">
            <a:solidFill>
              <a:srgbClr val="142b3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6" name="Text 20"/>
          <p:cNvSpPr/>
          <p:nvPr/>
        </p:nvSpPr>
        <p:spPr>
          <a:xfrm>
            <a:off x="9518760" y="2642760"/>
            <a:ext cx="223020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63" strike="noStrike">
                <a:solidFill>
                  <a:srgbClr val="94dcf3"/>
                </a:solidFill>
                <a:latin typeface="Aptos"/>
                <a:ea typeface="Aptos"/>
              </a:rPr>
              <a:t>AKSİYON</a:t>
            </a:r>
            <a:endParaRPr b="0" lang="en-US" sz="1200" spc="-1" strike="noStrike">
              <a:solidFill>
                <a:srgbClr val="000000"/>
              </a:solidFill>
              <a:latin typeface="Arial"/>
            </a:endParaRPr>
          </a:p>
        </p:txBody>
      </p:sp>
      <p:sp>
        <p:nvSpPr>
          <p:cNvPr id="437" name="Text 21"/>
          <p:cNvSpPr/>
          <p:nvPr/>
        </p:nvSpPr>
        <p:spPr>
          <a:xfrm>
            <a:off x="9518760" y="3145680"/>
            <a:ext cx="2257560" cy="913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pc="-1" strike="noStrike">
                <a:solidFill>
                  <a:srgbClr val="ffffff"/>
                </a:solidFill>
                <a:latin typeface="Aptos"/>
                <a:ea typeface="Aptos"/>
              </a:rPr>
              <a:t>Önerilen yanıt + insan onayı + ticket</a:t>
            </a:r>
            <a:endParaRPr b="0" lang="en-US" sz="1900" spc="-1" strike="noStrike">
              <a:solidFill>
                <a:srgbClr val="000000"/>
              </a:solidFill>
              <a:latin typeface="Arial"/>
            </a:endParaRPr>
          </a:p>
        </p:txBody>
      </p:sp>
      <p:sp>
        <p:nvSpPr>
          <p:cNvPr id="438" name="Shape 22"/>
          <p:cNvSpPr/>
          <p:nvPr/>
        </p:nvSpPr>
        <p:spPr>
          <a:xfrm>
            <a:off x="740520" y="4965120"/>
            <a:ext cx="10825560" cy="830880"/>
          </a:xfrm>
          <a:prstGeom prst="roundRect">
            <a:avLst>
              <a:gd name="adj" fmla="val 8791"/>
            </a:avLst>
          </a:prstGeom>
          <a:solidFill>
            <a:srgbClr val="eaf5fc"/>
          </a:solidFill>
          <a:ln w="12700">
            <a:solidFill>
              <a:srgbClr val="eaf5f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39" name="Text 23"/>
          <p:cNvSpPr/>
          <p:nvPr/>
        </p:nvSpPr>
        <p:spPr>
          <a:xfrm>
            <a:off x="1005840" y="5166360"/>
            <a:ext cx="182772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pc="-1" strike="noStrike">
                <a:solidFill>
                  <a:srgbClr val="0078d4"/>
                </a:solidFill>
                <a:latin typeface="Aptos"/>
                <a:ea typeface="Aptos"/>
              </a:rPr>
              <a:t>Pilot KPI’ları</a:t>
            </a:r>
            <a:endParaRPr b="0" lang="en-US" sz="1500" spc="-1" strike="noStrike">
              <a:solidFill>
                <a:srgbClr val="000000"/>
              </a:solidFill>
              <a:latin typeface="Arial"/>
            </a:endParaRPr>
          </a:p>
        </p:txBody>
      </p:sp>
      <p:sp>
        <p:nvSpPr>
          <p:cNvPr id="440" name="Text 24"/>
          <p:cNvSpPr/>
          <p:nvPr/>
        </p:nvSpPr>
        <p:spPr>
          <a:xfrm>
            <a:off x="2816280" y="5166360"/>
            <a:ext cx="822852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152632"/>
                </a:solidFill>
                <a:latin typeface="Aptos"/>
                <a:ea typeface="Aptos"/>
              </a:rPr>
              <a:t>Doğru sınıflandırma  •  Yanıt süresi  •  İnsan müdahalesi  •  Çağrı başına maliyet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441"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15 / KARŞILAŞTIRMA</a:t>
            </a:r>
            <a:endParaRPr b="0" lang="en-US" sz="1000" spc="-1" strike="noStrike">
              <a:solidFill>
                <a:srgbClr val="000000"/>
              </a:solidFill>
              <a:latin typeface="Arial"/>
            </a:endParaRPr>
          </a:p>
        </p:txBody>
      </p:sp>
      <p:sp>
        <p:nvSpPr>
          <p:cNvPr id="442"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Neden yalnızca model API’si değil?</a:t>
            </a:r>
            <a:endParaRPr b="0" lang="en-US" sz="2900" spc="-1" strike="noStrike">
              <a:solidFill>
                <a:srgbClr val="000000"/>
              </a:solidFill>
              <a:latin typeface="Arial"/>
            </a:endParaRPr>
          </a:p>
        </p:txBody>
      </p:sp>
      <p:sp>
        <p:nvSpPr>
          <p:cNvPr id="443"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Seçim ürün üstünlüğü yarışması değil, iş gereksinimi uyumudur.</a:t>
            </a:r>
            <a:endParaRPr b="0" lang="en-US" sz="1500" spc="-1" strike="noStrike">
              <a:solidFill>
                <a:srgbClr val="000000"/>
              </a:solidFill>
              <a:latin typeface="Arial"/>
            </a:endParaRPr>
          </a:p>
        </p:txBody>
      </p:sp>
      <p:sp>
        <p:nvSpPr>
          <p:cNvPr id="444"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45"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446"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447"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16</a:t>
            </a:r>
            <a:endParaRPr b="0" lang="en-US" sz="1000" spc="-1" strike="noStrike">
              <a:solidFill>
                <a:srgbClr val="000000"/>
              </a:solidFill>
              <a:latin typeface="Arial"/>
            </a:endParaRPr>
          </a:p>
        </p:txBody>
      </p:sp>
      <p:sp>
        <p:nvSpPr>
          <p:cNvPr id="448" name="Shape 7"/>
          <p:cNvSpPr/>
          <p:nvPr/>
        </p:nvSpPr>
        <p:spPr>
          <a:xfrm>
            <a:off x="713160" y="2240280"/>
            <a:ext cx="2796840" cy="3272400"/>
          </a:xfrm>
          <a:prstGeom prst="roundRect">
            <a:avLst>
              <a:gd name="adj" fmla="val 392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49" name="Shape 8"/>
          <p:cNvSpPr/>
          <p:nvPr/>
        </p:nvSpPr>
        <p:spPr>
          <a:xfrm>
            <a:off x="713160" y="2240280"/>
            <a:ext cx="2796840" cy="76680"/>
          </a:xfrm>
          <a:prstGeom prst="rect">
            <a:avLst/>
          </a:prstGeom>
          <a:solidFill>
            <a:srgbClr val="0078d4"/>
          </a:solidFill>
          <a:ln w="12700">
            <a:solidFill>
              <a:srgbClr val="0078d4">
                <a:alpha val="0"/>
              </a:srgbClr>
            </a:solidFill>
            <a:round/>
          </a:ln>
        </p:spPr>
        <p:style>
          <a:lnRef idx="0"/>
          <a:fillRef idx="0"/>
          <a:effectRef idx="0"/>
          <a:fontRef idx="minor"/>
        </p:style>
        <p:txBody>
          <a:bodyPr lIns="90000" rIns="90000" tIns="32760" bIns="32760" anchor="t">
            <a:noAutofit/>
          </a:bodyPr>
          <a:p>
            <a:pPr>
              <a:lnSpc>
                <a:spcPct val="100000"/>
              </a:lnSpc>
            </a:pPr>
            <a:endParaRPr b="0" lang="en-US" sz="1800" spc="-1" strike="noStrike">
              <a:solidFill>
                <a:srgbClr val="ffffff"/>
              </a:solidFill>
              <a:latin typeface="Arial"/>
            </a:endParaRPr>
          </a:p>
        </p:txBody>
      </p:sp>
      <p:sp>
        <p:nvSpPr>
          <p:cNvPr id="450" name="Text 9"/>
          <p:cNvSpPr/>
          <p:nvPr/>
        </p:nvSpPr>
        <p:spPr>
          <a:xfrm>
            <a:off x="932760" y="2615040"/>
            <a:ext cx="2385360" cy="556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pc="-1" strike="noStrike">
                <a:solidFill>
                  <a:srgbClr val="152632"/>
                </a:solidFill>
                <a:latin typeface="Aptos"/>
                <a:ea typeface="Aptos"/>
              </a:rPr>
              <a:t>DOĞRUDAN MODEL API</a:t>
            </a:r>
            <a:endParaRPr b="0" lang="en-US" sz="1500" spc="-1" strike="noStrike">
              <a:solidFill>
                <a:srgbClr val="000000"/>
              </a:solidFill>
              <a:latin typeface="Arial"/>
            </a:endParaRPr>
          </a:p>
        </p:txBody>
      </p:sp>
      <p:sp>
        <p:nvSpPr>
          <p:cNvPr id="451" name="Text 10"/>
          <p:cNvSpPr/>
          <p:nvPr/>
        </p:nvSpPr>
        <p:spPr>
          <a:xfrm>
            <a:off x="932760" y="3337560"/>
            <a:ext cx="2358000" cy="593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0078d4"/>
                </a:solidFill>
                <a:latin typeface="Aptos"/>
                <a:ea typeface="Aptos"/>
              </a:rPr>
              <a:t>Dar kapsamlı veya özel kurgu</a:t>
            </a:r>
            <a:endParaRPr b="0" lang="en-US" sz="1600" spc="-1" strike="noStrike">
              <a:solidFill>
                <a:srgbClr val="000000"/>
              </a:solidFill>
              <a:latin typeface="Arial"/>
            </a:endParaRPr>
          </a:p>
        </p:txBody>
      </p:sp>
      <p:sp>
        <p:nvSpPr>
          <p:cNvPr id="452" name="Shape 11"/>
          <p:cNvSpPr/>
          <p:nvPr/>
        </p:nvSpPr>
        <p:spPr>
          <a:xfrm>
            <a:off x="932400" y="4105440"/>
            <a:ext cx="2359440" cy="360"/>
          </a:xfrm>
          <a:prstGeom prst="line">
            <a:avLst/>
          </a:prstGeom>
          <a:ln w="1270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53" name="Text 12"/>
          <p:cNvSpPr/>
          <p:nvPr/>
        </p:nvSpPr>
        <p:spPr>
          <a:xfrm>
            <a:off x="932760" y="4380120"/>
            <a:ext cx="2358000" cy="821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Entegrasyon ve operasyon tasarımının daha fazlası ekipte kalır.</a:t>
            </a:r>
            <a:endParaRPr b="0" lang="en-US" sz="1400" spc="-1" strike="noStrike">
              <a:solidFill>
                <a:srgbClr val="000000"/>
              </a:solidFill>
              <a:latin typeface="Arial"/>
            </a:endParaRPr>
          </a:p>
        </p:txBody>
      </p:sp>
      <p:sp>
        <p:nvSpPr>
          <p:cNvPr id="454" name="Shape 13"/>
          <p:cNvSpPr/>
          <p:nvPr/>
        </p:nvSpPr>
        <p:spPr>
          <a:xfrm>
            <a:off x="3730680" y="2240280"/>
            <a:ext cx="3556080" cy="3272400"/>
          </a:xfrm>
          <a:prstGeom prst="roundRect">
            <a:avLst>
              <a:gd name="adj" fmla="val 3352"/>
            </a:avLst>
          </a:prstGeom>
          <a:solidFill>
            <a:srgbClr val="142b3d"/>
          </a:solidFill>
          <a:ln w="10160">
            <a:solidFill>
              <a:srgbClr val="142b3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5" name="Shape 14"/>
          <p:cNvSpPr/>
          <p:nvPr/>
        </p:nvSpPr>
        <p:spPr>
          <a:xfrm>
            <a:off x="3730680" y="2240280"/>
            <a:ext cx="3556080" cy="76680"/>
          </a:xfrm>
          <a:prstGeom prst="rect">
            <a:avLst/>
          </a:prstGeom>
          <a:solidFill>
            <a:srgbClr val="41c6f2"/>
          </a:solidFill>
          <a:ln w="12700">
            <a:solidFill>
              <a:srgbClr val="41c6f2">
                <a:alpha val="0"/>
              </a:srgbClr>
            </a:solidFill>
            <a:round/>
          </a:ln>
        </p:spPr>
        <p:style>
          <a:lnRef idx="0"/>
          <a:fillRef idx="0"/>
          <a:effectRef idx="0"/>
          <a:fontRef idx="minor"/>
        </p:style>
        <p:txBody>
          <a:bodyPr lIns="90000" rIns="90000" tIns="32760" bIns="32760" anchor="t">
            <a:noAutofit/>
          </a:bodyPr>
          <a:p>
            <a:pPr>
              <a:lnSpc>
                <a:spcPct val="100000"/>
              </a:lnSpc>
            </a:pPr>
            <a:endParaRPr b="0" lang="en-US" sz="1800" spc="-1" strike="noStrike">
              <a:solidFill>
                <a:srgbClr val="000000"/>
              </a:solidFill>
              <a:latin typeface="Arial"/>
            </a:endParaRPr>
          </a:p>
        </p:txBody>
      </p:sp>
      <p:sp>
        <p:nvSpPr>
          <p:cNvPr id="456" name="Text 15"/>
          <p:cNvSpPr/>
          <p:nvPr/>
        </p:nvSpPr>
        <p:spPr>
          <a:xfrm>
            <a:off x="3950280" y="2615040"/>
            <a:ext cx="3144600" cy="556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pc="-1" strike="noStrike">
                <a:solidFill>
                  <a:srgbClr val="ffffff"/>
                </a:solidFill>
                <a:latin typeface="Aptos"/>
                <a:ea typeface="Aptos"/>
              </a:rPr>
              <a:t>MICROSOFT FOUNDRY</a:t>
            </a:r>
            <a:endParaRPr b="0" lang="en-US" sz="1700" spc="-1" strike="noStrike">
              <a:solidFill>
                <a:srgbClr val="000000"/>
              </a:solidFill>
              <a:latin typeface="Arial"/>
            </a:endParaRPr>
          </a:p>
        </p:txBody>
      </p:sp>
      <p:sp>
        <p:nvSpPr>
          <p:cNvPr id="457" name="Text 16"/>
          <p:cNvSpPr/>
          <p:nvPr/>
        </p:nvSpPr>
        <p:spPr>
          <a:xfrm>
            <a:off x="3950280" y="3337560"/>
            <a:ext cx="3116880" cy="593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a8daf0"/>
                </a:solidFill>
                <a:latin typeface="Aptos"/>
                <a:ea typeface="Aptos"/>
              </a:rPr>
              <a:t>Özel ve ölçeklenebilir AI uygulamaları</a:t>
            </a:r>
            <a:endParaRPr b="0" lang="en-US" sz="1600" spc="-1" strike="noStrike">
              <a:solidFill>
                <a:srgbClr val="000000"/>
              </a:solidFill>
              <a:latin typeface="Arial"/>
            </a:endParaRPr>
          </a:p>
        </p:txBody>
      </p:sp>
      <p:sp>
        <p:nvSpPr>
          <p:cNvPr id="458" name="Shape 17"/>
          <p:cNvSpPr/>
          <p:nvPr/>
        </p:nvSpPr>
        <p:spPr>
          <a:xfrm>
            <a:off x="3949920" y="4105440"/>
            <a:ext cx="3118320" cy="360"/>
          </a:xfrm>
          <a:prstGeom prst="line">
            <a:avLst/>
          </a:prstGeom>
          <a:ln w="12700">
            <a:solidFill>
              <a:srgbClr val="567488"/>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59" name="Text 18"/>
          <p:cNvSpPr/>
          <p:nvPr/>
        </p:nvSpPr>
        <p:spPr>
          <a:xfrm>
            <a:off x="3950280" y="4380120"/>
            <a:ext cx="3116880" cy="821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dae8ef"/>
                </a:solidFill>
                <a:latin typeface="Aptos"/>
                <a:ea typeface="Aptos"/>
              </a:rPr>
              <a:t>Models, Agents, Tools, değerlendirme ve kontrol yüzeyleri bir arada.</a:t>
            </a:r>
            <a:endParaRPr b="0" lang="en-US" sz="1400" spc="-1" strike="noStrike">
              <a:solidFill>
                <a:srgbClr val="000000"/>
              </a:solidFill>
              <a:latin typeface="Arial"/>
            </a:endParaRPr>
          </a:p>
        </p:txBody>
      </p:sp>
      <p:sp>
        <p:nvSpPr>
          <p:cNvPr id="460" name="Shape 19"/>
          <p:cNvSpPr/>
          <p:nvPr/>
        </p:nvSpPr>
        <p:spPr>
          <a:xfrm>
            <a:off x="7662600" y="2240280"/>
            <a:ext cx="3556080" cy="3272400"/>
          </a:xfrm>
          <a:prstGeom prst="roundRect">
            <a:avLst>
              <a:gd name="adj" fmla="val 335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61" name="Shape 20"/>
          <p:cNvSpPr/>
          <p:nvPr/>
        </p:nvSpPr>
        <p:spPr>
          <a:xfrm>
            <a:off x="7662600" y="2240280"/>
            <a:ext cx="3556080" cy="76680"/>
          </a:xfrm>
          <a:prstGeom prst="rect">
            <a:avLst/>
          </a:prstGeom>
          <a:solidFill>
            <a:srgbClr val="0078d4"/>
          </a:solidFill>
          <a:ln w="12700">
            <a:solidFill>
              <a:srgbClr val="0078d4">
                <a:alpha val="0"/>
              </a:srgbClr>
            </a:solidFill>
            <a:round/>
          </a:ln>
        </p:spPr>
        <p:style>
          <a:lnRef idx="0"/>
          <a:fillRef idx="0"/>
          <a:effectRef idx="0"/>
          <a:fontRef idx="minor"/>
        </p:style>
        <p:txBody>
          <a:bodyPr lIns="90000" rIns="90000" tIns="32760" bIns="32760" anchor="t">
            <a:noAutofit/>
          </a:bodyPr>
          <a:p>
            <a:pPr>
              <a:lnSpc>
                <a:spcPct val="100000"/>
              </a:lnSpc>
            </a:pPr>
            <a:endParaRPr b="0" lang="en-US" sz="1800" spc="-1" strike="noStrike">
              <a:solidFill>
                <a:srgbClr val="ffffff"/>
              </a:solidFill>
              <a:latin typeface="Arial"/>
            </a:endParaRPr>
          </a:p>
        </p:txBody>
      </p:sp>
      <p:sp>
        <p:nvSpPr>
          <p:cNvPr id="462" name="Text 21"/>
          <p:cNvSpPr/>
          <p:nvPr/>
        </p:nvSpPr>
        <p:spPr>
          <a:xfrm>
            <a:off x="7882200" y="2615040"/>
            <a:ext cx="3144600" cy="556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pc="-1" strike="noStrike">
                <a:solidFill>
                  <a:srgbClr val="152632"/>
                </a:solidFill>
                <a:latin typeface="Aptos"/>
                <a:ea typeface="Aptos"/>
              </a:rPr>
              <a:t>COPILOT STUDIO</a:t>
            </a:r>
            <a:endParaRPr b="0" lang="en-US" sz="1500" spc="-1" strike="noStrike">
              <a:solidFill>
                <a:srgbClr val="000000"/>
              </a:solidFill>
              <a:latin typeface="Arial"/>
            </a:endParaRPr>
          </a:p>
        </p:txBody>
      </p:sp>
      <p:sp>
        <p:nvSpPr>
          <p:cNvPr id="463" name="Text 22"/>
          <p:cNvSpPr/>
          <p:nvPr/>
        </p:nvSpPr>
        <p:spPr>
          <a:xfrm>
            <a:off x="7882200" y="3337560"/>
            <a:ext cx="3116880" cy="593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0078d4"/>
                </a:solidFill>
                <a:latin typeface="Aptos"/>
                <a:ea typeface="Aptos"/>
              </a:rPr>
              <a:t>Düşük kodlu iş agent’ları</a:t>
            </a:r>
            <a:endParaRPr b="0" lang="en-US" sz="1600" spc="-1" strike="noStrike">
              <a:solidFill>
                <a:srgbClr val="000000"/>
              </a:solidFill>
              <a:latin typeface="Arial"/>
            </a:endParaRPr>
          </a:p>
        </p:txBody>
      </p:sp>
      <p:sp>
        <p:nvSpPr>
          <p:cNvPr id="464" name="Shape 23"/>
          <p:cNvSpPr/>
          <p:nvPr/>
        </p:nvSpPr>
        <p:spPr>
          <a:xfrm>
            <a:off x="7881840" y="4105440"/>
            <a:ext cx="3118320" cy="360"/>
          </a:xfrm>
          <a:prstGeom prst="line">
            <a:avLst/>
          </a:prstGeom>
          <a:ln w="1270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65" name="Text 24"/>
          <p:cNvSpPr/>
          <p:nvPr/>
        </p:nvSpPr>
        <p:spPr>
          <a:xfrm>
            <a:off x="7882200" y="4380120"/>
            <a:ext cx="3116880" cy="821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Microsoft iş araçları etrafında hızlı agent ve otomasyon deneyimleri.</a:t>
            </a:r>
            <a:endParaRPr b="0" lang="en-US" sz="1400" spc="-1" strike="noStrike">
              <a:solidFill>
                <a:srgbClr val="000000"/>
              </a:solidFill>
              <a:latin typeface="Arial"/>
            </a:endParaRPr>
          </a:p>
        </p:txBody>
      </p:sp>
      <p:sp>
        <p:nvSpPr>
          <p:cNvPr id="466" name="Text 25"/>
          <p:cNvSpPr/>
          <p:nvPr/>
        </p:nvSpPr>
        <p:spPr>
          <a:xfrm>
            <a:off x="749880" y="5815440"/>
            <a:ext cx="1078884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pc="-1" strike="noStrike">
                <a:solidFill>
                  <a:srgbClr val="82939c"/>
                </a:solidFill>
                <a:latin typeface="Aptos"/>
                <a:ea typeface="Aptos"/>
              </a:rPr>
              <a:t>Foundry ve Copilot Studio, uygun senaryolarda birlikte de kullanılabilir.</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467"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16 / EKONOMİ</a:t>
            </a:r>
            <a:endParaRPr b="0" lang="en-US" sz="1000" spc="-1" strike="noStrike">
              <a:solidFill>
                <a:srgbClr val="000000"/>
              </a:solidFill>
              <a:latin typeface="Arial"/>
            </a:endParaRPr>
          </a:p>
        </p:txBody>
      </p:sp>
      <p:sp>
        <p:nvSpPr>
          <p:cNvPr id="468"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Değeri yalnızca token fiyatına indirgemiyoruz.</a:t>
            </a:r>
            <a:endParaRPr b="0" lang="en-US" sz="2900" spc="-1" strike="noStrike">
              <a:solidFill>
                <a:srgbClr val="000000"/>
              </a:solidFill>
              <a:latin typeface="Arial"/>
            </a:endParaRPr>
          </a:p>
        </p:txBody>
      </p:sp>
      <p:sp>
        <p:nvSpPr>
          <p:cNvPr id="469"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Toplam sahip olma maliyeti (TCO) + ölçülebilir iş çıktısı.</a:t>
            </a:r>
            <a:endParaRPr b="0" lang="en-US" sz="1500" spc="-1" strike="noStrike">
              <a:solidFill>
                <a:srgbClr val="000000"/>
              </a:solidFill>
              <a:latin typeface="Arial"/>
            </a:endParaRPr>
          </a:p>
        </p:txBody>
      </p:sp>
      <p:sp>
        <p:nvSpPr>
          <p:cNvPr id="470"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71"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472"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473"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17</a:t>
            </a:r>
            <a:endParaRPr b="0" lang="en-US" sz="1000" spc="-1" strike="noStrike">
              <a:solidFill>
                <a:srgbClr val="000000"/>
              </a:solidFill>
              <a:latin typeface="Arial"/>
            </a:endParaRPr>
          </a:p>
        </p:txBody>
      </p:sp>
      <p:sp>
        <p:nvSpPr>
          <p:cNvPr id="474" name="Shape 7"/>
          <p:cNvSpPr/>
          <p:nvPr/>
        </p:nvSpPr>
        <p:spPr>
          <a:xfrm>
            <a:off x="713160" y="2267640"/>
            <a:ext cx="6509520" cy="3373200"/>
          </a:xfrm>
          <a:prstGeom prst="roundRect">
            <a:avLst>
              <a:gd name="adj" fmla="val 325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75" name="Text 8"/>
          <p:cNvSpPr/>
          <p:nvPr/>
        </p:nvSpPr>
        <p:spPr>
          <a:xfrm>
            <a:off x="987480" y="2569320"/>
            <a:ext cx="585108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52" strike="noStrike">
                <a:solidFill>
                  <a:srgbClr val="0078d4"/>
                </a:solidFill>
                <a:latin typeface="Aptos"/>
                <a:ea typeface="Aptos"/>
              </a:rPr>
              <a:t>TOPLAM MALİYET YAPISI</a:t>
            </a:r>
            <a:endParaRPr b="0" lang="en-US" sz="1300" spc="-1" strike="noStrike">
              <a:solidFill>
                <a:srgbClr val="000000"/>
              </a:solidFill>
              <a:latin typeface="Arial"/>
            </a:endParaRPr>
          </a:p>
        </p:txBody>
      </p:sp>
      <p:sp>
        <p:nvSpPr>
          <p:cNvPr id="476" name="Text 9"/>
          <p:cNvSpPr/>
          <p:nvPr/>
        </p:nvSpPr>
        <p:spPr>
          <a:xfrm>
            <a:off x="1005840" y="3035880"/>
            <a:ext cx="265068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Model tüketimi</a:t>
            </a:r>
            <a:endParaRPr b="0" lang="en-US" sz="1600" spc="-1" strike="noStrike">
              <a:solidFill>
                <a:srgbClr val="000000"/>
              </a:solidFill>
              <a:latin typeface="Arial"/>
            </a:endParaRPr>
          </a:p>
        </p:txBody>
      </p:sp>
      <p:sp>
        <p:nvSpPr>
          <p:cNvPr id="477" name="Text 10"/>
          <p:cNvSpPr/>
          <p:nvPr/>
        </p:nvSpPr>
        <p:spPr>
          <a:xfrm>
            <a:off x="3721680" y="3035880"/>
            <a:ext cx="312624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Input / output token veya kapasite</a:t>
            </a:r>
            <a:endParaRPr b="0" lang="en-US" sz="1300" spc="-1" strike="noStrike">
              <a:solidFill>
                <a:srgbClr val="000000"/>
              </a:solidFill>
              <a:latin typeface="Arial"/>
            </a:endParaRPr>
          </a:p>
        </p:txBody>
      </p:sp>
      <p:sp>
        <p:nvSpPr>
          <p:cNvPr id="478" name="Shape 11"/>
          <p:cNvSpPr/>
          <p:nvPr/>
        </p:nvSpPr>
        <p:spPr>
          <a:xfrm>
            <a:off x="1005840" y="3538440"/>
            <a:ext cx="5788080" cy="360"/>
          </a:xfrm>
          <a:prstGeom prst="line">
            <a:avLst/>
          </a:prstGeom>
          <a:ln w="762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79" name="Text 12"/>
          <p:cNvSpPr/>
          <p:nvPr/>
        </p:nvSpPr>
        <p:spPr>
          <a:xfrm>
            <a:off x="1005840" y="3648600"/>
            <a:ext cx="265068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Veri &amp; retrieval</a:t>
            </a:r>
            <a:endParaRPr b="0" lang="en-US" sz="1600" spc="-1" strike="noStrike">
              <a:solidFill>
                <a:srgbClr val="000000"/>
              </a:solidFill>
              <a:latin typeface="Arial"/>
            </a:endParaRPr>
          </a:p>
        </p:txBody>
      </p:sp>
      <p:sp>
        <p:nvSpPr>
          <p:cNvPr id="480" name="Text 13"/>
          <p:cNvSpPr/>
          <p:nvPr/>
        </p:nvSpPr>
        <p:spPr>
          <a:xfrm>
            <a:off x="3721680" y="3648600"/>
            <a:ext cx="312624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Search, depolama, indeksleme</a:t>
            </a:r>
            <a:endParaRPr b="0" lang="en-US" sz="1300" spc="-1" strike="noStrike">
              <a:solidFill>
                <a:srgbClr val="000000"/>
              </a:solidFill>
              <a:latin typeface="Arial"/>
            </a:endParaRPr>
          </a:p>
        </p:txBody>
      </p:sp>
      <p:sp>
        <p:nvSpPr>
          <p:cNvPr id="481" name="Shape 14"/>
          <p:cNvSpPr/>
          <p:nvPr/>
        </p:nvSpPr>
        <p:spPr>
          <a:xfrm>
            <a:off x="1005840" y="4151160"/>
            <a:ext cx="5788080" cy="360"/>
          </a:xfrm>
          <a:prstGeom prst="line">
            <a:avLst/>
          </a:prstGeom>
          <a:ln w="762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82" name="Text 15"/>
          <p:cNvSpPr/>
          <p:nvPr/>
        </p:nvSpPr>
        <p:spPr>
          <a:xfrm>
            <a:off x="1005840" y="4260960"/>
            <a:ext cx="265068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Operasyon</a:t>
            </a:r>
            <a:endParaRPr b="0" lang="en-US" sz="1600" spc="-1" strike="noStrike">
              <a:solidFill>
                <a:srgbClr val="000000"/>
              </a:solidFill>
              <a:latin typeface="Arial"/>
            </a:endParaRPr>
          </a:p>
        </p:txBody>
      </p:sp>
      <p:sp>
        <p:nvSpPr>
          <p:cNvPr id="483" name="Text 16"/>
          <p:cNvSpPr/>
          <p:nvPr/>
        </p:nvSpPr>
        <p:spPr>
          <a:xfrm>
            <a:off x="3721680" y="4260960"/>
            <a:ext cx="312624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Monitoring, ağ, uygulama altyapısı</a:t>
            </a:r>
            <a:endParaRPr b="0" lang="en-US" sz="1300" spc="-1" strike="noStrike">
              <a:solidFill>
                <a:srgbClr val="000000"/>
              </a:solidFill>
              <a:latin typeface="Arial"/>
            </a:endParaRPr>
          </a:p>
        </p:txBody>
      </p:sp>
      <p:sp>
        <p:nvSpPr>
          <p:cNvPr id="484" name="Shape 17"/>
          <p:cNvSpPr/>
          <p:nvPr/>
        </p:nvSpPr>
        <p:spPr>
          <a:xfrm>
            <a:off x="1005840" y="4763880"/>
            <a:ext cx="5788080" cy="360"/>
          </a:xfrm>
          <a:prstGeom prst="line">
            <a:avLst/>
          </a:prstGeom>
          <a:ln w="7620">
            <a:solidFill>
              <a:srgbClr val="dbe4e9"/>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485" name="Text 18"/>
          <p:cNvSpPr/>
          <p:nvPr/>
        </p:nvSpPr>
        <p:spPr>
          <a:xfrm>
            <a:off x="1005840" y="4873680"/>
            <a:ext cx="265068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İnsan emeği</a:t>
            </a:r>
            <a:endParaRPr b="0" lang="en-US" sz="1600" spc="-1" strike="noStrike">
              <a:solidFill>
                <a:srgbClr val="000000"/>
              </a:solidFill>
              <a:latin typeface="Arial"/>
            </a:endParaRPr>
          </a:p>
        </p:txBody>
      </p:sp>
      <p:sp>
        <p:nvSpPr>
          <p:cNvPr id="486" name="Text 19"/>
          <p:cNvSpPr/>
          <p:nvPr/>
        </p:nvSpPr>
        <p:spPr>
          <a:xfrm>
            <a:off x="3721680" y="4873680"/>
            <a:ext cx="312624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Geliştirme, bakım ve kalite kontrol</a:t>
            </a:r>
            <a:endParaRPr b="0" lang="en-US" sz="1300" spc="-1" strike="noStrike">
              <a:solidFill>
                <a:srgbClr val="000000"/>
              </a:solidFill>
              <a:latin typeface="Arial"/>
            </a:endParaRPr>
          </a:p>
        </p:txBody>
      </p:sp>
      <p:sp>
        <p:nvSpPr>
          <p:cNvPr id="487" name="Shape 20"/>
          <p:cNvSpPr/>
          <p:nvPr/>
        </p:nvSpPr>
        <p:spPr>
          <a:xfrm>
            <a:off x="7479720" y="2267640"/>
            <a:ext cx="3994920" cy="3373200"/>
          </a:xfrm>
          <a:prstGeom prst="roundRect">
            <a:avLst>
              <a:gd name="adj" fmla="val 3252"/>
            </a:avLst>
          </a:prstGeom>
          <a:solidFill>
            <a:srgbClr val="142b3d"/>
          </a:solidFill>
          <a:ln w="10160">
            <a:solidFill>
              <a:srgbClr val="142b3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88" name="Text 25"/>
          <p:cNvSpPr/>
          <p:nvPr/>
        </p:nvSpPr>
        <p:spPr>
          <a:xfrm>
            <a:off x="758880" y="5906880"/>
            <a:ext cx="10797840" cy="236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pc="-1" strike="noStrike">
                <a:solidFill>
                  <a:srgbClr val="82939c"/>
                </a:solidFill>
                <a:latin typeface="Aptos"/>
                <a:ea typeface="Aptos"/>
              </a:rPr>
              <a:t>Fiyatlandırma; model, bölge ve iş yüküne göre pilotta hesaplanır. Tahmini tasarruf yüzdesi vaat etmiyoruz.</a:t>
            </a:r>
            <a:endParaRPr b="0" lang="en-US" sz="1100" spc="-1" strike="noStrike">
              <a:solidFill>
                <a:srgbClr val="000000"/>
              </a:solidFill>
              <a:latin typeface="Arial"/>
            </a:endParaRPr>
          </a:p>
        </p:txBody>
      </p:sp>
      <p:sp>
        <p:nvSpPr>
          <p:cNvPr id="489" name="TextBox 27"/>
          <p:cNvSpPr/>
          <p:nvPr/>
        </p:nvSpPr>
        <p:spPr>
          <a:xfrm>
            <a:off x="7799760" y="2578680"/>
            <a:ext cx="3199320" cy="19800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1" lang="en-US" sz="1300" spc="-1" strike="noStrike">
                <a:solidFill>
                  <a:srgbClr val="b7e0f3"/>
                </a:solidFill>
                <a:latin typeface="Aptos"/>
              </a:rPr>
              <a:t>DEĞER DEĞERLENDİRMESİ</a:t>
            </a:r>
            <a:endParaRPr b="0" lang="en-US" sz="1300" spc="-1" strike="noStrike">
              <a:solidFill>
                <a:srgbClr val="000000"/>
              </a:solidFill>
              <a:latin typeface="Arial"/>
            </a:endParaRPr>
          </a:p>
        </p:txBody>
      </p:sp>
      <p:sp>
        <p:nvSpPr>
          <p:cNvPr id="490" name="TextBox 28"/>
          <p:cNvSpPr/>
          <p:nvPr/>
        </p:nvSpPr>
        <p:spPr>
          <a:xfrm>
            <a:off x="7809120" y="3127320"/>
            <a:ext cx="3290760" cy="2588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1" lang="en-US" sz="1700" spc="-1" strike="noStrike">
                <a:solidFill>
                  <a:srgbClr val="ffffff"/>
                </a:solidFill>
                <a:latin typeface="Aptos"/>
              </a:rPr>
              <a:t>İŞ ETKİSİ</a:t>
            </a:r>
            <a:endParaRPr b="0" lang="en-US" sz="1700" spc="-1" strike="noStrike">
              <a:solidFill>
                <a:srgbClr val="000000"/>
              </a:solidFill>
              <a:latin typeface="Arial"/>
            </a:endParaRPr>
          </a:p>
        </p:txBody>
      </p:sp>
      <p:sp>
        <p:nvSpPr>
          <p:cNvPr id="491" name="TextBox 29"/>
          <p:cNvSpPr/>
          <p:nvPr/>
        </p:nvSpPr>
        <p:spPr>
          <a:xfrm>
            <a:off x="7809120" y="3438000"/>
            <a:ext cx="329076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0" lang="en-US" sz="1200" spc="-1" strike="noStrike">
                <a:solidFill>
                  <a:srgbClr val="b7e0f3"/>
                </a:solidFill>
                <a:latin typeface="Aptos"/>
              </a:rPr>
              <a:t>Kalite · Hız · Kontrol</a:t>
            </a:r>
            <a:endParaRPr b="0" lang="en-US" sz="1200" spc="-1" strike="noStrike">
              <a:solidFill>
                <a:srgbClr val="000000"/>
              </a:solidFill>
              <a:latin typeface="Arial"/>
            </a:endParaRPr>
          </a:p>
        </p:txBody>
      </p:sp>
      <p:sp>
        <p:nvSpPr>
          <p:cNvPr id="492" name="TextBox 30"/>
          <p:cNvSpPr/>
          <p:nvPr/>
        </p:nvSpPr>
        <p:spPr>
          <a:xfrm>
            <a:off x="7809120" y="3886200"/>
            <a:ext cx="3290760" cy="2588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1" lang="en-US" sz="1700" spc="-1" strike="noStrike">
                <a:solidFill>
                  <a:srgbClr val="ffffff"/>
                </a:solidFill>
                <a:latin typeface="Aptos"/>
              </a:rPr>
              <a:t>TOPLAM MALİYET</a:t>
            </a:r>
            <a:endParaRPr b="0" lang="en-US" sz="1700" spc="-1" strike="noStrike">
              <a:solidFill>
                <a:srgbClr val="000000"/>
              </a:solidFill>
              <a:latin typeface="Arial"/>
            </a:endParaRPr>
          </a:p>
        </p:txBody>
      </p:sp>
      <p:sp>
        <p:nvSpPr>
          <p:cNvPr id="493" name="TextBox 31"/>
          <p:cNvSpPr/>
          <p:nvPr/>
        </p:nvSpPr>
        <p:spPr>
          <a:xfrm>
            <a:off x="7809120" y="4197240"/>
            <a:ext cx="329076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0" lang="en-US" sz="1200" spc="-1" strike="noStrike">
                <a:solidFill>
                  <a:srgbClr val="b7e0f3"/>
                </a:solidFill>
                <a:latin typeface="Aptos"/>
              </a:rPr>
              <a:t>Model · Veri · Operasyon</a:t>
            </a:r>
            <a:endParaRPr b="0" lang="en-US" sz="1200" spc="-1" strike="noStrike">
              <a:solidFill>
                <a:srgbClr val="000000"/>
              </a:solidFill>
              <a:latin typeface="Arial"/>
            </a:endParaRPr>
          </a:p>
        </p:txBody>
      </p:sp>
      <p:sp>
        <p:nvSpPr>
          <p:cNvPr id="494" name="TextBox 32"/>
          <p:cNvSpPr/>
          <p:nvPr/>
        </p:nvSpPr>
        <p:spPr>
          <a:xfrm>
            <a:off x="7809120" y="4645080"/>
            <a:ext cx="3290760" cy="2588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1" lang="en-US" sz="1700" spc="-1" strike="noStrike">
                <a:solidFill>
                  <a:srgbClr val="ffffff"/>
                </a:solidFill>
                <a:latin typeface="Aptos"/>
              </a:rPr>
              <a:t>RİSK YÖNETİMİ</a:t>
            </a:r>
            <a:endParaRPr b="0" lang="en-US" sz="1700" spc="-1" strike="noStrike">
              <a:solidFill>
                <a:srgbClr val="000000"/>
              </a:solidFill>
              <a:latin typeface="Arial"/>
            </a:endParaRPr>
          </a:p>
        </p:txBody>
      </p:sp>
      <p:sp>
        <p:nvSpPr>
          <p:cNvPr id="495" name="TextBox 33"/>
          <p:cNvSpPr/>
          <p:nvPr/>
        </p:nvSpPr>
        <p:spPr>
          <a:xfrm>
            <a:off x="7809120" y="4956120"/>
            <a:ext cx="329076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0" lang="en-US" sz="1200" spc="-1" strike="noStrike">
                <a:solidFill>
                  <a:srgbClr val="b7e0f3"/>
                </a:solidFill>
                <a:latin typeface="Aptos"/>
              </a:rPr>
              <a:t>Güvenlik · Uyum · Denetim</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496"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17 / PİLOT PLANI</a:t>
            </a:r>
            <a:endParaRPr b="0" lang="en-US" sz="1000" spc="-1" strike="noStrike">
              <a:solidFill>
                <a:srgbClr val="000000"/>
              </a:solidFill>
              <a:latin typeface="Arial"/>
            </a:endParaRPr>
          </a:p>
        </p:txBody>
      </p:sp>
      <p:sp>
        <p:nvSpPr>
          <p:cNvPr id="497"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Dört haftalık, ölçülebilir bir başlangıç.</a:t>
            </a:r>
            <a:endParaRPr b="0" lang="en-US" sz="2900" spc="-1" strike="noStrike">
              <a:solidFill>
                <a:srgbClr val="000000"/>
              </a:solidFill>
              <a:latin typeface="Arial"/>
            </a:endParaRPr>
          </a:p>
        </p:txBody>
      </p:sp>
      <p:sp>
        <p:nvSpPr>
          <p:cNvPr id="498"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Önerilen örnek takvim; kapsam, erişimler ve onaylara göre revize edilir.</a:t>
            </a:r>
            <a:endParaRPr b="0" lang="en-US" sz="1500" spc="-1" strike="noStrike">
              <a:solidFill>
                <a:srgbClr val="000000"/>
              </a:solidFill>
              <a:latin typeface="Arial"/>
            </a:endParaRPr>
          </a:p>
        </p:txBody>
      </p:sp>
      <p:sp>
        <p:nvSpPr>
          <p:cNvPr id="499"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500"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501"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502"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18</a:t>
            </a:r>
            <a:endParaRPr b="0" lang="en-US" sz="1000" spc="-1" strike="noStrike">
              <a:solidFill>
                <a:srgbClr val="000000"/>
              </a:solidFill>
              <a:latin typeface="Arial"/>
            </a:endParaRPr>
          </a:p>
        </p:txBody>
      </p:sp>
      <p:sp>
        <p:nvSpPr>
          <p:cNvPr id="503" name="Shape 7"/>
          <p:cNvSpPr/>
          <p:nvPr/>
        </p:nvSpPr>
        <p:spPr>
          <a:xfrm>
            <a:off x="713160" y="2386440"/>
            <a:ext cx="2669040" cy="2796840"/>
          </a:xfrm>
          <a:prstGeom prst="roundRect">
            <a:avLst>
              <a:gd name="adj" fmla="val 411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04" name="Shape 8"/>
          <p:cNvSpPr/>
          <p:nvPr/>
        </p:nvSpPr>
        <p:spPr>
          <a:xfrm>
            <a:off x="713160" y="2386440"/>
            <a:ext cx="2669040" cy="99360"/>
          </a:xfrm>
          <a:prstGeom prst="rect">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05" name="Text 9"/>
          <p:cNvSpPr/>
          <p:nvPr/>
        </p:nvSpPr>
        <p:spPr>
          <a:xfrm>
            <a:off x="914400" y="2734200"/>
            <a:ext cx="213876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52" strike="noStrike">
                <a:solidFill>
                  <a:srgbClr val="0078d4"/>
                </a:solidFill>
                <a:latin typeface="Aptos"/>
                <a:ea typeface="Aptos"/>
              </a:rPr>
              <a:t>HAFTA 01</a:t>
            </a:r>
            <a:endParaRPr b="0" lang="en-US" sz="1200" spc="-1" strike="noStrike">
              <a:solidFill>
                <a:srgbClr val="000000"/>
              </a:solidFill>
              <a:latin typeface="Arial"/>
            </a:endParaRPr>
          </a:p>
        </p:txBody>
      </p:sp>
      <p:sp>
        <p:nvSpPr>
          <p:cNvPr id="506" name="Text 10"/>
          <p:cNvSpPr/>
          <p:nvPr/>
        </p:nvSpPr>
        <p:spPr>
          <a:xfrm>
            <a:off x="914400" y="3227760"/>
            <a:ext cx="2266560" cy="757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pc="-1" strike="noStrike">
                <a:solidFill>
                  <a:srgbClr val="152632"/>
                </a:solidFill>
                <a:latin typeface="Aptos"/>
                <a:ea typeface="Aptos"/>
              </a:rPr>
              <a:t>Keşif &amp; tasarım</a:t>
            </a:r>
            <a:endParaRPr b="0" lang="en-US" sz="2200" spc="-1" strike="noStrike">
              <a:solidFill>
                <a:srgbClr val="000000"/>
              </a:solidFill>
              <a:latin typeface="Arial"/>
            </a:endParaRPr>
          </a:p>
        </p:txBody>
      </p:sp>
      <p:sp>
        <p:nvSpPr>
          <p:cNvPr id="507" name="Text 11"/>
          <p:cNvSpPr/>
          <p:nvPr/>
        </p:nvSpPr>
        <p:spPr>
          <a:xfrm>
            <a:off x="914400" y="4187880"/>
            <a:ext cx="2248200" cy="693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İş akışı, veri, kapsam ve KPI’lar</a:t>
            </a:r>
            <a:endParaRPr b="0" lang="en-US" sz="1400" spc="-1" strike="noStrike">
              <a:solidFill>
                <a:srgbClr val="000000"/>
              </a:solidFill>
              <a:latin typeface="Arial"/>
            </a:endParaRPr>
          </a:p>
        </p:txBody>
      </p:sp>
      <p:sp>
        <p:nvSpPr>
          <p:cNvPr id="508" name="Shape 12"/>
          <p:cNvSpPr/>
          <p:nvPr/>
        </p:nvSpPr>
        <p:spPr>
          <a:xfrm>
            <a:off x="3602880" y="2386440"/>
            <a:ext cx="2669040" cy="2796840"/>
          </a:xfrm>
          <a:prstGeom prst="roundRect">
            <a:avLst>
              <a:gd name="adj" fmla="val 411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09" name="Shape 13"/>
          <p:cNvSpPr/>
          <p:nvPr/>
        </p:nvSpPr>
        <p:spPr>
          <a:xfrm>
            <a:off x="3602880" y="2386440"/>
            <a:ext cx="2669040" cy="99360"/>
          </a:xfrm>
          <a:prstGeom prst="rect">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0" name="Text 14"/>
          <p:cNvSpPr/>
          <p:nvPr/>
        </p:nvSpPr>
        <p:spPr>
          <a:xfrm>
            <a:off x="3803760" y="2734200"/>
            <a:ext cx="213876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52" strike="noStrike">
                <a:solidFill>
                  <a:srgbClr val="0078d4"/>
                </a:solidFill>
                <a:latin typeface="Aptos"/>
                <a:ea typeface="Aptos"/>
              </a:rPr>
              <a:t>HAFTA 02</a:t>
            </a:r>
            <a:endParaRPr b="0" lang="en-US" sz="1200" spc="-1" strike="noStrike">
              <a:solidFill>
                <a:srgbClr val="000000"/>
              </a:solidFill>
              <a:latin typeface="Arial"/>
            </a:endParaRPr>
          </a:p>
        </p:txBody>
      </p:sp>
      <p:sp>
        <p:nvSpPr>
          <p:cNvPr id="511" name="Text 15"/>
          <p:cNvSpPr/>
          <p:nvPr/>
        </p:nvSpPr>
        <p:spPr>
          <a:xfrm>
            <a:off x="3803760" y="3227760"/>
            <a:ext cx="2266560" cy="757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pc="-1" strike="noStrike">
                <a:solidFill>
                  <a:srgbClr val="152632"/>
                </a:solidFill>
                <a:latin typeface="Aptos"/>
                <a:ea typeface="Aptos"/>
              </a:rPr>
              <a:t>Prototip</a:t>
            </a:r>
            <a:endParaRPr b="0" lang="en-US" sz="2200" spc="-1" strike="noStrike">
              <a:solidFill>
                <a:srgbClr val="000000"/>
              </a:solidFill>
              <a:latin typeface="Arial"/>
            </a:endParaRPr>
          </a:p>
        </p:txBody>
      </p:sp>
      <p:sp>
        <p:nvSpPr>
          <p:cNvPr id="512" name="Text 16"/>
          <p:cNvSpPr/>
          <p:nvPr/>
        </p:nvSpPr>
        <p:spPr>
          <a:xfrm>
            <a:off x="3803760" y="4187880"/>
            <a:ext cx="2248200" cy="693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Model + agent + örnek veri entegrasyonu</a:t>
            </a:r>
            <a:endParaRPr b="0" lang="en-US" sz="1400" spc="-1" strike="noStrike">
              <a:solidFill>
                <a:srgbClr val="000000"/>
              </a:solidFill>
              <a:latin typeface="Arial"/>
            </a:endParaRPr>
          </a:p>
        </p:txBody>
      </p:sp>
      <p:sp>
        <p:nvSpPr>
          <p:cNvPr id="513" name="Shape 17"/>
          <p:cNvSpPr/>
          <p:nvPr/>
        </p:nvSpPr>
        <p:spPr>
          <a:xfrm>
            <a:off x="6492240" y="2386440"/>
            <a:ext cx="2669040" cy="2796840"/>
          </a:xfrm>
          <a:prstGeom prst="roundRect">
            <a:avLst>
              <a:gd name="adj" fmla="val 4110"/>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14" name="Shape 18"/>
          <p:cNvSpPr/>
          <p:nvPr/>
        </p:nvSpPr>
        <p:spPr>
          <a:xfrm>
            <a:off x="6492240" y="2386440"/>
            <a:ext cx="2669040" cy="99360"/>
          </a:xfrm>
          <a:prstGeom prst="rect">
            <a:avLst/>
          </a:prstGeom>
          <a:solidFill>
            <a:srgbClr val="0078d4"/>
          </a:solidFill>
          <a:ln w="12700">
            <a:solidFill>
              <a:srgbClr val="0078d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5" name="Text 19"/>
          <p:cNvSpPr/>
          <p:nvPr/>
        </p:nvSpPr>
        <p:spPr>
          <a:xfrm>
            <a:off x="6693480" y="2734200"/>
            <a:ext cx="213876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52" strike="noStrike">
                <a:solidFill>
                  <a:srgbClr val="0078d4"/>
                </a:solidFill>
                <a:latin typeface="Aptos"/>
                <a:ea typeface="Aptos"/>
              </a:rPr>
              <a:t>HAFTA 03</a:t>
            </a:r>
            <a:endParaRPr b="0" lang="en-US" sz="1200" spc="-1" strike="noStrike">
              <a:solidFill>
                <a:srgbClr val="000000"/>
              </a:solidFill>
              <a:latin typeface="Arial"/>
            </a:endParaRPr>
          </a:p>
        </p:txBody>
      </p:sp>
      <p:sp>
        <p:nvSpPr>
          <p:cNvPr id="516" name="Text 20"/>
          <p:cNvSpPr/>
          <p:nvPr/>
        </p:nvSpPr>
        <p:spPr>
          <a:xfrm>
            <a:off x="6693480" y="3227760"/>
            <a:ext cx="2266560" cy="757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pc="-1" strike="noStrike">
                <a:solidFill>
                  <a:srgbClr val="152632"/>
                </a:solidFill>
                <a:latin typeface="Aptos"/>
                <a:ea typeface="Aptos"/>
              </a:rPr>
              <a:t>Kalite &amp; güvenlik</a:t>
            </a:r>
            <a:endParaRPr b="0" lang="en-US" sz="2200" spc="-1" strike="noStrike">
              <a:solidFill>
                <a:srgbClr val="000000"/>
              </a:solidFill>
              <a:latin typeface="Arial"/>
            </a:endParaRPr>
          </a:p>
        </p:txBody>
      </p:sp>
      <p:sp>
        <p:nvSpPr>
          <p:cNvPr id="517" name="Text 21"/>
          <p:cNvSpPr/>
          <p:nvPr/>
        </p:nvSpPr>
        <p:spPr>
          <a:xfrm>
            <a:off x="6693480" y="4187880"/>
            <a:ext cx="2248200" cy="693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536775"/>
                </a:solidFill>
                <a:latin typeface="Aptos"/>
                <a:ea typeface="Aptos"/>
              </a:rPr>
              <a:t>Test senaryoları, değerlendirme, izinler</a:t>
            </a:r>
            <a:endParaRPr b="0" lang="en-US" sz="1400" spc="-1" strike="noStrike">
              <a:solidFill>
                <a:srgbClr val="000000"/>
              </a:solidFill>
              <a:latin typeface="Arial"/>
            </a:endParaRPr>
          </a:p>
        </p:txBody>
      </p:sp>
      <p:sp>
        <p:nvSpPr>
          <p:cNvPr id="518" name="Shape 22"/>
          <p:cNvSpPr/>
          <p:nvPr/>
        </p:nvSpPr>
        <p:spPr>
          <a:xfrm>
            <a:off x="9381600" y="2386440"/>
            <a:ext cx="2669040" cy="2796840"/>
          </a:xfrm>
          <a:prstGeom prst="roundRect">
            <a:avLst>
              <a:gd name="adj" fmla="val 4110"/>
            </a:avLst>
          </a:prstGeom>
          <a:solidFill>
            <a:srgbClr val="142b3d"/>
          </a:solidFill>
          <a:ln w="10160">
            <a:solidFill>
              <a:srgbClr val="142b3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9" name="Shape 23"/>
          <p:cNvSpPr/>
          <p:nvPr/>
        </p:nvSpPr>
        <p:spPr>
          <a:xfrm>
            <a:off x="9381600" y="2386440"/>
            <a:ext cx="2669040" cy="99360"/>
          </a:xfrm>
          <a:prstGeom prst="rect">
            <a:avLst/>
          </a:prstGeom>
          <a:solidFill>
            <a:srgbClr val="59bedf"/>
          </a:solidFill>
          <a:ln w="12700">
            <a:solidFill>
              <a:srgbClr val="59bed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20" name="Text 24"/>
          <p:cNvSpPr/>
          <p:nvPr/>
        </p:nvSpPr>
        <p:spPr>
          <a:xfrm>
            <a:off x="9582840" y="2734200"/>
            <a:ext cx="2138760" cy="300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pc="52" strike="noStrike">
                <a:solidFill>
                  <a:srgbClr val="86d5ef"/>
                </a:solidFill>
                <a:latin typeface="Aptos"/>
                <a:ea typeface="Aptos"/>
              </a:rPr>
              <a:t>HAFTA 04</a:t>
            </a:r>
            <a:endParaRPr b="0" lang="en-US" sz="1200" spc="-1" strike="noStrike">
              <a:solidFill>
                <a:srgbClr val="000000"/>
              </a:solidFill>
              <a:latin typeface="Arial"/>
            </a:endParaRPr>
          </a:p>
        </p:txBody>
      </p:sp>
      <p:sp>
        <p:nvSpPr>
          <p:cNvPr id="521" name="Text 25"/>
          <p:cNvSpPr/>
          <p:nvPr/>
        </p:nvSpPr>
        <p:spPr>
          <a:xfrm>
            <a:off x="9582840" y="3227760"/>
            <a:ext cx="2266560" cy="757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pc="-1" strike="noStrike">
                <a:solidFill>
                  <a:srgbClr val="ffffff"/>
                </a:solidFill>
                <a:latin typeface="Aptos"/>
                <a:ea typeface="Aptos"/>
              </a:rPr>
              <a:t>Pilot sonuçları</a:t>
            </a:r>
            <a:endParaRPr b="0" lang="en-US" sz="2200" spc="-1" strike="noStrike">
              <a:solidFill>
                <a:srgbClr val="000000"/>
              </a:solidFill>
              <a:latin typeface="Arial"/>
            </a:endParaRPr>
          </a:p>
        </p:txBody>
      </p:sp>
      <p:sp>
        <p:nvSpPr>
          <p:cNvPr id="522" name="Text 26"/>
          <p:cNvSpPr/>
          <p:nvPr/>
        </p:nvSpPr>
        <p:spPr>
          <a:xfrm>
            <a:off x="9582840" y="4187880"/>
            <a:ext cx="2248200" cy="693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d2e3ec"/>
                </a:solidFill>
                <a:latin typeface="Aptos"/>
                <a:ea typeface="Aptos"/>
              </a:rPr>
              <a:t>Demo, KPI raporu, ölçekleme kararı</a:t>
            </a:r>
            <a:endParaRPr b="0" lang="en-US" sz="1400" spc="-1" strike="noStrike">
              <a:solidFill>
                <a:srgbClr val="000000"/>
              </a:solidFill>
              <a:latin typeface="Arial"/>
            </a:endParaRPr>
          </a:p>
        </p:txBody>
      </p:sp>
      <p:sp>
        <p:nvSpPr>
          <p:cNvPr id="523" name="Text 27"/>
          <p:cNvSpPr/>
          <p:nvPr/>
        </p:nvSpPr>
        <p:spPr>
          <a:xfrm>
            <a:off x="749880" y="5541120"/>
            <a:ext cx="10926000" cy="474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Çıktı: çalışan prototip + ölçüm tablosu + risk/entegrasyon listesi + üretim yol haritası</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524"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18 / ENSIGHT FARKI</a:t>
            </a:r>
            <a:endParaRPr b="0" lang="en-US" sz="1000" spc="-1" strike="noStrike">
              <a:solidFill>
                <a:srgbClr val="000000"/>
              </a:solidFill>
              <a:latin typeface="Arial"/>
            </a:endParaRPr>
          </a:p>
        </p:txBody>
      </p:sp>
      <p:sp>
        <p:nvSpPr>
          <p:cNvPr id="525"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Teknolojiyi iş sonucuna bağlayan çözüm ortağı.</a:t>
            </a:r>
            <a:endParaRPr b="0" lang="en-US" sz="2900" spc="-1" strike="noStrike">
              <a:solidFill>
                <a:srgbClr val="000000"/>
              </a:solidFill>
              <a:latin typeface="Arial"/>
            </a:endParaRPr>
          </a:p>
        </p:txBody>
      </p:sp>
      <p:sp>
        <p:nvSpPr>
          <p:cNvPr id="526"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Microsoft ekosistemi + veri &amp; analitik deneyimi + uçtan uca yaklaşım.</a:t>
            </a:r>
            <a:endParaRPr b="0" lang="en-US" sz="1500" spc="-1" strike="noStrike">
              <a:solidFill>
                <a:srgbClr val="000000"/>
              </a:solidFill>
              <a:latin typeface="Arial"/>
            </a:endParaRPr>
          </a:p>
        </p:txBody>
      </p:sp>
      <p:sp>
        <p:nvSpPr>
          <p:cNvPr id="527"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528"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529"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530"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19</a:t>
            </a:r>
            <a:endParaRPr b="0" lang="en-US" sz="1000" spc="-1" strike="noStrike">
              <a:solidFill>
                <a:srgbClr val="000000"/>
              </a:solidFill>
              <a:latin typeface="Arial"/>
            </a:endParaRPr>
          </a:p>
        </p:txBody>
      </p:sp>
      <p:sp>
        <p:nvSpPr>
          <p:cNvPr id="531" name="Shape 7"/>
          <p:cNvSpPr/>
          <p:nvPr/>
        </p:nvSpPr>
        <p:spPr>
          <a:xfrm>
            <a:off x="731520" y="2286000"/>
            <a:ext cx="4616640" cy="3171960"/>
          </a:xfrm>
          <a:prstGeom prst="roundRect">
            <a:avLst>
              <a:gd name="adj" fmla="val 3458"/>
            </a:avLst>
          </a:prstGeom>
          <a:solidFill>
            <a:srgbClr val="142b3d"/>
          </a:solidFill>
          <a:ln w="12700">
            <a:solidFill>
              <a:srgbClr val="142b3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32" name="Shape 10"/>
          <p:cNvSpPr/>
          <p:nvPr/>
        </p:nvSpPr>
        <p:spPr>
          <a:xfrm>
            <a:off x="1060560" y="3776400"/>
            <a:ext cx="3831480" cy="360"/>
          </a:xfrm>
          <a:prstGeom prst="line">
            <a:avLst/>
          </a:prstGeom>
          <a:ln w="12700">
            <a:solidFill>
              <a:srgbClr val="55788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533" name="Text 11"/>
          <p:cNvSpPr/>
          <p:nvPr/>
        </p:nvSpPr>
        <p:spPr>
          <a:xfrm>
            <a:off x="1069920" y="4050720"/>
            <a:ext cx="3574080" cy="428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pc="-1" strike="noStrike">
                <a:solidFill>
                  <a:srgbClr val="ffffff"/>
                </a:solidFill>
                <a:latin typeface="Aptos"/>
                <a:ea typeface="Aptos"/>
              </a:rPr>
              <a:t>Microsoft Solutions Partner</a:t>
            </a:r>
            <a:endParaRPr b="0" lang="en-US" sz="1800" spc="-1" strike="noStrike">
              <a:solidFill>
                <a:srgbClr val="000000"/>
              </a:solidFill>
              <a:latin typeface="Arial"/>
            </a:endParaRPr>
          </a:p>
        </p:txBody>
      </p:sp>
      <p:sp>
        <p:nvSpPr>
          <p:cNvPr id="534" name="Text 12"/>
          <p:cNvSpPr/>
          <p:nvPr/>
        </p:nvSpPr>
        <p:spPr>
          <a:xfrm>
            <a:off x="1069920" y="4617720"/>
            <a:ext cx="3610800" cy="40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c8e3ed"/>
                </a:solidFill>
                <a:latin typeface="Aptos"/>
                <a:ea typeface="Aptos"/>
              </a:rPr>
              <a:t>Türkiye’nin ilk Fabric Featured Partner’ı</a:t>
            </a:r>
            <a:endParaRPr b="0" lang="en-US" sz="1300" spc="-1" strike="noStrike">
              <a:solidFill>
                <a:srgbClr val="000000"/>
              </a:solidFill>
              <a:latin typeface="Arial"/>
            </a:endParaRPr>
          </a:p>
        </p:txBody>
      </p:sp>
      <p:sp>
        <p:nvSpPr>
          <p:cNvPr id="535" name="Shape 13"/>
          <p:cNvSpPr/>
          <p:nvPr/>
        </p:nvSpPr>
        <p:spPr>
          <a:xfrm>
            <a:off x="5577840" y="2350080"/>
            <a:ext cx="5842080" cy="931680"/>
          </a:xfrm>
          <a:prstGeom prst="roundRect">
            <a:avLst>
              <a:gd name="adj" fmla="val 11765"/>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36" name="Text 14"/>
          <p:cNvSpPr/>
          <p:nvPr/>
        </p:nvSpPr>
        <p:spPr>
          <a:xfrm>
            <a:off x="5852160" y="2477880"/>
            <a:ext cx="215676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Veri temeli</a:t>
            </a:r>
            <a:endParaRPr b="0" lang="en-US" sz="1600" spc="-1" strike="noStrike">
              <a:solidFill>
                <a:srgbClr val="000000"/>
              </a:solidFill>
              <a:latin typeface="Arial"/>
            </a:endParaRPr>
          </a:p>
        </p:txBody>
      </p:sp>
      <p:sp>
        <p:nvSpPr>
          <p:cNvPr id="537" name="Text 15"/>
          <p:cNvSpPr/>
          <p:nvPr/>
        </p:nvSpPr>
        <p:spPr>
          <a:xfrm>
            <a:off x="8001000" y="2459880"/>
            <a:ext cx="3080520" cy="556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Mevcut data platformunu ve kaynakları anlama</a:t>
            </a:r>
            <a:endParaRPr b="0" lang="en-US" sz="1300" spc="-1" strike="noStrike">
              <a:solidFill>
                <a:srgbClr val="000000"/>
              </a:solidFill>
              <a:latin typeface="Arial"/>
            </a:endParaRPr>
          </a:p>
        </p:txBody>
      </p:sp>
      <p:sp>
        <p:nvSpPr>
          <p:cNvPr id="538" name="Shape 16"/>
          <p:cNvSpPr/>
          <p:nvPr/>
        </p:nvSpPr>
        <p:spPr>
          <a:xfrm>
            <a:off x="5577840" y="3420000"/>
            <a:ext cx="5842080" cy="931680"/>
          </a:xfrm>
          <a:prstGeom prst="roundRect">
            <a:avLst>
              <a:gd name="adj" fmla="val 11765"/>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39" name="Text 17"/>
          <p:cNvSpPr/>
          <p:nvPr/>
        </p:nvSpPr>
        <p:spPr>
          <a:xfrm>
            <a:off x="5852160" y="3547800"/>
            <a:ext cx="215676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AI çözüm tasarımı</a:t>
            </a:r>
            <a:endParaRPr b="0" lang="en-US" sz="1600" spc="-1" strike="noStrike">
              <a:solidFill>
                <a:srgbClr val="000000"/>
              </a:solidFill>
              <a:latin typeface="Arial"/>
            </a:endParaRPr>
          </a:p>
        </p:txBody>
      </p:sp>
      <p:sp>
        <p:nvSpPr>
          <p:cNvPr id="540" name="Text 18"/>
          <p:cNvSpPr/>
          <p:nvPr/>
        </p:nvSpPr>
        <p:spPr>
          <a:xfrm>
            <a:off x="8001000" y="3529440"/>
            <a:ext cx="3080520" cy="556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Doğru kullanım senaryosu ve entegrasyon</a:t>
            </a:r>
            <a:endParaRPr b="0" lang="en-US" sz="1300" spc="-1" strike="noStrike">
              <a:solidFill>
                <a:srgbClr val="000000"/>
              </a:solidFill>
              <a:latin typeface="Arial"/>
            </a:endParaRPr>
          </a:p>
        </p:txBody>
      </p:sp>
      <p:sp>
        <p:nvSpPr>
          <p:cNvPr id="541" name="Shape 19"/>
          <p:cNvSpPr/>
          <p:nvPr/>
        </p:nvSpPr>
        <p:spPr>
          <a:xfrm>
            <a:off x="5577840" y="4489560"/>
            <a:ext cx="5842080" cy="931680"/>
          </a:xfrm>
          <a:prstGeom prst="roundRect">
            <a:avLst>
              <a:gd name="adj" fmla="val 11765"/>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42" name="Text 20"/>
          <p:cNvSpPr/>
          <p:nvPr/>
        </p:nvSpPr>
        <p:spPr>
          <a:xfrm>
            <a:off x="5852160" y="4617720"/>
            <a:ext cx="2156760" cy="282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152632"/>
                </a:solidFill>
                <a:latin typeface="Aptos"/>
                <a:ea typeface="Aptos"/>
              </a:rPr>
              <a:t>İş ortaklığı</a:t>
            </a:r>
            <a:endParaRPr b="0" lang="en-US" sz="1600" spc="-1" strike="noStrike">
              <a:solidFill>
                <a:srgbClr val="000000"/>
              </a:solidFill>
              <a:latin typeface="Arial"/>
            </a:endParaRPr>
          </a:p>
        </p:txBody>
      </p:sp>
      <p:sp>
        <p:nvSpPr>
          <p:cNvPr id="543" name="Text 21"/>
          <p:cNvSpPr/>
          <p:nvPr/>
        </p:nvSpPr>
        <p:spPr>
          <a:xfrm>
            <a:off x="8001000" y="4599360"/>
            <a:ext cx="3080520" cy="556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pc="-1" strike="noStrike">
                <a:solidFill>
                  <a:srgbClr val="536775"/>
                </a:solidFill>
                <a:latin typeface="Aptos"/>
                <a:ea typeface="Aptos"/>
              </a:rPr>
              <a:t>Pilot → ölçüm → kontrollü ölçekleme</a:t>
            </a:r>
            <a:endParaRPr b="0" lang="en-US" sz="1300" spc="-1" strike="noStrike">
              <a:solidFill>
                <a:srgbClr val="000000"/>
              </a:solidFill>
              <a:latin typeface="Arial"/>
            </a:endParaRPr>
          </a:p>
        </p:txBody>
      </p:sp>
      <p:sp>
        <p:nvSpPr>
          <p:cNvPr id="544" name="Text 22"/>
          <p:cNvSpPr/>
          <p:nvPr/>
        </p:nvSpPr>
        <p:spPr>
          <a:xfrm>
            <a:off x="758880" y="5925240"/>
            <a:ext cx="10569240" cy="218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endParaRPr b="0" lang="en-US" sz="1800" spc="-1" strike="noStrike">
              <a:solidFill>
                <a:srgbClr val="000000"/>
              </a:solidFill>
              <a:latin typeface="Arial"/>
            </a:endParaRPr>
          </a:p>
        </p:txBody>
      </p:sp>
      <p:pic>
        <p:nvPicPr>
          <p:cNvPr id="545" name="Picture 24" descr="ensight_official_wordmark.png"/>
          <p:cNvPicPr/>
          <p:nvPr/>
        </p:nvPicPr>
        <p:blipFill>
          <a:blip r:embed="rId1"/>
          <a:stretch/>
        </p:blipFill>
        <p:spPr>
          <a:xfrm>
            <a:off x="1033200" y="2587680"/>
            <a:ext cx="3107880" cy="879840"/>
          </a:xfrm>
          <a:prstGeom prst="rect">
            <a:avLst/>
          </a:prstGeom>
          <a:ln w="0">
            <a:noFill/>
          </a:ln>
        </p:spPr>
      </p:pic>
      <p:sp>
        <p:nvSpPr>
          <p:cNvPr id="546" name="TextBox 25"/>
          <p:cNvSpPr/>
          <p:nvPr/>
        </p:nvSpPr>
        <p:spPr>
          <a:xfrm>
            <a:off x="1078920" y="3502080"/>
            <a:ext cx="3290760" cy="22824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0" lang="en-US" sz="1500" spc="-1" strike="noStrike">
                <a:solidFill>
                  <a:srgbClr val="b7e0f3"/>
                </a:solidFill>
                <a:latin typeface="Aptos"/>
              </a:rPr>
              <a:t>DATA &amp; AI</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b3d"/>
        </a:solidFill>
      </p:bgPr>
    </p:bg>
    <p:spTree>
      <p:nvGrpSpPr>
        <p:cNvPr id="1" name=""/>
        <p:cNvGrpSpPr/>
        <p:nvPr/>
      </p:nvGrpSpPr>
      <p:grpSpPr>
        <a:xfrm>
          <a:off x="0" y="0"/>
          <a:ext cx="0" cy="0"/>
          <a:chOff x="0" y="0"/>
          <a:chExt cx="0" cy="0"/>
        </a:xfrm>
      </p:grpSpPr>
      <p:sp>
        <p:nvSpPr>
          <p:cNvPr id="547" name="TextBox 3"/>
          <p:cNvSpPr/>
          <p:nvPr/>
        </p:nvSpPr>
        <p:spPr>
          <a:xfrm>
            <a:off x="731520" y="1051560"/>
            <a:ext cx="10972080" cy="518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400" spc="-1" strike="noStrike">
                <a:solidFill>
                  <a:srgbClr val="ffffff"/>
                </a:solidFill>
                <a:latin typeface="Aptos"/>
              </a:rPr>
              <a:t>Foundry ile neler geliştirebiliriz?</a:t>
            </a:r>
            <a:endParaRPr b="0" lang="en-US" sz="3400" spc="-1" strike="noStrike">
              <a:solidFill>
                <a:srgbClr val="ffffff"/>
              </a:solidFill>
              <a:latin typeface="Arial"/>
            </a:endParaRPr>
          </a:p>
        </p:txBody>
      </p:sp>
      <p:sp>
        <p:nvSpPr>
          <p:cNvPr id="548" name="TextBox 5"/>
          <p:cNvSpPr/>
          <p:nvPr/>
        </p:nvSpPr>
        <p:spPr>
          <a:xfrm>
            <a:off x="731520" y="1865520"/>
            <a:ext cx="10697760" cy="2592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700" spc="-1" strike="noStrike">
                <a:solidFill>
                  <a:srgbClr val="bfd8e5"/>
                </a:solidFill>
                <a:latin typeface="Aptos"/>
              </a:rPr>
              <a:t>Kurumsal veriyi erişilebilir, operasyonları daha akıllı hâle getiren örnek çözümler.</a:t>
            </a:r>
            <a:endParaRPr b="0" lang="en-US" sz="1700" spc="-1" strike="noStrike">
              <a:solidFill>
                <a:srgbClr val="ffffff"/>
              </a:solidFill>
              <a:latin typeface="Arial"/>
            </a:endParaRPr>
          </a:p>
        </p:txBody>
      </p:sp>
      <p:sp>
        <p:nvSpPr>
          <p:cNvPr id="549" name="Rounded Rectangle 3"/>
          <p:cNvSpPr/>
          <p:nvPr/>
        </p:nvSpPr>
        <p:spPr>
          <a:xfrm>
            <a:off x="731520" y="2633400"/>
            <a:ext cx="5257080" cy="3126600"/>
          </a:xfrm>
          <a:prstGeom prst="roundRect">
            <a:avLst>
              <a:gd name="adj" fmla="val 16667"/>
            </a:avLst>
          </a:prstGeom>
          <a:solidFill>
            <a:srgbClr val="1a3d5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ptos"/>
            </a:endParaRPr>
          </a:p>
        </p:txBody>
      </p:sp>
      <p:sp>
        <p:nvSpPr>
          <p:cNvPr id="550" name="TextBox 6"/>
          <p:cNvSpPr/>
          <p:nvPr/>
        </p:nvSpPr>
        <p:spPr>
          <a:xfrm>
            <a:off x="941760" y="2853000"/>
            <a:ext cx="456480" cy="274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8fd9f4"/>
                </a:solidFill>
                <a:latin typeface="Aptos"/>
              </a:rPr>
              <a:t>01</a:t>
            </a:r>
            <a:endParaRPr b="0" lang="en-US" sz="1800" spc="-1" strike="noStrike">
              <a:solidFill>
                <a:srgbClr val="ffffff"/>
              </a:solidFill>
              <a:latin typeface="Arial"/>
            </a:endParaRPr>
          </a:p>
        </p:txBody>
      </p:sp>
      <p:sp>
        <p:nvSpPr>
          <p:cNvPr id="551" name="TextBox 7"/>
          <p:cNvSpPr/>
          <p:nvPr/>
        </p:nvSpPr>
        <p:spPr>
          <a:xfrm>
            <a:off x="1481400" y="2834640"/>
            <a:ext cx="4269600" cy="2894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900" spc="-1" strike="noStrike">
                <a:solidFill>
                  <a:srgbClr val="ffffff"/>
                </a:solidFill>
                <a:latin typeface="Aptos"/>
              </a:rPr>
              <a:t>Enterprise Knowledge Agent</a:t>
            </a:r>
            <a:endParaRPr b="0" lang="en-US" sz="1900" spc="-1" strike="noStrike">
              <a:solidFill>
                <a:srgbClr val="ffffff"/>
              </a:solidFill>
              <a:latin typeface="Arial"/>
            </a:endParaRPr>
          </a:p>
        </p:txBody>
      </p:sp>
      <p:sp>
        <p:nvSpPr>
          <p:cNvPr id="552" name="TextBox 8"/>
          <p:cNvSpPr/>
          <p:nvPr/>
        </p:nvSpPr>
        <p:spPr>
          <a:xfrm>
            <a:off x="1005840" y="3584520"/>
            <a:ext cx="4708440" cy="3967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300" spc="-1" strike="noStrike">
                <a:solidFill>
                  <a:srgbClr val="bfd8e5"/>
                </a:solidFill>
                <a:latin typeface="Aptos"/>
              </a:rPr>
              <a:t>Çalışanların şirket prosedürlerini ve iç dokümanları kaynak göstererek sorgulaması.</a:t>
            </a:r>
            <a:endParaRPr b="0" lang="en-US" sz="1300" spc="-1" strike="noStrike">
              <a:solidFill>
                <a:srgbClr val="ffffff"/>
              </a:solidFill>
              <a:latin typeface="Arial"/>
            </a:endParaRPr>
          </a:p>
        </p:txBody>
      </p:sp>
      <p:sp>
        <p:nvSpPr>
          <p:cNvPr id="553" name="TextBox 10"/>
          <p:cNvSpPr/>
          <p:nvPr/>
        </p:nvSpPr>
        <p:spPr>
          <a:xfrm>
            <a:off x="1005840" y="5276160"/>
            <a:ext cx="4708440" cy="1677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00" spc="-1" strike="noStrike">
                <a:solidFill>
                  <a:srgbClr val="8fd9f4"/>
                </a:solidFill>
                <a:latin typeface="Aptos"/>
              </a:rPr>
              <a:t>RAG  ·  Azure AI Search  ·  Agent</a:t>
            </a:r>
            <a:endParaRPr b="0" lang="en-US" sz="1100" spc="-1" strike="noStrike">
              <a:solidFill>
                <a:srgbClr val="ffffff"/>
              </a:solidFill>
              <a:latin typeface="Arial"/>
            </a:endParaRPr>
          </a:p>
        </p:txBody>
      </p:sp>
      <p:sp>
        <p:nvSpPr>
          <p:cNvPr id="554" name="Rounded Rectangle 4"/>
          <p:cNvSpPr/>
          <p:nvPr/>
        </p:nvSpPr>
        <p:spPr>
          <a:xfrm>
            <a:off x="6199560" y="2633400"/>
            <a:ext cx="5257080" cy="3126600"/>
          </a:xfrm>
          <a:prstGeom prst="roundRect">
            <a:avLst>
              <a:gd name="adj" fmla="val 16667"/>
            </a:avLst>
          </a:prstGeom>
          <a:solidFill>
            <a:srgbClr val="1a3d5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ptos"/>
            </a:endParaRPr>
          </a:p>
        </p:txBody>
      </p:sp>
      <p:sp>
        <p:nvSpPr>
          <p:cNvPr id="555" name="TextBox 11"/>
          <p:cNvSpPr/>
          <p:nvPr/>
        </p:nvSpPr>
        <p:spPr>
          <a:xfrm>
            <a:off x="6409800" y="2853000"/>
            <a:ext cx="456480" cy="274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8fd9f4"/>
                </a:solidFill>
                <a:latin typeface="Aptos"/>
              </a:rPr>
              <a:t>02</a:t>
            </a:r>
            <a:endParaRPr b="0" lang="en-US" sz="1800" spc="-1" strike="noStrike">
              <a:solidFill>
                <a:srgbClr val="ffffff"/>
              </a:solidFill>
              <a:latin typeface="Arial"/>
            </a:endParaRPr>
          </a:p>
        </p:txBody>
      </p:sp>
      <p:sp>
        <p:nvSpPr>
          <p:cNvPr id="556" name="TextBox 12"/>
          <p:cNvSpPr/>
          <p:nvPr/>
        </p:nvSpPr>
        <p:spPr>
          <a:xfrm>
            <a:off x="6949440" y="2834640"/>
            <a:ext cx="4269600" cy="2894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900" spc="-1" strike="noStrike">
                <a:solidFill>
                  <a:srgbClr val="ffffff"/>
                </a:solidFill>
                <a:latin typeface="Aptos"/>
              </a:rPr>
              <a:t>Customer Information Assistant</a:t>
            </a:r>
            <a:endParaRPr b="0" lang="en-US" sz="1900" spc="-1" strike="noStrike">
              <a:solidFill>
                <a:srgbClr val="ffffff"/>
              </a:solidFill>
              <a:latin typeface="Arial"/>
            </a:endParaRPr>
          </a:p>
        </p:txBody>
      </p:sp>
      <p:sp>
        <p:nvSpPr>
          <p:cNvPr id="557" name="TextBox 13"/>
          <p:cNvSpPr/>
          <p:nvPr/>
        </p:nvSpPr>
        <p:spPr>
          <a:xfrm>
            <a:off x="6473880" y="3584520"/>
            <a:ext cx="4708440" cy="3967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300" spc="-1" strike="noStrike">
                <a:solidFill>
                  <a:srgbClr val="bfd8e5"/>
                </a:solidFill>
                <a:latin typeface="Aptos"/>
              </a:rPr>
              <a:t>Web sitesi ziyaretçilerinin hizmetler, ürünler ve şirket hakkında hızlı yanıt alması.</a:t>
            </a:r>
            <a:endParaRPr b="0" lang="en-US" sz="1300" spc="-1" strike="noStrike">
              <a:solidFill>
                <a:srgbClr val="ffffff"/>
              </a:solidFill>
              <a:latin typeface="Arial"/>
            </a:endParaRPr>
          </a:p>
        </p:txBody>
      </p:sp>
      <p:sp>
        <p:nvSpPr>
          <p:cNvPr id="558" name="TextBox 24"/>
          <p:cNvSpPr/>
          <p:nvPr/>
        </p:nvSpPr>
        <p:spPr>
          <a:xfrm>
            <a:off x="6473880" y="5276160"/>
            <a:ext cx="4708440" cy="1677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00" spc="-1" strike="noStrike">
                <a:solidFill>
                  <a:srgbClr val="8fd9f4"/>
                </a:solidFill>
                <a:latin typeface="Aptos"/>
              </a:rPr>
              <a:t>RAG  ·  Web entegrasyonu</a:t>
            </a:r>
            <a:endParaRPr b="0" lang="en-US" sz="1100" spc="-1" strike="noStrike">
              <a:solidFill>
                <a:srgbClr val="ffffff"/>
              </a:solidFill>
              <a:latin typeface="Arial"/>
            </a:endParaRPr>
          </a:p>
        </p:txBody>
      </p:sp>
      <p:sp>
        <p:nvSpPr>
          <p:cNvPr id="559" name="TextBox 26"/>
          <p:cNvSpPr/>
          <p:nvPr/>
        </p:nvSpPr>
        <p:spPr>
          <a:xfrm>
            <a:off x="777240" y="6199560"/>
            <a:ext cx="10789200" cy="1677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100" spc="-1" strike="noStrike">
                <a:solidFill>
                  <a:srgbClr val="bfd8e5"/>
                </a:solidFill>
                <a:latin typeface="Aptos"/>
              </a:rPr>
              <a:t>Örnek kullanım senaryoları  •  Uygulanabilirlik, veri erişimi ve kapsam pilotta netleştirilir.</a:t>
            </a:r>
            <a:endParaRPr b="0" lang="en-US" sz="1100" spc="-1" strike="noStrike">
              <a:solidFill>
                <a:srgbClr val="ffffff"/>
              </a:solidFill>
              <a:latin typeface="Arial"/>
            </a:endParaRPr>
          </a:p>
        </p:txBody>
      </p:sp>
      <p:sp>
        <p:nvSpPr>
          <p:cNvPr id="560" name="Text 3"/>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19/ KULLANIM SENARYOLARI</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b3d"/>
        </a:solidFill>
      </p:bgPr>
    </p:bg>
    <p:spTree>
      <p:nvGrpSpPr>
        <p:cNvPr id="1" name=""/>
        <p:cNvGrpSpPr/>
        <p:nvPr/>
      </p:nvGrpSpPr>
      <p:grpSpPr>
        <a:xfrm>
          <a:off x="0" y="0"/>
          <a:ext cx="0" cy="0"/>
          <a:chOff x="0" y="0"/>
          <a:chExt cx="0" cy="0"/>
        </a:xfrm>
      </p:grpSpPr>
      <p:sp>
        <p:nvSpPr>
          <p:cNvPr id="561" name="TextBox 15"/>
          <p:cNvSpPr/>
          <p:nvPr/>
        </p:nvSpPr>
        <p:spPr>
          <a:xfrm>
            <a:off x="731520" y="1051560"/>
            <a:ext cx="10972080" cy="518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3400" spc="-1" strike="noStrike">
                <a:solidFill>
                  <a:srgbClr val="ffffff"/>
                </a:solidFill>
                <a:latin typeface="Aptos"/>
              </a:rPr>
              <a:t>Veri ve operasyon için AI agent’lar</a:t>
            </a:r>
            <a:endParaRPr b="0" lang="en-US" sz="3400" spc="-1" strike="noStrike">
              <a:solidFill>
                <a:srgbClr val="ffffff"/>
              </a:solidFill>
              <a:latin typeface="Arial"/>
            </a:endParaRPr>
          </a:p>
        </p:txBody>
      </p:sp>
      <p:sp>
        <p:nvSpPr>
          <p:cNvPr id="562" name="TextBox 16"/>
          <p:cNvSpPr/>
          <p:nvPr/>
        </p:nvSpPr>
        <p:spPr>
          <a:xfrm>
            <a:off x="731520" y="1865520"/>
            <a:ext cx="10697760" cy="2592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700" spc="-1" strike="noStrike">
                <a:solidFill>
                  <a:srgbClr val="bfd8e5"/>
                </a:solidFill>
                <a:latin typeface="Aptos"/>
              </a:rPr>
              <a:t>Analiz, izleme ve toplantı takibini hızlandırabilecek üç proje yaklaşımı.</a:t>
            </a:r>
            <a:endParaRPr b="0" lang="en-US" sz="1700" spc="-1" strike="noStrike">
              <a:solidFill>
                <a:srgbClr val="ffffff"/>
              </a:solidFill>
              <a:latin typeface="Arial"/>
            </a:endParaRPr>
          </a:p>
        </p:txBody>
      </p:sp>
      <p:sp>
        <p:nvSpPr>
          <p:cNvPr id="563" name="Rounded Rectangle 5"/>
          <p:cNvSpPr/>
          <p:nvPr/>
        </p:nvSpPr>
        <p:spPr>
          <a:xfrm>
            <a:off x="731520" y="2514600"/>
            <a:ext cx="3474000" cy="3364200"/>
          </a:xfrm>
          <a:prstGeom prst="roundRect">
            <a:avLst>
              <a:gd name="adj" fmla="val 16667"/>
            </a:avLst>
          </a:prstGeom>
          <a:solidFill>
            <a:srgbClr val="1a3d5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ptos"/>
            </a:endParaRPr>
          </a:p>
        </p:txBody>
      </p:sp>
      <p:sp>
        <p:nvSpPr>
          <p:cNvPr id="564" name="TextBox 17"/>
          <p:cNvSpPr/>
          <p:nvPr/>
        </p:nvSpPr>
        <p:spPr>
          <a:xfrm>
            <a:off x="941760" y="2734200"/>
            <a:ext cx="456480" cy="274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8fd9f4"/>
                </a:solidFill>
                <a:latin typeface="Aptos"/>
              </a:rPr>
              <a:t>03</a:t>
            </a:r>
            <a:endParaRPr b="0" lang="en-US" sz="1800" spc="-1" strike="noStrike">
              <a:solidFill>
                <a:srgbClr val="ffffff"/>
              </a:solidFill>
              <a:latin typeface="Arial"/>
            </a:endParaRPr>
          </a:p>
        </p:txBody>
      </p:sp>
      <p:sp>
        <p:nvSpPr>
          <p:cNvPr id="565" name="TextBox 18"/>
          <p:cNvSpPr/>
          <p:nvPr/>
        </p:nvSpPr>
        <p:spPr>
          <a:xfrm>
            <a:off x="1481400" y="2715840"/>
            <a:ext cx="2486520" cy="578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900" spc="-1" strike="noStrike">
                <a:solidFill>
                  <a:srgbClr val="ffffff"/>
                </a:solidFill>
                <a:latin typeface="Aptos"/>
              </a:rPr>
              <a:t>Anomaly Investigation</a:t>
            </a:r>
            <a:endParaRPr b="0" lang="en-US" sz="1900" spc="-1" strike="noStrike">
              <a:solidFill>
                <a:srgbClr val="ffffff"/>
              </a:solidFill>
              <a:latin typeface="Arial"/>
            </a:endParaRPr>
          </a:p>
        </p:txBody>
      </p:sp>
      <p:sp>
        <p:nvSpPr>
          <p:cNvPr id="566" name="TextBox 19"/>
          <p:cNvSpPr/>
          <p:nvPr/>
        </p:nvSpPr>
        <p:spPr>
          <a:xfrm>
            <a:off x="1005840" y="3465720"/>
            <a:ext cx="2925360" cy="3967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300" spc="-1" strike="noStrike">
                <a:solidFill>
                  <a:srgbClr val="bfd8e5"/>
                </a:solidFill>
                <a:latin typeface="Aptos"/>
              </a:rPr>
              <a:t>Veri anomalilerini araştırır; olası nedenleri ve kanıtları raporlar.</a:t>
            </a:r>
            <a:endParaRPr b="0" lang="en-US" sz="1300" spc="-1" strike="noStrike">
              <a:solidFill>
                <a:srgbClr val="ffffff"/>
              </a:solidFill>
              <a:latin typeface="Arial"/>
            </a:endParaRPr>
          </a:p>
        </p:txBody>
      </p:sp>
      <p:sp>
        <p:nvSpPr>
          <p:cNvPr id="567" name="TextBox 34"/>
          <p:cNvSpPr/>
          <p:nvPr/>
        </p:nvSpPr>
        <p:spPr>
          <a:xfrm>
            <a:off x="1005840" y="5394960"/>
            <a:ext cx="2925360" cy="1677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00" spc="-1" strike="noStrike">
                <a:solidFill>
                  <a:srgbClr val="8fd9f4"/>
                </a:solidFill>
                <a:latin typeface="Aptos"/>
              </a:rPr>
              <a:t>Fabric  ·  SQL  ·  Tool Calling</a:t>
            </a:r>
            <a:endParaRPr b="0" lang="en-US" sz="1100" spc="-1" strike="noStrike">
              <a:solidFill>
                <a:srgbClr val="ffffff"/>
              </a:solidFill>
              <a:latin typeface="Arial"/>
            </a:endParaRPr>
          </a:p>
        </p:txBody>
      </p:sp>
      <p:sp>
        <p:nvSpPr>
          <p:cNvPr id="568" name="Rounded Rectangle 6"/>
          <p:cNvSpPr/>
          <p:nvPr/>
        </p:nvSpPr>
        <p:spPr>
          <a:xfrm>
            <a:off x="4361760" y="2514600"/>
            <a:ext cx="3474000" cy="3364200"/>
          </a:xfrm>
          <a:prstGeom prst="roundRect">
            <a:avLst>
              <a:gd name="adj" fmla="val 16667"/>
            </a:avLst>
          </a:prstGeom>
          <a:solidFill>
            <a:srgbClr val="1a3d5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ptos"/>
            </a:endParaRPr>
          </a:p>
        </p:txBody>
      </p:sp>
      <p:sp>
        <p:nvSpPr>
          <p:cNvPr id="569" name="TextBox 35"/>
          <p:cNvSpPr/>
          <p:nvPr/>
        </p:nvSpPr>
        <p:spPr>
          <a:xfrm>
            <a:off x="4572000" y="2734200"/>
            <a:ext cx="456480" cy="274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8fd9f4"/>
                </a:solidFill>
                <a:latin typeface="Aptos"/>
              </a:rPr>
              <a:t>04</a:t>
            </a:r>
            <a:endParaRPr b="0" lang="en-US" sz="1800" spc="-1" strike="noStrike">
              <a:solidFill>
                <a:srgbClr val="ffffff"/>
              </a:solidFill>
              <a:latin typeface="Arial"/>
            </a:endParaRPr>
          </a:p>
        </p:txBody>
      </p:sp>
      <p:sp>
        <p:nvSpPr>
          <p:cNvPr id="570" name="TextBox 36"/>
          <p:cNvSpPr/>
          <p:nvPr/>
        </p:nvSpPr>
        <p:spPr>
          <a:xfrm>
            <a:off x="5111640" y="2715840"/>
            <a:ext cx="2486520" cy="578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900" spc="-1" strike="noStrike">
                <a:solidFill>
                  <a:srgbClr val="ffffff"/>
                </a:solidFill>
                <a:latin typeface="Aptos"/>
              </a:rPr>
              <a:t>Pipeline Incident Agent</a:t>
            </a:r>
            <a:endParaRPr b="0" lang="en-US" sz="1900" spc="-1" strike="noStrike">
              <a:solidFill>
                <a:srgbClr val="ffffff"/>
              </a:solidFill>
              <a:latin typeface="Arial"/>
            </a:endParaRPr>
          </a:p>
        </p:txBody>
      </p:sp>
      <p:sp>
        <p:nvSpPr>
          <p:cNvPr id="571" name="TextBox 37"/>
          <p:cNvSpPr/>
          <p:nvPr/>
        </p:nvSpPr>
        <p:spPr>
          <a:xfrm>
            <a:off x="4636080" y="3465720"/>
            <a:ext cx="2925360" cy="3967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300" spc="-1" strike="noStrike">
                <a:solidFill>
                  <a:srgbClr val="bfd8e5"/>
                </a:solidFill>
                <a:latin typeface="Aptos"/>
              </a:rPr>
              <a:t>Başarısız ETL işlerini, logları ve hata kaynaklarını inceler.</a:t>
            </a:r>
            <a:endParaRPr b="0" lang="en-US" sz="1300" spc="-1" strike="noStrike">
              <a:solidFill>
                <a:srgbClr val="ffffff"/>
              </a:solidFill>
              <a:latin typeface="Arial"/>
            </a:endParaRPr>
          </a:p>
        </p:txBody>
      </p:sp>
      <p:sp>
        <p:nvSpPr>
          <p:cNvPr id="572" name="TextBox 38"/>
          <p:cNvSpPr/>
          <p:nvPr/>
        </p:nvSpPr>
        <p:spPr>
          <a:xfrm>
            <a:off x="4636080" y="5394960"/>
            <a:ext cx="2925360" cy="1677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00" spc="-1" strike="noStrike">
                <a:solidFill>
                  <a:srgbClr val="8fd9f4"/>
                </a:solidFill>
                <a:latin typeface="Aptos"/>
              </a:rPr>
              <a:t>Databricks  ·  Log API  ·  Agent</a:t>
            </a:r>
            <a:endParaRPr b="0" lang="en-US" sz="1100" spc="-1" strike="noStrike">
              <a:solidFill>
                <a:srgbClr val="ffffff"/>
              </a:solidFill>
              <a:latin typeface="Arial"/>
            </a:endParaRPr>
          </a:p>
        </p:txBody>
      </p:sp>
      <p:sp>
        <p:nvSpPr>
          <p:cNvPr id="573" name="Rounded Rectangle 7"/>
          <p:cNvSpPr/>
          <p:nvPr/>
        </p:nvSpPr>
        <p:spPr>
          <a:xfrm>
            <a:off x="7982640" y="2514600"/>
            <a:ext cx="3474000" cy="3364200"/>
          </a:xfrm>
          <a:prstGeom prst="roundRect">
            <a:avLst>
              <a:gd name="adj" fmla="val 16667"/>
            </a:avLst>
          </a:prstGeom>
          <a:solidFill>
            <a:srgbClr val="1a3d5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ptos"/>
            </a:endParaRPr>
          </a:p>
        </p:txBody>
      </p:sp>
      <p:sp>
        <p:nvSpPr>
          <p:cNvPr id="574" name="TextBox 39"/>
          <p:cNvSpPr/>
          <p:nvPr/>
        </p:nvSpPr>
        <p:spPr>
          <a:xfrm>
            <a:off x="8192880" y="2734200"/>
            <a:ext cx="456480" cy="2743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800" spc="-1" strike="noStrike">
                <a:solidFill>
                  <a:srgbClr val="8fd9f4"/>
                </a:solidFill>
                <a:latin typeface="Aptos"/>
              </a:rPr>
              <a:t>05</a:t>
            </a:r>
            <a:endParaRPr b="0" lang="en-US" sz="1800" spc="-1" strike="noStrike">
              <a:solidFill>
                <a:srgbClr val="ffffff"/>
              </a:solidFill>
              <a:latin typeface="Arial"/>
            </a:endParaRPr>
          </a:p>
        </p:txBody>
      </p:sp>
      <p:sp>
        <p:nvSpPr>
          <p:cNvPr id="575" name="TextBox 40"/>
          <p:cNvSpPr/>
          <p:nvPr/>
        </p:nvSpPr>
        <p:spPr>
          <a:xfrm>
            <a:off x="8732520" y="2715840"/>
            <a:ext cx="2486520" cy="578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900" spc="-1" strike="noStrike">
                <a:solidFill>
                  <a:srgbClr val="ffffff"/>
                </a:solidFill>
                <a:latin typeface="Aptos"/>
              </a:rPr>
              <a:t>Meeting &amp; Action Agent</a:t>
            </a:r>
            <a:endParaRPr b="0" lang="en-US" sz="1900" spc="-1" strike="noStrike">
              <a:solidFill>
                <a:srgbClr val="ffffff"/>
              </a:solidFill>
              <a:latin typeface="Arial"/>
            </a:endParaRPr>
          </a:p>
        </p:txBody>
      </p:sp>
      <p:sp>
        <p:nvSpPr>
          <p:cNvPr id="576" name="TextBox 41"/>
          <p:cNvSpPr/>
          <p:nvPr/>
        </p:nvSpPr>
        <p:spPr>
          <a:xfrm>
            <a:off x="8256960" y="3465720"/>
            <a:ext cx="2925360" cy="3967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300" spc="-1" strike="noStrike">
                <a:solidFill>
                  <a:srgbClr val="bfd8e5"/>
                </a:solidFill>
                <a:latin typeface="Aptos"/>
              </a:rPr>
              <a:t>Toplantı notlarından kararları, görevleri ve sorumluları çıkarır.</a:t>
            </a:r>
            <a:endParaRPr b="0" lang="en-US" sz="1300" spc="-1" strike="noStrike">
              <a:solidFill>
                <a:srgbClr val="ffffff"/>
              </a:solidFill>
              <a:latin typeface="Arial"/>
            </a:endParaRPr>
          </a:p>
        </p:txBody>
      </p:sp>
      <p:sp>
        <p:nvSpPr>
          <p:cNvPr id="577" name="TextBox 42"/>
          <p:cNvSpPr/>
          <p:nvPr/>
        </p:nvSpPr>
        <p:spPr>
          <a:xfrm>
            <a:off x="8256960" y="5394960"/>
            <a:ext cx="2925360" cy="16776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100" spc="-1" strike="noStrike">
                <a:solidFill>
                  <a:srgbClr val="8fd9f4"/>
                </a:solidFill>
                <a:latin typeface="Aptos"/>
              </a:rPr>
              <a:t>Structured Output  ·  Graph API</a:t>
            </a:r>
            <a:endParaRPr b="0" lang="en-US" sz="1100" spc="-1" strike="noStrike">
              <a:solidFill>
                <a:srgbClr val="ffffff"/>
              </a:solidFill>
              <a:latin typeface="Arial"/>
            </a:endParaRPr>
          </a:p>
        </p:txBody>
      </p:sp>
      <p:sp>
        <p:nvSpPr>
          <p:cNvPr id="578" name="TextBox 43"/>
          <p:cNvSpPr/>
          <p:nvPr/>
        </p:nvSpPr>
        <p:spPr>
          <a:xfrm>
            <a:off x="777240" y="6236280"/>
            <a:ext cx="10789200" cy="18288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200" spc="-1" strike="noStrike">
                <a:solidFill>
                  <a:srgbClr val="8fd9f4"/>
                </a:solidFill>
                <a:latin typeface="Aptos"/>
              </a:rPr>
              <a:t>Fikirden pilota: kullanım senaryosu → veri ve erişim → MVP → değerlendirme</a:t>
            </a:r>
            <a:endParaRPr b="0" lang="en-US" sz="1200" spc="-1" strike="noStrike">
              <a:solidFill>
                <a:srgbClr val="ffffff"/>
              </a:solidFill>
              <a:latin typeface="Arial"/>
            </a:endParaRPr>
          </a:p>
        </p:txBody>
      </p:sp>
      <p:sp>
        <p:nvSpPr>
          <p:cNvPr id="579" name="Text 38"/>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20/ KULLANIM SENARYOLARI</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a"/>
        </a:solidFill>
      </p:bgPr>
    </p:bg>
    <p:spTree>
      <p:nvGrpSpPr>
        <p:cNvPr id="1" name=""/>
        <p:cNvGrpSpPr/>
        <p:nvPr/>
      </p:nvGrpSpPr>
      <p:grpSpPr>
        <a:xfrm>
          <a:off x="0" y="0"/>
          <a:ext cx="0" cy="0"/>
          <a:chOff x="0" y="0"/>
          <a:chExt cx="0" cy="0"/>
        </a:xfrm>
      </p:grpSpPr>
      <p:sp>
        <p:nvSpPr>
          <p:cNvPr id="580" name="Text 0"/>
          <p:cNvSpPr/>
          <p:nvPr/>
        </p:nvSpPr>
        <p:spPr>
          <a:xfrm>
            <a:off x="640080" y="438840"/>
            <a:ext cx="6399720" cy="254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1" strike="noStrike">
                <a:solidFill>
                  <a:srgbClr val="0078d4"/>
                </a:solidFill>
                <a:latin typeface="Aptos"/>
                <a:ea typeface="Aptos"/>
              </a:rPr>
              <a:t>EK / KAYNAKLAR</a:t>
            </a:r>
            <a:endParaRPr b="0" lang="en-US" sz="1000" spc="-1" strike="noStrike">
              <a:solidFill>
                <a:srgbClr val="000000"/>
              </a:solidFill>
              <a:latin typeface="Arial"/>
            </a:endParaRPr>
          </a:p>
        </p:txBody>
      </p:sp>
      <p:sp>
        <p:nvSpPr>
          <p:cNvPr id="581" name="Text 1"/>
          <p:cNvSpPr/>
          <p:nvPr/>
        </p:nvSpPr>
        <p:spPr>
          <a:xfrm>
            <a:off x="640080" y="914400"/>
            <a:ext cx="10926000" cy="639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152632"/>
                </a:solidFill>
                <a:latin typeface="Aptos"/>
                <a:ea typeface="Aptos"/>
              </a:rPr>
              <a:t>Bu sunumun dayandığı kaynaklar.</a:t>
            </a:r>
            <a:endParaRPr b="0" lang="en-US" sz="2900" spc="-1" strike="noStrike">
              <a:solidFill>
                <a:srgbClr val="000000"/>
              </a:solidFill>
              <a:latin typeface="Arial"/>
            </a:endParaRPr>
          </a:p>
        </p:txBody>
      </p:sp>
      <p:sp>
        <p:nvSpPr>
          <p:cNvPr id="582" name="Text 2"/>
          <p:cNvSpPr/>
          <p:nvPr/>
        </p:nvSpPr>
        <p:spPr>
          <a:xfrm>
            <a:off x="649080" y="1627560"/>
            <a:ext cx="10651680" cy="392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pc="-1" strike="noStrike">
                <a:solidFill>
                  <a:srgbClr val="536775"/>
                </a:solidFill>
                <a:latin typeface="Aptos"/>
                <a:ea typeface="Aptos"/>
              </a:rPr>
              <a:t>Ürün kapsamı ve preview durumları değişebilir; teklif öncesinde yeniden doğrulanmalıdır.</a:t>
            </a:r>
            <a:endParaRPr b="0" lang="en-US" sz="1500" spc="-1" strike="noStrike">
              <a:solidFill>
                <a:srgbClr val="000000"/>
              </a:solidFill>
              <a:latin typeface="Arial"/>
            </a:endParaRPr>
          </a:p>
        </p:txBody>
      </p:sp>
      <p:sp>
        <p:nvSpPr>
          <p:cNvPr id="583" name="Shape 3"/>
          <p:cNvSpPr/>
          <p:nvPr/>
        </p:nvSpPr>
        <p:spPr>
          <a:xfrm>
            <a:off x="640080" y="6455520"/>
            <a:ext cx="10899360" cy="360"/>
          </a:xfrm>
          <a:prstGeom prst="line">
            <a:avLst/>
          </a:prstGeom>
          <a:ln w="8890">
            <a:solidFill>
              <a:srgbClr val="c9d6de"/>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584" name="Text 4"/>
          <p:cNvSpPr/>
          <p:nvPr/>
        </p:nvSpPr>
        <p:spPr>
          <a:xfrm>
            <a:off x="649080" y="6510600"/>
            <a:ext cx="4570920" cy="15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63" strike="noStrike">
                <a:solidFill>
                  <a:srgbClr val="82939c"/>
                </a:solidFill>
                <a:latin typeface="Aptos"/>
                <a:ea typeface="Aptos"/>
              </a:rPr>
              <a:t>ENSIGHT  /  MICROSOFT FOUNDRY</a:t>
            </a:r>
            <a:endParaRPr b="0" lang="en-US" sz="900" spc="-1" strike="noStrike">
              <a:solidFill>
                <a:srgbClr val="000000"/>
              </a:solidFill>
              <a:latin typeface="Arial"/>
            </a:endParaRPr>
          </a:p>
        </p:txBody>
      </p:sp>
      <p:sp>
        <p:nvSpPr>
          <p:cNvPr id="585" name="Text 5"/>
          <p:cNvSpPr/>
          <p:nvPr/>
        </p:nvSpPr>
        <p:spPr>
          <a:xfrm>
            <a:off x="5760720" y="6510600"/>
            <a:ext cx="5028120" cy="1544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endParaRPr b="0" lang="en-US" sz="1800" spc="-1" strike="noStrike">
              <a:solidFill>
                <a:srgbClr val="000000"/>
              </a:solidFill>
              <a:latin typeface="Arial"/>
            </a:endParaRPr>
          </a:p>
        </p:txBody>
      </p:sp>
      <p:sp>
        <p:nvSpPr>
          <p:cNvPr id="586" name="Text 6"/>
          <p:cNvSpPr/>
          <p:nvPr/>
        </p:nvSpPr>
        <p:spPr>
          <a:xfrm>
            <a:off x="11027520" y="6492240"/>
            <a:ext cx="456120" cy="181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pc="-1" strike="noStrike">
                <a:solidFill>
                  <a:srgbClr val="82939c"/>
                </a:solidFill>
                <a:latin typeface="Aptos"/>
                <a:ea typeface="Aptos"/>
              </a:rPr>
              <a:t>22</a:t>
            </a:r>
            <a:endParaRPr b="0" lang="en-US" sz="1000" spc="-1" strike="noStrike">
              <a:solidFill>
                <a:srgbClr val="000000"/>
              </a:solidFill>
              <a:latin typeface="Arial"/>
            </a:endParaRPr>
          </a:p>
        </p:txBody>
      </p:sp>
      <p:sp>
        <p:nvSpPr>
          <p:cNvPr id="587" name="Shape 7"/>
          <p:cNvSpPr/>
          <p:nvPr/>
        </p:nvSpPr>
        <p:spPr>
          <a:xfrm>
            <a:off x="722520" y="21488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88" name="Text 8">
            <a:hlinkClick r:id="rId1"/>
          </p:cNvPr>
          <p:cNvSpPr/>
          <p:nvPr/>
        </p:nvSpPr>
        <p:spPr>
          <a:xfrm>
            <a:off x="905400" y="22492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2"/>
              </a:rPr>
              <a:t>[1] Microsoft Foundry Overview</a:t>
            </a:r>
            <a:endParaRPr b="0" lang="en-US" sz="1400" spc="-1" strike="noStrike">
              <a:solidFill>
                <a:srgbClr val="000000"/>
              </a:solidFill>
              <a:latin typeface="Arial"/>
            </a:endParaRPr>
          </a:p>
        </p:txBody>
      </p:sp>
      <p:sp>
        <p:nvSpPr>
          <p:cNvPr id="589" name="Text 9">
            <a:hlinkClick r:id="rId3"/>
          </p:cNvPr>
          <p:cNvSpPr/>
          <p:nvPr/>
        </p:nvSpPr>
        <p:spPr>
          <a:xfrm>
            <a:off x="5541120" y="22402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4"/>
              </a:rPr>
              <a:t>↗</a:t>
            </a:r>
            <a:endParaRPr b="0" lang="en-US" sz="1600" spc="-1" strike="noStrike">
              <a:solidFill>
                <a:srgbClr val="000000"/>
              </a:solidFill>
              <a:latin typeface="Arial"/>
            </a:endParaRPr>
          </a:p>
        </p:txBody>
      </p:sp>
      <p:sp>
        <p:nvSpPr>
          <p:cNvPr id="590" name="Shape 10"/>
          <p:cNvSpPr/>
          <p:nvPr/>
        </p:nvSpPr>
        <p:spPr>
          <a:xfrm>
            <a:off x="722520" y="28346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91" name="Text 11">
            <a:hlinkClick r:id="rId5"/>
          </p:cNvPr>
          <p:cNvSpPr/>
          <p:nvPr/>
        </p:nvSpPr>
        <p:spPr>
          <a:xfrm>
            <a:off x="905400" y="29350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6"/>
              </a:rPr>
              <a:t>[2] Microsoft Foundry Agent Service</a:t>
            </a:r>
            <a:endParaRPr b="0" lang="en-US" sz="1400" spc="-1" strike="noStrike">
              <a:solidFill>
                <a:srgbClr val="000000"/>
              </a:solidFill>
              <a:latin typeface="Arial"/>
            </a:endParaRPr>
          </a:p>
        </p:txBody>
      </p:sp>
      <p:sp>
        <p:nvSpPr>
          <p:cNvPr id="592" name="Text 12">
            <a:hlinkClick r:id="rId7"/>
          </p:cNvPr>
          <p:cNvSpPr/>
          <p:nvPr/>
        </p:nvSpPr>
        <p:spPr>
          <a:xfrm>
            <a:off x="5541120" y="29260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8"/>
              </a:rPr>
              <a:t>↗</a:t>
            </a:r>
            <a:endParaRPr b="0" lang="en-US" sz="1600" spc="-1" strike="noStrike">
              <a:solidFill>
                <a:srgbClr val="000000"/>
              </a:solidFill>
              <a:latin typeface="Arial"/>
            </a:endParaRPr>
          </a:p>
        </p:txBody>
      </p:sp>
      <p:sp>
        <p:nvSpPr>
          <p:cNvPr id="593" name="Shape 13"/>
          <p:cNvSpPr/>
          <p:nvPr/>
        </p:nvSpPr>
        <p:spPr>
          <a:xfrm>
            <a:off x="722520" y="35204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94" name="Text 14">
            <a:hlinkClick r:id="rId9"/>
          </p:cNvPr>
          <p:cNvSpPr/>
          <p:nvPr/>
        </p:nvSpPr>
        <p:spPr>
          <a:xfrm>
            <a:off x="905400" y="36208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10"/>
              </a:rPr>
              <a:t>[3] Deployment Overview</a:t>
            </a:r>
            <a:endParaRPr b="0" lang="en-US" sz="1400" spc="-1" strike="noStrike">
              <a:solidFill>
                <a:srgbClr val="000000"/>
              </a:solidFill>
              <a:latin typeface="Arial"/>
            </a:endParaRPr>
          </a:p>
        </p:txBody>
      </p:sp>
      <p:sp>
        <p:nvSpPr>
          <p:cNvPr id="595" name="Text 15">
            <a:hlinkClick r:id="rId11"/>
          </p:cNvPr>
          <p:cNvSpPr/>
          <p:nvPr/>
        </p:nvSpPr>
        <p:spPr>
          <a:xfrm>
            <a:off x="5541120" y="36118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12"/>
              </a:rPr>
              <a:t>↗</a:t>
            </a:r>
            <a:endParaRPr b="0" lang="en-US" sz="1600" spc="-1" strike="noStrike">
              <a:solidFill>
                <a:srgbClr val="000000"/>
              </a:solidFill>
              <a:latin typeface="Arial"/>
            </a:endParaRPr>
          </a:p>
        </p:txBody>
      </p:sp>
      <p:sp>
        <p:nvSpPr>
          <p:cNvPr id="596" name="Shape 16"/>
          <p:cNvSpPr/>
          <p:nvPr/>
        </p:nvSpPr>
        <p:spPr>
          <a:xfrm>
            <a:off x="722520" y="42062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97" name="Text 17">
            <a:hlinkClick r:id="rId13"/>
          </p:cNvPr>
          <p:cNvSpPr/>
          <p:nvPr/>
        </p:nvSpPr>
        <p:spPr>
          <a:xfrm>
            <a:off x="905400" y="43066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14"/>
              </a:rPr>
              <a:t>[4] Foundry IQ FAQ</a:t>
            </a:r>
            <a:endParaRPr b="0" lang="en-US" sz="1400" spc="-1" strike="noStrike">
              <a:solidFill>
                <a:srgbClr val="000000"/>
              </a:solidFill>
              <a:latin typeface="Arial"/>
            </a:endParaRPr>
          </a:p>
        </p:txBody>
      </p:sp>
      <p:sp>
        <p:nvSpPr>
          <p:cNvPr id="598" name="Text 18">
            <a:hlinkClick r:id="rId15"/>
          </p:cNvPr>
          <p:cNvSpPr/>
          <p:nvPr/>
        </p:nvSpPr>
        <p:spPr>
          <a:xfrm>
            <a:off x="5541120" y="42976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16"/>
              </a:rPr>
              <a:t>↗</a:t>
            </a:r>
            <a:endParaRPr b="0" lang="en-US" sz="1600" spc="-1" strike="noStrike">
              <a:solidFill>
                <a:srgbClr val="000000"/>
              </a:solidFill>
              <a:latin typeface="Arial"/>
            </a:endParaRPr>
          </a:p>
        </p:txBody>
      </p:sp>
      <p:sp>
        <p:nvSpPr>
          <p:cNvPr id="599" name="Shape 19"/>
          <p:cNvSpPr/>
          <p:nvPr/>
        </p:nvSpPr>
        <p:spPr>
          <a:xfrm>
            <a:off x="722520" y="48920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00" name="Text 20">
            <a:hlinkClick r:id="rId17"/>
          </p:cNvPr>
          <p:cNvSpPr/>
          <p:nvPr/>
        </p:nvSpPr>
        <p:spPr>
          <a:xfrm>
            <a:off x="905400" y="49924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18"/>
              </a:rPr>
              <a:t>[5] Tools &amp; Web Search</a:t>
            </a:r>
            <a:endParaRPr b="0" lang="en-US" sz="1400" spc="-1" strike="noStrike">
              <a:solidFill>
                <a:srgbClr val="000000"/>
              </a:solidFill>
              <a:latin typeface="Arial"/>
            </a:endParaRPr>
          </a:p>
        </p:txBody>
      </p:sp>
      <p:sp>
        <p:nvSpPr>
          <p:cNvPr id="601" name="Text 21">
            <a:hlinkClick r:id="rId19"/>
          </p:cNvPr>
          <p:cNvSpPr/>
          <p:nvPr/>
        </p:nvSpPr>
        <p:spPr>
          <a:xfrm>
            <a:off x="5541120" y="49834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20"/>
              </a:rPr>
              <a:t>↗</a:t>
            </a:r>
            <a:endParaRPr b="0" lang="en-US" sz="1600" spc="-1" strike="noStrike">
              <a:solidFill>
                <a:srgbClr val="000000"/>
              </a:solidFill>
              <a:latin typeface="Arial"/>
            </a:endParaRPr>
          </a:p>
        </p:txBody>
      </p:sp>
      <p:sp>
        <p:nvSpPr>
          <p:cNvPr id="602" name="Shape 22"/>
          <p:cNvSpPr/>
          <p:nvPr/>
        </p:nvSpPr>
        <p:spPr>
          <a:xfrm>
            <a:off x="6336720" y="21488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03" name="Text 23">
            <a:hlinkClick r:id="rId21"/>
          </p:cNvPr>
          <p:cNvSpPr/>
          <p:nvPr/>
        </p:nvSpPr>
        <p:spPr>
          <a:xfrm>
            <a:off x="6519600" y="22492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22"/>
              </a:rPr>
              <a:t>[6] Evaluate your AI agents</a:t>
            </a:r>
            <a:endParaRPr b="0" lang="en-US" sz="1400" spc="-1" strike="noStrike">
              <a:solidFill>
                <a:srgbClr val="000000"/>
              </a:solidFill>
              <a:latin typeface="Arial"/>
            </a:endParaRPr>
          </a:p>
        </p:txBody>
      </p:sp>
      <p:sp>
        <p:nvSpPr>
          <p:cNvPr id="604" name="Text 24">
            <a:hlinkClick r:id="rId23"/>
          </p:cNvPr>
          <p:cNvSpPr/>
          <p:nvPr/>
        </p:nvSpPr>
        <p:spPr>
          <a:xfrm>
            <a:off x="11155680" y="22402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24"/>
              </a:rPr>
              <a:t>↗</a:t>
            </a:r>
            <a:endParaRPr b="0" lang="en-US" sz="1600" spc="-1" strike="noStrike">
              <a:solidFill>
                <a:srgbClr val="000000"/>
              </a:solidFill>
              <a:latin typeface="Arial"/>
            </a:endParaRPr>
          </a:p>
        </p:txBody>
      </p:sp>
      <p:sp>
        <p:nvSpPr>
          <p:cNvPr id="605" name="Shape 25"/>
          <p:cNvSpPr/>
          <p:nvPr/>
        </p:nvSpPr>
        <p:spPr>
          <a:xfrm>
            <a:off x="6336720" y="28346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06" name="Text 26">
            <a:hlinkClick r:id="rId25"/>
          </p:cNvPr>
          <p:cNvSpPr/>
          <p:nvPr/>
        </p:nvSpPr>
        <p:spPr>
          <a:xfrm>
            <a:off x="6519600" y="29350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26"/>
              </a:rPr>
              <a:t>[7] Configure tracing</a:t>
            </a:r>
            <a:endParaRPr b="0" lang="en-US" sz="1400" spc="-1" strike="noStrike">
              <a:solidFill>
                <a:srgbClr val="000000"/>
              </a:solidFill>
              <a:latin typeface="Arial"/>
            </a:endParaRPr>
          </a:p>
        </p:txBody>
      </p:sp>
      <p:sp>
        <p:nvSpPr>
          <p:cNvPr id="607" name="Text 27">
            <a:hlinkClick r:id="rId27"/>
          </p:cNvPr>
          <p:cNvSpPr/>
          <p:nvPr/>
        </p:nvSpPr>
        <p:spPr>
          <a:xfrm>
            <a:off x="11155680" y="29260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28"/>
              </a:rPr>
              <a:t>↗</a:t>
            </a:r>
            <a:endParaRPr b="0" lang="en-US" sz="1600" spc="-1" strike="noStrike">
              <a:solidFill>
                <a:srgbClr val="000000"/>
              </a:solidFill>
              <a:latin typeface="Arial"/>
            </a:endParaRPr>
          </a:p>
        </p:txBody>
      </p:sp>
      <p:sp>
        <p:nvSpPr>
          <p:cNvPr id="608" name="Shape 28"/>
          <p:cNvSpPr/>
          <p:nvPr/>
        </p:nvSpPr>
        <p:spPr>
          <a:xfrm>
            <a:off x="6336720" y="35204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09" name="Text 29">
            <a:hlinkClick r:id="rId29"/>
          </p:cNvPr>
          <p:cNvSpPr/>
          <p:nvPr/>
        </p:nvSpPr>
        <p:spPr>
          <a:xfrm>
            <a:off x="6519600" y="36208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30"/>
              </a:rPr>
              <a:t>[8] Microsoft Copilot Studio</a:t>
            </a:r>
            <a:endParaRPr b="0" lang="en-US" sz="1400" spc="-1" strike="noStrike">
              <a:solidFill>
                <a:srgbClr val="000000"/>
              </a:solidFill>
              <a:latin typeface="Arial"/>
            </a:endParaRPr>
          </a:p>
        </p:txBody>
      </p:sp>
      <p:sp>
        <p:nvSpPr>
          <p:cNvPr id="610" name="Text 30">
            <a:hlinkClick r:id="rId31"/>
          </p:cNvPr>
          <p:cNvSpPr/>
          <p:nvPr/>
        </p:nvSpPr>
        <p:spPr>
          <a:xfrm>
            <a:off x="11155680" y="36118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32"/>
              </a:rPr>
              <a:t>↗</a:t>
            </a:r>
            <a:endParaRPr b="0" lang="en-US" sz="1600" spc="-1" strike="noStrike">
              <a:solidFill>
                <a:srgbClr val="000000"/>
              </a:solidFill>
              <a:latin typeface="Arial"/>
            </a:endParaRPr>
          </a:p>
        </p:txBody>
      </p:sp>
      <p:sp>
        <p:nvSpPr>
          <p:cNvPr id="611" name="Shape 31"/>
          <p:cNvSpPr/>
          <p:nvPr/>
        </p:nvSpPr>
        <p:spPr>
          <a:xfrm>
            <a:off x="6336720" y="42062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12" name="Text 32">
            <a:hlinkClick r:id="rId33"/>
          </p:cNvPr>
          <p:cNvSpPr/>
          <p:nvPr/>
        </p:nvSpPr>
        <p:spPr>
          <a:xfrm>
            <a:off x="6519600" y="43066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u="sng">
                <a:solidFill>
                  <a:srgbClr val="0563c1"/>
                </a:solidFill>
                <a:uFillTx/>
                <a:latin typeface="Aptos"/>
                <a:ea typeface="Aptos"/>
                <a:hlinkClick r:id="rId34"/>
              </a:rPr>
              <a:t>[9] Ensight / Hakkımızda</a:t>
            </a:r>
            <a:endParaRPr b="0" lang="en-US" sz="1400" spc="-1" strike="noStrike">
              <a:solidFill>
                <a:srgbClr val="000000"/>
              </a:solidFill>
              <a:latin typeface="Arial"/>
            </a:endParaRPr>
          </a:p>
        </p:txBody>
      </p:sp>
      <p:sp>
        <p:nvSpPr>
          <p:cNvPr id="613" name="Text 33">
            <a:hlinkClick r:id="rId35"/>
          </p:cNvPr>
          <p:cNvSpPr/>
          <p:nvPr/>
        </p:nvSpPr>
        <p:spPr>
          <a:xfrm>
            <a:off x="11155680" y="42976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36"/>
              </a:rPr>
              <a:t>↗</a:t>
            </a:r>
            <a:endParaRPr b="0" lang="en-US" sz="1600" spc="-1" strike="noStrike">
              <a:solidFill>
                <a:srgbClr val="000000"/>
              </a:solidFill>
              <a:latin typeface="Arial"/>
            </a:endParaRPr>
          </a:p>
        </p:txBody>
      </p:sp>
      <p:sp>
        <p:nvSpPr>
          <p:cNvPr id="614" name="Shape 34"/>
          <p:cNvSpPr/>
          <p:nvPr/>
        </p:nvSpPr>
        <p:spPr>
          <a:xfrm>
            <a:off x="6336720" y="4892040"/>
            <a:ext cx="5402880" cy="556560"/>
          </a:xfrm>
          <a:prstGeom prst="roundRect">
            <a:avLst>
              <a:gd name="adj" fmla="val 19672"/>
            </a:avLst>
          </a:prstGeom>
          <a:solidFill>
            <a:srgbClr val="ffffff"/>
          </a:solidFill>
          <a:ln w="10160">
            <a:solidFill>
              <a:srgbClr val="dbe4e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15" name="Text 35">
            <a:hlinkClick r:id="rId37"/>
          </p:cNvPr>
          <p:cNvSpPr/>
          <p:nvPr/>
        </p:nvSpPr>
        <p:spPr>
          <a:xfrm>
            <a:off x="6519600" y="4992480"/>
            <a:ext cx="4342320" cy="309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pc="-1" strike="noStrike" u="sng">
                <a:solidFill>
                  <a:srgbClr val="0563c1"/>
                </a:solidFill>
                <a:uFillTx/>
                <a:latin typeface="Aptos"/>
                <a:ea typeface="Aptos"/>
                <a:hlinkClick r:id="rId38"/>
              </a:rPr>
              <a:t>VIDEO  Inside Microsoft Foundry</a:t>
            </a:r>
            <a:endParaRPr b="0" lang="en-US" sz="1400" spc="-1" strike="noStrike">
              <a:solidFill>
                <a:srgbClr val="000000"/>
              </a:solidFill>
              <a:latin typeface="Arial"/>
            </a:endParaRPr>
          </a:p>
        </p:txBody>
      </p:sp>
      <p:sp>
        <p:nvSpPr>
          <p:cNvPr id="616" name="Text 36">
            <a:hlinkClick r:id="rId39"/>
          </p:cNvPr>
          <p:cNvSpPr/>
          <p:nvPr/>
        </p:nvSpPr>
        <p:spPr>
          <a:xfrm>
            <a:off x="11155680" y="4983480"/>
            <a:ext cx="227520" cy="291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u="sng">
                <a:solidFill>
                  <a:srgbClr val="0563c1"/>
                </a:solidFill>
                <a:uFillTx/>
                <a:latin typeface="Aptos"/>
                <a:ea typeface="Aptos"/>
                <a:hlinkClick r:id="rId40"/>
              </a:rPr>
              <a: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331"/>
        </a:solidFill>
      </p:bgPr>
    </p:bg>
    <p:spTree>
      <p:nvGrpSpPr>
        <p:cNvPr id="1" name=""/>
        <p:cNvGrpSpPr/>
        <p:nvPr/>
      </p:nvGrpSpPr>
      <p:grpSpPr>
        <a:xfrm>
          <a:off x="0" y="0"/>
          <a:ext cx="0" cy="0"/>
          <a:chOff x="0" y="0"/>
          <a:chExt cx="0" cy="0"/>
        </a:xfrm>
      </p:grpSpPr>
      <p:sp>
        <p:nvSpPr>
          <p:cNvPr id="617" name="Shape 6"/>
          <p:cNvSpPr/>
          <p:nvPr/>
        </p:nvSpPr>
        <p:spPr>
          <a:xfrm>
            <a:off x="731520" y="1682640"/>
            <a:ext cx="867600" cy="90360"/>
          </a:xfrm>
          <a:prstGeom prst="rect">
            <a:avLst/>
          </a:prstGeom>
          <a:solidFill>
            <a:srgbClr val="22a5e6"/>
          </a:solidFill>
          <a:ln w="12700">
            <a:solidFill>
              <a:srgbClr val="22a5e6">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18" name="Text 7"/>
          <p:cNvSpPr/>
          <p:nvPr/>
        </p:nvSpPr>
        <p:spPr>
          <a:xfrm>
            <a:off x="731520" y="2057400"/>
            <a:ext cx="10614960" cy="149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700" spc="-1" strike="noStrike">
                <a:solidFill>
                  <a:srgbClr val="ffffff"/>
                </a:solidFill>
                <a:latin typeface="Aptos"/>
                <a:ea typeface="Aptos"/>
              </a:rPr>
              <a:t>Birlikte, ölçülebilir</a:t>
            </a:r>
            <a:endParaRPr b="0" lang="en-US" sz="3700" spc="-1" strike="noStrike">
              <a:solidFill>
                <a:srgbClr val="ffffff"/>
              </a:solidFill>
              <a:latin typeface="Arial"/>
            </a:endParaRPr>
          </a:p>
          <a:p>
            <a:pPr defTabSz="914400">
              <a:lnSpc>
                <a:spcPct val="100000"/>
              </a:lnSpc>
              <a:tabLst>
                <a:tab algn="l" pos="0"/>
              </a:tabLst>
            </a:pPr>
            <a:r>
              <a:rPr b="1" lang="en-US" sz="3700" spc="-1" strike="noStrike">
                <a:solidFill>
                  <a:srgbClr val="ffffff"/>
                </a:solidFill>
                <a:latin typeface="Aptos"/>
                <a:ea typeface="Aptos"/>
              </a:rPr>
              <a:t>bir AI pilotuyla başlayalım.</a:t>
            </a:r>
            <a:endParaRPr b="0" lang="en-US" sz="3700" spc="-1" strike="noStrike">
              <a:solidFill>
                <a:srgbClr val="ffffff"/>
              </a:solidFill>
              <a:latin typeface="Arial"/>
            </a:endParaRPr>
          </a:p>
        </p:txBody>
      </p:sp>
      <p:sp>
        <p:nvSpPr>
          <p:cNvPr id="619" name="Text 8"/>
          <p:cNvSpPr/>
          <p:nvPr/>
        </p:nvSpPr>
        <p:spPr>
          <a:xfrm>
            <a:off x="768240" y="4105800"/>
            <a:ext cx="9920160" cy="748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900" spc="-1" strike="noStrike">
                <a:solidFill>
                  <a:srgbClr val="c4dae6"/>
                </a:solidFill>
                <a:latin typeface="Aptos"/>
                <a:ea typeface="Aptos"/>
              </a:rPr>
              <a:t>İlk adım: iş senaryosunu, veri erişimini ve başarı ölçütlerini netleştirmek.</a:t>
            </a:r>
            <a:endParaRPr b="0" lang="en-US" sz="1900" spc="-1" strike="noStrike">
              <a:solidFill>
                <a:srgbClr val="ffffff"/>
              </a:solidFill>
              <a:latin typeface="Arial"/>
            </a:endParaRPr>
          </a:p>
        </p:txBody>
      </p:sp>
      <p:sp>
        <p:nvSpPr>
          <p:cNvPr id="620" name="Shape 9"/>
          <p:cNvSpPr/>
          <p:nvPr/>
        </p:nvSpPr>
        <p:spPr>
          <a:xfrm>
            <a:off x="767880" y="5650920"/>
            <a:ext cx="10460880" cy="360"/>
          </a:xfrm>
          <a:prstGeom prst="line">
            <a:avLst/>
          </a:prstGeom>
          <a:ln w="12700">
            <a:solidFill>
              <a:srgbClr val="3c6074"/>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621" name="Text 10"/>
          <p:cNvSpPr/>
          <p:nvPr/>
        </p:nvSpPr>
        <p:spPr>
          <a:xfrm>
            <a:off x="768240" y="5943600"/>
            <a:ext cx="5119560" cy="318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pc="103" strike="noStrike">
                <a:solidFill>
                  <a:srgbClr val="ffffff"/>
                </a:solidFill>
                <a:latin typeface="Aptos"/>
                <a:ea typeface="Aptos"/>
              </a:rPr>
              <a:t>ENSIGHT DATA &amp; AI</a:t>
            </a:r>
            <a:endParaRPr b="0" lang="en-US" sz="1700" spc="-1" strike="noStrike">
              <a:solidFill>
                <a:srgbClr val="ffffff"/>
              </a:solidFill>
              <a:latin typeface="Arial"/>
            </a:endParaRPr>
          </a:p>
        </p:txBody>
      </p:sp>
      <p:sp>
        <p:nvSpPr>
          <p:cNvPr id="622" name="Text 11"/>
          <p:cNvSpPr/>
          <p:nvPr/>
        </p:nvSpPr>
        <p:spPr>
          <a:xfrm>
            <a:off x="5897880" y="5961960"/>
            <a:ext cx="5284080" cy="264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500" spc="-1" strike="noStrike">
                <a:solidFill>
                  <a:srgbClr val="a7d9ed"/>
                </a:solidFill>
                <a:latin typeface="Aptos"/>
                <a:ea typeface="Aptos"/>
              </a:rPr>
              <a:t>sales@ensight.com.tr   •   ensight.com.tr</a:t>
            </a:r>
            <a:endParaRPr b="0" lang="en-US" sz="1500" spc="-1" strike="noStrike">
              <a:solidFill>
                <a:srgbClr val="ffffff"/>
              </a:solidFill>
              <a:latin typeface="Arial"/>
            </a:endParaRPr>
          </a:p>
        </p:txBody>
      </p:sp>
      <p:pic>
        <p:nvPicPr>
          <p:cNvPr id="623" name="Picture 13" descr="ensight_official_wordmark.png"/>
          <p:cNvPicPr/>
          <p:nvPr/>
        </p:nvPicPr>
        <p:blipFill>
          <a:blip r:embed="rId1"/>
          <a:stretch/>
        </p:blipFill>
        <p:spPr>
          <a:xfrm>
            <a:off x="740520" y="511920"/>
            <a:ext cx="2696400" cy="763200"/>
          </a:xfrm>
          <a:prstGeom prst="rect">
            <a:avLst/>
          </a:prstGeom>
          <a:ln w="0">
            <a:noFill/>
          </a:ln>
        </p:spPr>
      </p:pic>
      <p:sp>
        <p:nvSpPr>
          <p:cNvPr id="624" name="TextBox 14"/>
          <p:cNvSpPr/>
          <p:nvPr/>
        </p:nvSpPr>
        <p:spPr>
          <a:xfrm>
            <a:off x="768240" y="1307520"/>
            <a:ext cx="2742120" cy="182520"/>
          </a:xfrm>
          <a:prstGeom prst="rect">
            <a:avLst/>
          </a:prstGeom>
          <a:noFill/>
          <a:ln w="0">
            <a:noFill/>
          </a:ln>
        </p:spPr>
        <p:style>
          <a:lnRef idx="0"/>
          <a:fillRef idx="0"/>
          <a:effectRef idx="0"/>
          <a:fontRef idx="minor"/>
        </p:style>
        <p:txBody>
          <a:bodyPr lIns="0" rIns="0" tIns="0" bIns="0" anchor="t">
            <a:spAutoFit/>
          </a:bodyPr>
          <a:p>
            <a:pPr defTabSz="914400">
              <a:lnSpc>
                <a:spcPct val="100000"/>
              </a:lnSpc>
              <a:spcAft>
                <a:spcPts val="400"/>
              </a:spcAft>
            </a:pPr>
            <a:r>
              <a:rPr b="0" lang="en-US" sz="1200" spc="-1" strike="noStrike">
                <a:solidFill>
                  <a:srgbClr val="b7e0f3"/>
                </a:solidFill>
                <a:latin typeface="Aptos"/>
              </a:rPr>
              <a:t>DATA &amp; AI</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TotalTime>
  <Application>LibreOffice/24.2.3.2$Windows_X86_64 LibreOffice_project/433d9c2ded56988e8a90e6b2e771ee4e6a5ab2ba</Application>
  <AppVersion>15.0000</AppVersion>
  <Words>0</Words>
  <Paragraphs>0</Paragraphs>
  <Company>Ensight Data and AI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2026-10-18T11:45:24Z</dcterms:created>
  <dc:creator>Ensight Data &amp; AI | Enterprise Solutions</dc:creator>
  <dc:description/>
  <dc:language>en-US</dc:language>
  <cp:lastModifiedBy/>
  <dcterms:modified xsi:type="dcterms:W3CDTF">2026-10-20T15:31:46Z</dcterms:modified>
  <cp:revision>7</cp:revision>
  <dc:subject>Microsoft Foundry — Enterprise AI Platform</dc:subject>
  <dc:title>Microsoft Foundry | Kurumsal AI için yeni işletim modeli</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On-screen Show (16:9)</vt:lpwstr>
  </property>
  <property fmtid="{D5CDD505-2E9C-101B-9397-08002B2CF9AE}" pid="4" name="Slides">
    <vt:i4>22</vt:i4>
  </property>
</Properties>
</file>