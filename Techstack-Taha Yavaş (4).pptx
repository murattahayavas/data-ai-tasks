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media/image1.png" ContentType="image/png"/>
  <Override PartName="/ppt/media/image2.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Slaytı taşımak için tıklayın</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Notların biçimini düzenlemek için tıklayın</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A5E4AB7-44B0-4A2D-AA08-FEFE2DE4F93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5680" cy="3085560"/>
          </a:xfrm>
          <a:prstGeom prst="rect">
            <a:avLst/>
          </a:prstGeom>
          <a:ln w="0">
            <a:noFill/>
          </a:ln>
        </p:spPr>
      </p:sp>
      <p:sp>
        <p:nvSpPr>
          <p:cNvPr id="51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Kısa açılış: Sunumun amacı Ensight’ın lisans portföyündeki ve projelerinde kullandığı teknolojileri tek tek tanıtmak. Her teknoloji için üç soru: ne, ne işe yarar, nasıl lisanslanır ve Ensight’ta nerede duruyor.</a:t>
            </a:r>
            <a:endParaRPr b="0" lang="en-US" sz="2000" spc="-1" strike="noStrike">
              <a:solidFill>
                <a:srgbClr val="000000"/>
              </a:solidFill>
              <a:latin typeface="Arial"/>
            </a:endParaRPr>
          </a:p>
        </p:txBody>
      </p:sp>
      <p:sp>
        <p:nvSpPr>
          <p:cNvPr id="518"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509CDE-F322-419B-8E25-0C03E513F3B6}"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5680" cy="3085560"/>
          </a:xfrm>
          <a:prstGeom prst="rect">
            <a:avLst/>
          </a:prstGeom>
          <a:ln w="0">
            <a:noFill/>
          </a:ln>
        </p:spPr>
      </p:sp>
      <p:sp>
        <p:nvSpPr>
          <p:cNvPr id="52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Şirketin kısa tarihçesi: 2011’de BI Talent, 2018’de Enqura tarafından satın alındı, Kasım 2021’de spin-off ile bağımsız Ensight oldu. Ofisler: İstanbul merkez, Londra, Ankara OSTİM Teknopark, Yozgat Teknopark. Lisans satışı iş kollarından biri; bu yüzden sonraki slaytlarda her teknolojinin lisans modeline de değiniyorum.</a:t>
            </a:r>
            <a:endParaRPr b="0" lang="en-US" sz="2000" spc="-1" strike="noStrike">
              <a:solidFill>
                <a:srgbClr val="000000"/>
              </a:solidFill>
              <a:latin typeface="Arial"/>
            </a:endParaRPr>
          </a:p>
        </p:txBody>
      </p:sp>
      <p:sp>
        <p:nvSpPr>
          <p:cNvPr id="521"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FB04721-EB53-42F3-B08B-39D5FAE95766}"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5680" cy="3085560"/>
          </a:xfrm>
          <a:prstGeom prst="rect">
            <a:avLst/>
          </a:prstGeom>
          <a:ln w="0">
            <a:noFill/>
          </a:ln>
        </p:spPr>
      </p:sp>
      <p:sp>
        <p:nvSpPr>
          <p:cNvPr id="52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 slayt sunumun haritası. Veri soldan sağa akıyor: kaynak sistemlerden alınıyor, depolanıyor, işleniyor, anlamsal modele dönüşüyor ve raporda son kullanıcıya ulaşıyor. Yapay zekâ ve yönetişim tüm akışın üstünde duruyor. Sonraki slaytlarda bu kutuların her birini tek tek açıyorum.</a:t>
            </a:r>
            <a:endParaRPr b="0" lang="en-US" sz="2000" spc="-1" strike="noStrike">
              <a:solidFill>
                <a:srgbClr val="000000"/>
              </a:solidFill>
              <a:latin typeface="Arial"/>
            </a:endParaRPr>
          </a:p>
        </p:txBody>
      </p:sp>
      <p:sp>
        <p:nvSpPr>
          <p:cNvPr id="524"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012564-23F0-49D8-9B31-26C7240AECCB}"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5680" cy="3085560"/>
          </a:xfrm>
          <a:prstGeom prst="rect">
            <a:avLst/>
          </a:prstGeom>
          <a:ln w="0">
            <a:noFill/>
          </a:ln>
        </p:spPr>
      </p:sp>
      <p:sp>
        <p:nvSpPr>
          <p:cNvPr id="52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Fabric’ten önce bir kurum veri platformu kurmak için Data Factory, Data Lake, Synapse, Power BI gibi servisleri ayrı ayrı alıp birbirine bağlıyordu. Fabric bunları tek ürün altında topluyor. Office 365 benzetmesi şöyle: Word, Excel ve Teams nasıl tek abonelikte ve aynı OneDrive üzerinde çalışıyorsa, Fabric’in tüm araçları da aynı veri gölü üzerinde çalışıyor. SaaS olması altyapı yönetimini ortadan kaldırıyor; ekip doğrudan veriyle uğraşıyor.</a:t>
            </a:r>
            <a:endParaRPr b="0" lang="en-US" sz="2000" spc="-1" strike="noStrike">
              <a:solidFill>
                <a:srgbClr val="000000"/>
              </a:solidFill>
              <a:latin typeface="Arial"/>
            </a:endParaRPr>
          </a:p>
        </p:txBody>
      </p:sp>
      <p:sp>
        <p:nvSpPr>
          <p:cNvPr id="527"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7829154-35A6-4DE1-9231-78585921F65A}"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5680" cy="3085560"/>
          </a:xfrm>
          <a:prstGeom prst="rect">
            <a:avLst/>
          </a:prstGeom>
          <a:ln w="0">
            <a:noFill/>
          </a:ln>
        </p:spPr>
      </p:sp>
      <p:sp>
        <p:nvSpPr>
          <p:cNvPr id="52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OneLake’i anlamanın en kolay yolu OneDrive benzetmesi: Office uygulamaları nasıl otomatik olarak OneDrive’a kaydediyorsa, Fabric’in tüm araçları da otomatik olarak OneLake’e yazıyor ve oradan okuyor. Kurulum gerekmiyor. Asıl fark şu: veri bir kez yazılıyor, Spark, SQL ve Power BI aynı kopyayı kullanıyor. Sağdaki üç özellik, verinin başka yerde durduğu durumlar için: shortcut başka bulutlardaki veriyi bağlıyor, mirroring operasyonel veritabanlarını ve Databricks’i sürekli yansıtıyor, dış paylaşım da başka kurumlarla kopyasız paylaşım sağlıyor. Databricks slaytındaki OneLake bağlantısı da bu mirroring özelliği.</a:t>
            </a:r>
            <a:endParaRPr b="0" lang="en-US" sz="2000" spc="-1" strike="noStrike">
              <a:solidFill>
                <a:srgbClr val="000000"/>
              </a:solidFill>
              <a:latin typeface="Arial"/>
            </a:endParaRPr>
          </a:p>
        </p:txBody>
      </p:sp>
      <p:sp>
        <p:nvSpPr>
          <p:cNvPr id="530"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0FDD82E-A5DB-44F6-8B87-34698BDDD68C}"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5680" cy="3085560"/>
          </a:xfrm>
          <a:prstGeom prst="rect">
            <a:avLst/>
          </a:prstGeom>
          <a:ln w="0">
            <a:noFill/>
          </a:ln>
        </p:spPr>
      </p:sp>
      <p:sp>
        <p:nvSpPr>
          <p:cNvPr id="53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Her iş yükü farklı bir role hitap ediyor: Data Factory ve Data Engineering veri mühendisine, Warehouse SQL geliştiricisine, Data Science veri bilimciye, Power BI iş analistine. Ama hepsi aynı OneLake verisini kullanıyor. Örnek akış: veri Data Factory ile alınır, Spark notebook ile bronze’dan gold’a işlenir, Warehouse’ta modellenir, Power BI’da raporlanır. Real-Time Intelligence ise aynı işi akış verisi için yapıyor. Fabric IQ en yeni iş yükü; şirket genelinde ‘müşteri’, ‘ciro’ gibi kavramların tek tanımını tutmayı ve agent’ların bu tanımları kullanmasını hedefliyor.</a:t>
            </a:r>
            <a:endParaRPr b="0" lang="en-US" sz="2000" spc="-1" strike="noStrike">
              <a:solidFill>
                <a:srgbClr val="000000"/>
              </a:solidFill>
              <a:latin typeface="Arial"/>
            </a:endParaRPr>
          </a:p>
        </p:txBody>
      </p:sp>
      <p:sp>
        <p:nvSpPr>
          <p:cNvPr id="533"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4A0CB63-4004-4499-926E-1FCE0E228949}"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5680" cy="3085560"/>
          </a:xfrm>
          <a:prstGeom prst="rect">
            <a:avLst/>
          </a:prstGeom>
          <a:ln w="0">
            <a:noFill/>
          </a:ln>
        </p:spPr>
      </p:sp>
      <p:sp>
        <p:nvSpPr>
          <p:cNvPr id="53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 konu mentorumun ‘Fabric Apps: Veriden Uygulamaya’ videosunun da konusu. Önceden iş biriminin rapora veri geri yazması için Power Apps, Power Automate ve ayrı SQL uç noktaları birlikte kurulmak zorundaydı. Fabric Apps bunu tek, yönetişim altındaki bir öğeye indiriyor. Örnek: planlama ekibi modelin önerdiği stok miktarını uygulamada görüyor, onaylıyor ya da değiştiriyor; girdiği değer doğrudan OneLake’e yazılıyor ve aynı veri raporlarda kullanılıyor. Yani analitik ve operasyon aynı platformda buluşuyor. Veri uygulamaları ise Power BI’ın yerine değil, onun üstünde daha esnek bir katman; çoğu self-servis rapor için Power BI hâlâ doğru araç.</a:t>
            </a:r>
            <a:endParaRPr b="0" lang="en-US" sz="2000" spc="-1" strike="noStrike">
              <a:solidFill>
                <a:srgbClr val="000000"/>
              </a:solidFill>
              <a:latin typeface="Arial"/>
            </a:endParaRPr>
          </a:p>
        </p:txBody>
      </p:sp>
      <p:sp>
        <p:nvSpPr>
          <p:cNvPr id="536"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2EFF62B-FD5B-4AAA-8B73-DDEAC2FC6441}"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5680" cy="3085560"/>
          </a:xfrm>
          <a:prstGeom prst="rect">
            <a:avLst/>
          </a:prstGeom>
          <a:ln w="0">
            <a:noFill/>
          </a:ln>
        </p:spPr>
      </p:sp>
      <p:sp>
        <p:nvSpPr>
          <p:cNvPr id="53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Databricks’i anlamak için iki şeyi bilmek yeterli: Spark’ı yapan ekip tarafından kuruldu ve platformun çekirdeği açık kaynak projelerden oluşuyor. Sağdaki projelerin hepsi Databricks çalışanları tarafından başlatıldı. Bu, platformu tek bir firmaya kilitlenmeyen bir yapı yapıyor: Delta formatındaki veri başka araçlarla da okunabiliyor. Azure Databricks Microsoft’un birinci taraf servisi; yani müşteri Azure faturasıyla, Azure kimlik yönetimiyle kullanıyor.</a:t>
            </a:r>
            <a:endParaRPr b="0" lang="en-US" sz="2000" spc="-1" strike="noStrike">
              <a:solidFill>
                <a:srgbClr val="000000"/>
              </a:solidFill>
              <a:latin typeface="Arial"/>
            </a:endParaRPr>
          </a:p>
        </p:txBody>
      </p:sp>
      <p:sp>
        <p:nvSpPr>
          <p:cNvPr id="539"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D0A5935-9BD2-48B4-B25C-713ECC9278DE}"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5680" cy="3085560"/>
          </a:xfrm>
          <a:prstGeom prst="rect">
            <a:avLst/>
          </a:prstGeom>
          <a:ln w="0">
            <a:noFill/>
          </a:ln>
        </p:spPr>
      </p:sp>
      <p:sp>
        <p:nvSpPr>
          <p:cNvPr id="54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 slayt Databricks’in temel çalışma mantığı. Veri önce olduğu gibi Bronze katmana iner; burada hiçbir şey silinmez, gerektiğinde geçmişe dönülebilir. Silver’da temizlenir ve birleştirilir. Gold’da ise iş birimlerinin kullanacağı özet tablolar oluşur ve Power BI bu katmana bağlanır. Altta Delta Lake var: veri gölündeki dosyalara veritabanı gibi güvenilir tablo özelliği (ACID, zaman yolculuğu) kazandırıyor. Üstte Unity Catalog: kim hangi tabloyu görebilir, hangi rapor hangi tablodan geliyor, hepsi tek yerden yönetiliyor. Ensight’ın Fabric projelerinde kullandığı bronze-silver-gold yapısı da aynı yaklaşım.</a:t>
            </a:r>
            <a:endParaRPr b="0" lang="en-US" sz="2000" spc="-1" strike="noStrike">
              <a:solidFill>
                <a:srgbClr val="000000"/>
              </a:solidFill>
              <a:latin typeface="Arial"/>
            </a:endParaRPr>
          </a:p>
        </p:txBody>
      </p:sp>
      <p:sp>
        <p:nvSpPr>
          <p:cNvPr id="542"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2722175-ADB5-492F-927A-41363260A973}"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5680" cy="3085560"/>
          </a:xfrm>
          <a:prstGeom prst="rect">
            <a:avLst/>
          </a:prstGeom>
          <a:ln w="0">
            <a:noFill/>
          </a:ln>
        </p:spPr>
      </p:sp>
      <p:sp>
        <p:nvSpPr>
          <p:cNvPr id="54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Altı kullanım alanının ortak noktası: hepsi aynı veri kopyası üzerinde çalışıyor. Veri mühendisi pipeline’ı yazıyor, analist aynı tabloyu SQL ile sorguluyor, veri bilimci aynı tablodan model eğitiyor. Bankacılık örneği: kart işlemleri akış olarak gelir, Silver katmanda temizlenir, dolandırıcılık modeli bu veriden eğitilir, sonuçlar Gold katmandan Power BI’a gider. Genie ve AI Functions, teknik olmayan kullanıcıların da veriye erişmesini kolaylaştırıyor.</a:t>
            </a:r>
            <a:endParaRPr b="0" lang="en-US" sz="2000" spc="-1" strike="noStrike">
              <a:solidFill>
                <a:srgbClr val="000000"/>
              </a:solidFill>
              <a:latin typeface="Arial"/>
            </a:endParaRPr>
          </a:p>
        </p:txBody>
      </p:sp>
      <p:sp>
        <p:nvSpPr>
          <p:cNvPr id="545"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6C136DF-9239-4646-9BEC-2CC4BCFFC794}"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85800" y="1143000"/>
            <a:ext cx="5485680" cy="3085560"/>
          </a:xfrm>
          <a:prstGeom prst="rect">
            <a:avLst/>
          </a:prstGeom>
          <a:ln w="0">
            <a:noFill/>
          </a:ln>
        </p:spPr>
      </p:sp>
      <p:sp>
        <p:nvSpPr>
          <p:cNvPr id="54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Databricks’e ilk girildiğinde karşılaşılan altı temel kavram bunlar. Workspace ekibin ortak alanı. Compute, kodu çalıştıran makineler; açık kaldığı sürece kaynak harcadığı için işler bitince otomatik kapanacak şekilde ayarlanıyor. Notebook’lar veri mühendisinin ve veri bilimcinin günlük aracı. Jobs, yazılan notebook’ları her gece gibi düzenli aralıklarla çalıştırıyor. SQL Warehouse analist ve raporlama tarafının giriş kapısı. Unity Catalog ise Fabric’teki OneLake Catalog’un Databricks’teki karşılığı gibi düşünülebilir: her tablo katalog.şema.tablo şeklinde tek bir adreste duruyor, kim neyi görebilir oradan yönetiliyor. Alttaki şerit iki platformun birlikte nasıl çalıştığını gösteriyor: Databricks’te hazırlanan tablolar Fabric’e kopyalanmadan yansıtılabiliyor, böylece Ensight’ın iki partnerliği müşteride birbirini tamamlıyor.</a:t>
            </a:r>
            <a:endParaRPr b="0" lang="en-US" sz="2000" spc="-1" strike="noStrike">
              <a:solidFill>
                <a:srgbClr val="000000"/>
              </a:solidFill>
              <a:latin typeface="Arial"/>
            </a:endParaRPr>
          </a:p>
        </p:txBody>
      </p:sp>
      <p:sp>
        <p:nvSpPr>
          <p:cNvPr id="548"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A02ECE2-BA8F-44FC-9031-5E911E6ED880}"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85800" y="1143000"/>
            <a:ext cx="5485680" cy="3085560"/>
          </a:xfrm>
          <a:prstGeom prst="rect">
            <a:avLst/>
          </a:prstGeom>
          <a:ln w="0">
            <a:noFill/>
          </a:ln>
        </p:spPr>
      </p:sp>
      <p:sp>
        <p:nvSpPr>
          <p:cNvPr id="55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Synapse hâlâ destekleniyor ve Ensight’ın lisans listesinde var, ama Microsoft’un yeni yatırımı Fabric’e gidiyor. Fabric’in Data Warehouse ve Data Engineering iş yükleri aslında Synapse’in devamı gibi. Bu yüzden Synapse kullanan müşteriler için Fabric’e geçiş planı Ensight açısından doğal bir iş fırsatı.</a:t>
            </a:r>
            <a:endParaRPr b="0" lang="en-US" sz="2000" spc="-1" strike="noStrike">
              <a:solidFill>
                <a:srgbClr val="000000"/>
              </a:solidFill>
              <a:latin typeface="Arial"/>
            </a:endParaRPr>
          </a:p>
        </p:txBody>
      </p:sp>
      <p:sp>
        <p:nvSpPr>
          <p:cNvPr id="551"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928C92-6FCF-4B7E-89C8-F3A388CF8CD4}"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85800" y="1143000"/>
            <a:ext cx="5485680" cy="3085560"/>
          </a:xfrm>
          <a:prstGeom prst="rect">
            <a:avLst/>
          </a:prstGeom>
          <a:ln w="0">
            <a:noFill/>
          </a:ln>
        </p:spPr>
      </p:sp>
      <p:sp>
        <p:nvSpPr>
          <p:cNvPr id="55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Data engineering’in omurgası bu araç. Self-hosted Integration Runtime kritik: bankanın kendi veri merkezindeki veritabanına güvenli bağlantı bu sayede kuruluyor. Azure-SSIS IR ise eski SSIS paketlerini yeniden yazmadan bulutta çalıştırmaya yarıyor.</a:t>
            </a:r>
            <a:endParaRPr b="0" lang="en-US" sz="2000" spc="-1" strike="noStrike">
              <a:solidFill>
                <a:srgbClr val="000000"/>
              </a:solidFill>
              <a:latin typeface="Arial"/>
            </a:endParaRPr>
          </a:p>
        </p:txBody>
      </p:sp>
      <p:sp>
        <p:nvSpPr>
          <p:cNvPr id="554"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33A5513-5D0B-470E-9704-EB6619AD01EA}"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685800" y="1143000"/>
            <a:ext cx="5485680" cy="3085560"/>
          </a:xfrm>
          <a:prstGeom prst="rect">
            <a:avLst/>
          </a:prstGeom>
          <a:ln w="0">
            <a:noFill/>
          </a:ln>
        </p:spPr>
      </p:sp>
      <p:sp>
        <p:nvSpPr>
          <p:cNvPr id="55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SSIS eski ama ölmüş değil: özellikle bankacılık ve kamu gibi on-prem ağırlıklı kurumlarda yüzlerce paket hâlâ çalışıyor. Bu paketlerin ADF veya Fabric’e taşınması da bir modernizasyon projesi türü.</a:t>
            </a:r>
            <a:endParaRPr b="0" lang="en-US" sz="2000" spc="-1" strike="noStrike">
              <a:solidFill>
                <a:srgbClr val="000000"/>
              </a:solidFill>
              <a:latin typeface="Arial"/>
            </a:endParaRPr>
          </a:p>
        </p:txBody>
      </p:sp>
      <p:sp>
        <p:nvSpPr>
          <p:cNvPr id="557"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6E807B4-318F-4FE2-A2DD-78B61257C831}"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685800" y="1143000"/>
            <a:ext cx="5485680" cy="3085560"/>
          </a:xfrm>
          <a:prstGeom prst="rect">
            <a:avLst/>
          </a:prstGeom>
          <a:ln w="0">
            <a:noFill/>
          </a:ln>
        </p:spPr>
      </p:sp>
      <p:sp>
        <p:nvSpPr>
          <p:cNvPr id="55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Batch dünyasında veri gece yüklenir; Event Hubs ile veri saniyeler içinde analitiğe ulaşır. Kafka uyumluluğu önemli: Kafka kullanan bir uygulama kodunu değiştirmeden Event Hubs’a bağlanabiliyor.</a:t>
            </a:r>
            <a:endParaRPr b="0" lang="en-US" sz="2000" spc="-1" strike="noStrike">
              <a:solidFill>
                <a:srgbClr val="000000"/>
              </a:solidFill>
              <a:latin typeface="Arial"/>
            </a:endParaRPr>
          </a:p>
        </p:txBody>
      </p:sp>
      <p:sp>
        <p:nvSpPr>
          <p:cNvPr id="560"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CD32942-0FF0-490A-AFB9-3F458763DBFD}"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685800" y="1143000"/>
            <a:ext cx="5485680" cy="3085560"/>
          </a:xfrm>
          <a:prstGeom prst="rect">
            <a:avLst/>
          </a:prstGeom>
          <a:ln w="0">
            <a:noFill/>
          </a:ln>
        </p:spPr>
      </p:sp>
      <p:sp>
        <p:nvSpPr>
          <p:cNvPr id="5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Data lake ucuz ve esnek depolama demek; veri ambarı gibi önceden şema istemiyor. Erişim katmanları maliyet optimizasyonunda kullanılıyor: sık okunan veri Hot’ta, yıllık arşiv Archive’da tutuluyor.</a:t>
            </a:r>
            <a:endParaRPr b="0" lang="en-US" sz="2000" spc="-1" strike="noStrike">
              <a:solidFill>
                <a:srgbClr val="000000"/>
              </a:solidFill>
              <a:latin typeface="Arial"/>
            </a:endParaRPr>
          </a:p>
        </p:txBody>
      </p:sp>
      <p:sp>
        <p:nvSpPr>
          <p:cNvPr id="563"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137BD0C-998F-45B1-A9BD-34BA50FAE66C}"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685800" y="1143000"/>
            <a:ext cx="5485680" cy="3085560"/>
          </a:xfrm>
          <a:prstGeom prst="rect">
            <a:avLst/>
          </a:prstGeom>
          <a:ln w="0">
            <a:noFill/>
          </a:ln>
        </p:spPr>
      </p:sp>
      <p:sp>
        <p:nvSpPr>
          <p:cNvPr id="5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SQL Server lisansı satın alındığında SSIS, SSAS ve SSRS de aynı sunucuda kullanılabiliyor; bu yüzden on-prem BI projelerinde temel lisans bu. CAL, sunucuya erişen her kullanıcı veya cihaz için alınan erişim lisansı demek.</a:t>
            </a:r>
            <a:endParaRPr b="0" lang="en-US" sz="2000" spc="-1" strike="noStrike">
              <a:solidFill>
                <a:srgbClr val="000000"/>
              </a:solidFill>
              <a:latin typeface="Arial"/>
            </a:endParaRPr>
          </a:p>
        </p:txBody>
      </p:sp>
      <p:sp>
        <p:nvSpPr>
          <p:cNvPr id="566" name="PlaceHolder 3"/>
          <p:cNvSpPr>
            <a:spLocks noGrp="1"/>
          </p:cNvSpPr>
          <p:nvPr>
            <p:ph type="sldNum" idx="2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660D2F8-7639-4D36-8399-73D0BB7D486C}"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685800" y="1143000"/>
            <a:ext cx="5485680" cy="3085560"/>
          </a:xfrm>
          <a:prstGeom prst="rect">
            <a:avLst/>
          </a:prstGeom>
          <a:ln w="0">
            <a:noFill/>
          </a:ln>
        </p:spPr>
      </p:sp>
      <p:sp>
        <p:nvSpPr>
          <p:cNvPr id="56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On-prem SQL Server ile Azure SQL arasındaki fark: donanım, yedek ve güncelleme işi Microsoft’a geçiyor. Azure Hybrid Benefit, müşterinin elindeki SQL Server lisanslarını bulutta indirim olarak kullanmasını sağlıyor; lisans danışmanlığında sık konuşulan bir konu.</a:t>
            </a:r>
            <a:endParaRPr b="0" lang="en-US" sz="2000" spc="-1" strike="noStrike">
              <a:solidFill>
                <a:srgbClr val="000000"/>
              </a:solidFill>
              <a:latin typeface="Arial"/>
            </a:endParaRPr>
          </a:p>
        </p:txBody>
      </p:sp>
      <p:sp>
        <p:nvSpPr>
          <p:cNvPr id="569" name="PlaceHolder 3"/>
          <p:cNvSpPr>
            <a:spLocks noGrp="1"/>
          </p:cNvSpPr>
          <p:nvPr>
            <p:ph type="sldNum" idx="2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55F2A05-C8FE-4216-9737-FF28B4409B4A}"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685800" y="1143000"/>
            <a:ext cx="5485680" cy="3085560"/>
          </a:xfrm>
          <a:prstGeom prst="rect">
            <a:avLst/>
          </a:prstGeom>
          <a:ln w="0">
            <a:noFill/>
          </a:ln>
        </p:spPr>
      </p:sp>
      <p:sp>
        <p:nvSpPr>
          <p:cNvPr id="57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PostgreSQL’in yapay zekâ tarafında önemi arttı: pgvector uzantısıyla belgelerin vektör karşılıkları veritabanında saklanıp benzerlik araması yapılabiliyor. Bu, şirket içi dokümanlarla çalışan sohbet asistanlarının (RAG) temel parçalarından biri.</a:t>
            </a:r>
            <a:endParaRPr b="0" lang="en-US" sz="2000" spc="-1" strike="noStrike">
              <a:solidFill>
                <a:srgbClr val="000000"/>
              </a:solidFill>
              <a:latin typeface="Arial"/>
            </a:endParaRPr>
          </a:p>
        </p:txBody>
      </p:sp>
      <p:sp>
        <p:nvSpPr>
          <p:cNvPr id="572" name="PlaceHolder 3"/>
          <p:cNvSpPr>
            <a:spLocks noGrp="1"/>
          </p:cNvSpPr>
          <p:nvPr>
            <p:ph type="sldNum" idx="2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9926F0-FF44-4D86-8202-9767871E4881}"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685800" y="1143000"/>
            <a:ext cx="5485680" cy="3085560"/>
          </a:xfrm>
          <a:prstGeom prst="rect">
            <a:avLst/>
          </a:prstGeom>
          <a:ln w="0">
            <a:noFill/>
          </a:ln>
        </p:spPr>
      </p:sp>
      <p:sp>
        <p:nvSpPr>
          <p:cNvPr id="57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Anlamsal modelin amacı ‘tek doğru rakam’: satış ekibiyle finans ekibi aynı KPI’yı farklı hesaplamasın. Power BI’daki semantic model aslında Analysis Services Tabular motorunun kendisi; bu yüzden SSAS bilen biri Power BI modellemesine kolay geçiyor.</a:t>
            </a:r>
            <a:endParaRPr b="0" lang="en-US" sz="2000" spc="-1" strike="noStrike">
              <a:solidFill>
                <a:srgbClr val="000000"/>
              </a:solidFill>
              <a:latin typeface="Arial"/>
            </a:endParaRPr>
          </a:p>
        </p:txBody>
      </p:sp>
      <p:sp>
        <p:nvSpPr>
          <p:cNvPr id="575" name="PlaceHolder 3"/>
          <p:cNvSpPr>
            <a:spLocks noGrp="1"/>
          </p:cNvSpPr>
          <p:nvPr>
            <p:ph type="sldNum" idx="2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6F1121-AC2B-4F2E-A635-3539FAC432B4}"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685800" y="1143000"/>
            <a:ext cx="5485680" cy="3085560"/>
          </a:xfrm>
          <a:prstGeom prst="rect">
            <a:avLst/>
          </a:prstGeom>
          <a:ln w="0">
            <a:noFill/>
          </a:ln>
        </p:spPr>
      </p:sp>
      <p:sp>
        <p:nvSpPr>
          <p:cNvPr id="57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Power BI, Ensight’ın müşteriye en görünür ürünü: arka plandaki tüm mimari sonunda bir dashboard’a dönüşüyor. Bankacılık Rekabet Analizi paketinde aktif-pasif yönetimi, kârlılık, likidite ve faiz riski, sermaye yeterliliği gibi analizler var.</a:t>
            </a:r>
            <a:endParaRPr b="0" lang="en-US" sz="2000" spc="-1" strike="noStrike">
              <a:solidFill>
                <a:srgbClr val="000000"/>
              </a:solidFill>
              <a:latin typeface="Arial"/>
            </a:endParaRPr>
          </a:p>
        </p:txBody>
      </p:sp>
      <p:sp>
        <p:nvSpPr>
          <p:cNvPr id="578" name="PlaceHolder 3"/>
          <p:cNvSpPr>
            <a:spLocks noGrp="1"/>
          </p:cNvSpPr>
          <p:nvPr>
            <p:ph type="sldNum" idx="2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62FF1A0-612B-4F97-9D22-5AAB3557394B}"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685800" y="1143000"/>
            <a:ext cx="5485680" cy="3085560"/>
          </a:xfrm>
          <a:prstGeom prst="rect">
            <a:avLst/>
          </a:prstGeom>
          <a:ln w="0">
            <a:noFill/>
          </a:ln>
        </p:spPr>
      </p:sp>
      <p:sp>
        <p:nvSpPr>
          <p:cNvPr id="58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Fiyatlar Microsoft liste fiyatları (USD, yıllık taahhütle, Ekim 2026). Türkiye fiyatları ve kur farkı ayrıca kontrol edilmeli. Kritik karar noktası: küçük ekipte kullanıcı başı Pro ucuz; yüzlerce izleyici varsa F64 kapasite daha mantıklı çünkü izleyiciler ücretsiz. Kabaca birkaç yüz kullanıcı civarında F64 rezervasyon Pro’dan ucuz hale geliyor.</a:t>
            </a:r>
            <a:endParaRPr b="0" lang="en-US" sz="2000" spc="-1" strike="noStrike">
              <a:solidFill>
                <a:srgbClr val="000000"/>
              </a:solidFill>
              <a:latin typeface="Arial"/>
            </a:endParaRPr>
          </a:p>
        </p:txBody>
      </p:sp>
      <p:sp>
        <p:nvSpPr>
          <p:cNvPr id="581" name="PlaceHolder 3"/>
          <p:cNvSpPr>
            <a:spLocks noGrp="1"/>
          </p:cNvSpPr>
          <p:nvPr>
            <p:ph type="sldNum" idx="2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A4EBE63-5BAE-46CD-9011-05641EBFCCB7}"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685800" y="1143000"/>
            <a:ext cx="5485680" cy="3085560"/>
          </a:xfrm>
          <a:prstGeom prst="rect">
            <a:avLst/>
          </a:prstGeom>
          <a:ln w="0">
            <a:noFill/>
          </a:ln>
        </p:spPr>
      </p:sp>
      <p:sp>
        <p:nvSpPr>
          <p:cNvPr id="5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Bankacılıkta verinin yurt dışındaki bulut veri merkezlerine çıkması regülasyon nedeniyle sorun olabiliyor; Report Server bu durumda Power BI deneyimini kurum içinde sunuyor. Dezavantajı: bulut Power BI’daki yenilikler buraya geç ve kısmen geliyor.</a:t>
            </a:r>
            <a:endParaRPr b="0" lang="en-US" sz="2000" spc="-1" strike="noStrike">
              <a:solidFill>
                <a:srgbClr val="000000"/>
              </a:solidFill>
              <a:latin typeface="Arial"/>
            </a:endParaRPr>
          </a:p>
        </p:txBody>
      </p:sp>
      <p:sp>
        <p:nvSpPr>
          <p:cNvPr id="584" name="PlaceHolder 3"/>
          <p:cNvSpPr>
            <a:spLocks noGrp="1"/>
          </p:cNvSpPr>
          <p:nvPr>
            <p:ph type="sldNum" idx="2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0D5AFDB-428D-4AB6-B820-2EF02EE66537}" type="slidenum">
              <a:rPr b="0" lang="en-US" sz="1200" spc="-1" strike="noStrike">
                <a:solidFill>
                  <a:schemeClr val="dk1"/>
                </a:solidFill>
                <a:latin typeface="+mn-lt"/>
                <a:ea typeface="+mn-ea"/>
              </a:rPr>
              <a:t>29</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685800" y="1143000"/>
            <a:ext cx="5485680" cy="3085560"/>
          </a:xfrm>
          <a:prstGeom prst="rect">
            <a:avLst/>
          </a:prstGeom>
          <a:ln w="0">
            <a:noFill/>
          </a:ln>
        </p:spPr>
      </p:sp>
      <p:sp>
        <p:nvSpPr>
          <p:cNvPr id="5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Dashboard ile paginated rapor farkı: dashboard keşif için, paginated rapor ise her ay aynı formatta basılan, denetçiye gönderilen rapor için. SSRS’in geleceği konusunda: Microsoft’un açıklamasına göre yeni sürümlerde on-prem raporlama Power BI Report Server’da toplanıyor. (Sunumdan önce Microsoft dokümanından teyit et.)</a:t>
            </a:r>
            <a:endParaRPr b="0" lang="en-US" sz="2000" spc="-1" strike="noStrike">
              <a:solidFill>
                <a:srgbClr val="000000"/>
              </a:solidFill>
              <a:latin typeface="Arial"/>
            </a:endParaRPr>
          </a:p>
        </p:txBody>
      </p:sp>
      <p:sp>
        <p:nvSpPr>
          <p:cNvPr id="587" name="PlaceHolder 3"/>
          <p:cNvSpPr>
            <a:spLocks noGrp="1"/>
          </p:cNvSpPr>
          <p:nvPr>
            <p:ph type="sldNum" idx="2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09AD3E0-C844-4D5E-807E-942D450378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685800" y="1143000"/>
            <a:ext cx="5485680" cy="3085560"/>
          </a:xfrm>
          <a:prstGeom prst="rect">
            <a:avLst/>
          </a:prstGeom>
          <a:ln w="0">
            <a:noFill/>
          </a:ln>
        </p:spPr>
      </p:sp>
      <p:sp>
        <p:nvSpPr>
          <p:cNvPr id="5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Azure ML’de para platforma değil, kullanılan sanal makinelere ve GPU’lara ödeniyor. MLOps kısmı önemli: model bir kere eğitilip bırakılmıyor, verideki değişim izlenip gerektiğinde yeniden eğitiliyor. Databricks’teki MLflow ile aynı araç kullanıldığı için iki platform arasında geçiş kolay.</a:t>
            </a:r>
            <a:endParaRPr b="0" lang="en-US" sz="2000" spc="-1" strike="noStrike">
              <a:solidFill>
                <a:srgbClr val="000000"/>
              </a:solidFill>
              <a:latin typeface="Arial"/>
            </a:endParaRPr>
          </a:p>
        </p:txBody>
      </p:sp>
      <p:sp>
        <p:nvSpPr>
          <p:cNvPr id="590" name="PlaceHolder 3"/>
          <p:cNvSpPr>
            <a:spLocks noGrp="1"/>
          </p:cNvSpPr>
          <p:nvPr>
            <p:ph type="sldNum" idx="2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D28354D-135E-43A6-BC87-323B7F62FA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685800" y="1143000"/>
            <a:ext cx="5485680" cy="3085560"/>
          </a:xfrm>
          <a:prstGeom prst="rect">
            <a:avLst/>
          </a:prstGeom>
          <a:ln w="0">
            <a:noFill/>
          </a:ln>
        </p:spPr>
      </p:sp>
      <p:sp>
        <p:nvSpPr>
          <p:cNvPr id="5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Azure ML ‘kendi modelini yap’, AI Services ise ‘hazır modeli kullan’. Örnek: sigortada hasar evraklarından otomatik veri çıkarmak için model eğitmeye gerek yok, Document Intelligence doğrudan kullanılabiliyor.</a:t>
            </a:r>
            <a:endParaRPr b="0" lang="en-US" sz="2000" spc="-1" strike="noStrike">
              <a:solidFill>
                <a:srgbClr val="000000"/>
              </a:solidFill>
              <a:latin typeface="Arial"/>
            </a:endParaRPr>
          </a:p>
        </p:txBody>
      </p:sp>
      <p:sp>
        <p:nvSpPr>
          <p:cNvPr id="593" name="PlaceHolder 3"/>
          <p:cNvSpPr>
            <a:spLocks noGrp="1"/>
          </p:cNvSpPr>
          <p:nvPr>
            <p:ph type="sldNum" idx="2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3517C6B-D416-4130-A853-58DE9C022BE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685800" y="1143000"/>
            <a:ext cx="5485680" cy="3085560"/>
          </a:xfrm>
          <a:prstGeom prst="rect">
            <a:avLst/>
          </a:prstGeom>
          <a:ln w="0">
            <a:noFill/>
          </a:ln>
        </p:spPr>
      </p:sp>
      <p:sp>
        <p:nvSpPr>
          <p:cNvPr id="5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Veri büyüdükçe asıl soru ‘bu rakam nereden geldi?’ oluyor. Lineage, bir rapordaki sayının hangi tablodan, hangi dönüşümden geçerek geldiğini gösteriyor. Bankacılık ve sigorta gibi denetimli sektörlerde bu izlenebilirlik zorunluluğa yakın.</a:t>
            </a:r>
            <a:endParaRPr b="0" lang="en-US" sz="2000" spc="-1" strike="noStrike">
              <a:solidFill>
                <a:srgbClr val="000000"/>
              </a:solidFill>
              <a:latin typeface="Arial"/>
            </a:endParaRPr>
          </a:p>
        </p:txBody>
      </p:sp>
      <p:sp>
        <p:nvSpPr>
          <p:cNvPr id="596" name="PlaceHolder 3"/>
          <p:cNvSpPr>
            <a:spLocks noGrp="1"/>
          </p:cNvSpPr>
          <p:nvPr>
            <p:ph type="sldNum" idx="3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28C7391-9BB3-4F15-B7BE-788C48DE964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685800" y="1143000"/>
            <a:ext cx="5485680" cy="3085560"/>
          </a:xfrm>
          <a:prstGeom prst="rect">
            <a:avLst/>
          </a:prstGeom>
          <a:ln w="0">
            <a:noFill/>
          </a:ln>
        </p:spPr>
      </p:sp>
      <p:sp>
        <p:nvSpPr>
          <p:cNvPr id="5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Tüm teknolojileri lisans açısından dört gruba ayırabiliriz. Müşteri için doğru seçim kullanıcı sayısına, veri hacmine ve bulut/on-prem tercihine bağlı. Ensight burada sadece lisans satmıyor; hangi modelin daha ucuz ve uygun olduğunu hesaplayıp kurulum ve eğitimle birlikte sunuyor.</a:t>
            </a:r>
            <a:endParaRPr b="0" lang="en-US" sz="2000" spc="-1" strike="noStrike">
              <a:solidFill>
                <a:srgbClr val="000000"/>
              </a:solidFill>
              <a:latin typeface="Arial"/>
            </a:endParaRPr>
          </a:p>
        </p:txBody>
      </p:sp>
      <p:sp>
        <p:nvSpPr>
          <p:cNvPr id="599" name="PlaceHolder 3"/>
          <p:cNvSpPr>
            <a:spLocks noGrp="1"/>
          </p:cNvSpPr>
          <p:nvPr>
            <p:ph type="sldNum" idx="3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4F9D302-38FA-45FA-9945-7A509843C0F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685800" y="1143000"/>
            <a:ext cx="5485680" cy="3085560"/>
          </a:xfrm>
          <a:prstGeom prst="rect">
            <a:avLst/>
          </a:prstGeom>
          <a:ln w="0">
            <a:noFill/>
          </a:ln>
        </p:spPr>
      </p:sp>
      <p:sp>
        <p:nvSpPr>
          <p:cNvPr id="6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Sorular için hazırım.</a:t>
            </a:r>
            <a:endParaRPr b="0" lang="en-US" sz="2000" spc="-1" strike="noStrike">
              <a:solidFill>
                <a:srgbClr val="000000"/>
              </a:solidFill>
              <a:latin typeface="Arial"/>
            </a:endParaRPr>
          </a:p>
        </p:txBody>
      </p:sp>
      <p:sp>
        <p:nvSpPr>
          <p:cNvPr id="602" name="PlaceHolder 3"/>
          <p:cNvSpPr>
            <a:spLocks noGrp="1"/>
          </p:cNvSpPr>
          <p:nvPr>
            <p:ph type="sldNum" idx="3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6C04062-6C3A-46FD-9FDC-5ADC8E2AA4D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Ana başlık metnini düzenlemek için tıklayın</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Anahat metninin biçimini düzenlemek için tıklayın</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İkinci Anahat Düzeyi</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Üçüncü Anahat Düzeyi</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Dördüncü Anahat Düzeyi</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Beşinci Anahat Düzeyi</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Altıncı Anahat Düzeyi</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Yedinci Anahat Düzeyi</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slideLayout" Target="../slideLayouts/slideLayout2.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e33"/>
        </a:solidFill>
      </p:bgPr>
    </p:bg>
    <p:spTree>
      <p:nvGrpSpPr>
        <p:cNvPr id="1" name=""/>
        <p:cNvGrpSpPr/>
        <p:nvPr/>
      </p:nvGrpSpPr>
      <p:grpSpPr>
        <a:xfrm>
          <a:off x="0" y="0"/>
          <a:ext cx="0" cy="0"/>
          <a:chOff x="0" y="0"/>
          <a:chExt cx="0" cy="0"/>
        </a:xfrm>
      </p:grpSpPr>
      <p:sp>
        <p:nvSpPr>
          <p:cNvPr id="8" name="Text 0"/>
          <p:cNvSpPr/>
          <p:nvPr/>
        </p:nvSpPr>
        <p:spPr>
          <a:xfrm>
            <a:off x="812880" y="1959480"/>
            <a:ext cx="10882800" cy="27360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45" strike="noStrike">
                <a:solidFill>
                  <a:srgbClr val="6cb4ff"/>
                </a:solidFill>
                <a:latin typeface="IBM Plex Mono"/>
                <a:ea typeface="IBM Plex Mono"/>
              </a:rPr>
              <a:t>ENSIGHT DATA &amp; AI</a:t>
            </a:r>
            <a:endParaRPr b="0" lang="en-US" sz="1400" spc="-1" strike="noStrike">
              <a:solidFill>
                <a:srgbClr val="ffffff"/>
              </a:solidFill>
              <a:latin typeface="Arial"/>
            </a:endParaRPr>
          </a:p>
        </p:txBody>
      </p:sp>
      <p:sp>
        <p:nvSpPr>
          <p:cNvPr id="9" name="PlaceHolder 1"/>
          <p:cNvSpPr>
            <a:spLocks noGrp="1"/>
          </p:cNvSpPr>
          <p:nvPr>
            <p:ph type="title"/>
          </p:nvPr>
        </p:nvSpPr>
        <p:spPr>
          <a:xfrm>
            <a:off x="812880" y="2462400"/>
            <a:ext cx="9155880" cy="771480"/>
          </a:xfrm>
          <a:prstGeom prst="rect">
            <a:avLst/>
          </a:prstGeom>
          <a:noFill/>
          <a:ln w="0">
            <a:noFill/>
          </a:ln>
        </p:spPr>
        <p:txBody>
          <a:bodyPr lIns="0" rIns="0" tIns="0" bIns="0" anchor="t">
            <a:normAutofit fontScale="50000"/>
          </a:bodyPr>
          <a:p>
            <a:pPr indent="0" defTabSz="914400">
              <a:lnSpc>
                <a:spcPts val="5879"/>
              </a:lnSpc>
              <a:buNone/>
              <a:tabLst>
                <a:tab algn="l" pos="0"/>
              </a:tabLst>
            </a:pPr>
            <a:r>
              <a:rPr b="1" lang="en-US" sz="5600" spc="-1" strike="noStrike">
                <a:solidFill>
                  <a:srgbClr val="f4f6f9"/>
                </a:solidFill>
                <a:latin typeface="IBM Plex Sans"/>
                <a:ea typeface="IBM Plex Sans"/>
              </a:rPr>
              <a:t>Ensight’ın Teknoloji Yığını</a:t>
            </a:r>
            <a:endParaRPr b="0" lang="en-US" sz="5600" spc="-1" strike="noStrike">
              <a:solidFill>
                <a:srgbClr val="ffffff"/>
              </a:solidFill>
              <a:latin typeface="Arial"/>
            </a:endParaRPr>
          </a:p>
        </p:txBody>
      </p:sp>
      <p:sp>
        <p:nvSpPr>
          <p:cNvPr id="10" name="Shape 2"/>
          <p:cNvSpPr/>
          <p:nvPr/>
        </p:nvSpPr>
        <p:spPr>
          <a:xfrm>
            <a:off x="812880" y="3463200"/>
            <a:ext cx="1015200" cy="37440"/>
          </a:xfrm>
          <a:prstGeom prst="rect">
            <a:avLst/>
          </a:prstGeom>
          <a:solidFill>
            <a:srgbClr val="6cb4ff"/>
          </a:solidFill>
          <a:ln w="0">
            <a:noFill/>
          </a:ln>
        </p:spPr>
        <p:style>
          <a:lnRef idx="0"/>
          <a:fillRef idx="0"/>
          <a:effectRef idx="0"/>
          <a:fontRef idx="minor"/>
        </p:style>
        <p:txBody>
          <a:bodyPr lIns="90000" rIns="90000" tIns="-6840" bIns="-6840" anchor="t">
            <a:noAutofit/>
          </a:bodyPr>
          <a:p>
            <a:pPr>
              <a:lnSpc>
                <a:spcPct val="100000"/>
              </a:lnSpc>
            </a:pPr>
            <a:endParaRPr b="0" lang="en-US" sz="1800" spc="-1" strike="noStrike">
              <a:solidFill>
                <a:srgbClr val="000000"/>
              </a:solidFill>
              <a:latin typeface="Arial"/>
            </a:endParaRPr>
          </a:p>
        </p:txBody>
      </p:sp>
      <p:sp>
        <p:nvSpPr>
          <p:cNvPr id="11" name="Text 3"/>
          <p:cNvSpPr/>
          <p:nvPr/>
        </p:nvSpPr>
        <p:spPr>
          <a:xfrm>
            <a:off x="812880" y="3755520"/>
            <a:ext cx="8501760" cy="664920"/>
          </a:xfrm>
          <a:prstGeom prst="rect">
            <a:avLst/>
          </a:prstGeom>
          <a:noFill/>
          <a:ln w="0">
            <a:noFill/>
          </a:ln>
        </p:spPr>
        <p:style>
          <a:lnRef idx="0"/>
          <a:fillRef idx="0"/>
          <a:effectRef idx="0"/>
          <a:fontRef idx="minor"/>
        </p:style>
        <p:txBody>
          <a:bodyPr lIns="0" rIns="0" tIns="0" bIns="0" anchor="t">
            <a:normAutofit/>
          </a:bodyPr>
          <a:p>
            <a:pPr defTabSz="914400">
              <a:lnSpc>
                <a:spcPts val="2520"/>
              </a:lnSpc>
              <a:tabLst>
                <a:tab algn="l" pos="0"/>
              </a:tabLst>
            </a:pPr>
            <a:r>
              <a:rPr b="0" lang="en-US" sz="1800" spc="-1" strike="noStrike">
                <a:solidFill>
                  <a:srgbClr val="b9c6d6"/>
                </a:solidFill>
                <a:latin typeface="IBM Plex Sans"/>
                <a:ea typeface="IBM Plex Sans"/>
              </a:rPr>
              <a:t>Kullandığımız ve müşteriye sunduğumuz veri, analitik ve yapay zekâ teknolojileri: ne oldukları, ne işe yaradıkları ve nasıl lisanslandıkları</a:t>
            </a:r>
            <a:endParaRPr b="0" lang="en-US" sz="1800" spc="-1" strike="noStrike">
              <a:solidFill>
                <a:srgbClr val="ffffff"/>
              </a:solidFill>
              <a:latin typeface="Arial"/>
            </a:endParaRPr>
          </a:p>
        </p:txBody>
      </p:sp>
      <p:sp>
        <p:nvSpPr>
          <p:cNvPr id="12" name="Text 4"/>
          <p:cNvSpPr/>
          <p:nvPr/>
        </p:nvSpPr>
        <p:spPr>
          <a:xfrm>
            <a:off x="812880" y="4649400"/>
            <a:ext cx="10882800" cy="27360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b9c6d6"/>
                </a:solidFill>
                <a:latin typeface="IBM Plex Mono"/>
                <a:ea typeface="IBM Plex Mono"/>
              </a:rPr>
              <a:t>Murat Taha Yavaş · Ekim 2026</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GİRİŞ</a:t>
            </a:r>
            <a:endParaRPr b="0" lang="en-US" sz="1200" spc="-1" strike="noStrike">
              <a:solidFill>
                <a:srgbClr val="000000"/>
              </a:solidFill>
              <a:latin typeface="Arial"/>
            </a:endParaRPr>
          </a:p>
        </p:txBody>
      </p:sp>
      <p:sp>
        <p:nvSpPr>
          <p:cNvPr id="1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Ensight kimdir?</a:t>
            </a:r>
            <a:endParaRPr b="0" lang="en-US" sz="3200" spc="-1" strike="noStrike">
              <a:solidFill>
                <a:srgbClr val="000000"/>
              </a:solidFill>
              <a:latin typeface="Arial"/>
            </a:endParaRPr>
          </a:p>
        </p:txBody>
      </p:sp>
      <p:sp>
        <p:nvSpPr>
          <p:cNvPr id="15"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Microsoft Solutions Partner; Türkiye’nin ilk Microsoft Fabric Featured Partner’ı ve Databricks Partneri.</a:t>
            </a:r>
            <a:endParaRPr b="0" lang="en-US" sz="1600" spc="-1" strike="noStrike">
              <a:solidFill>
                <a:srgbClr val="000000"/>
              </a:solidFill>
              <a:latin typeface="Arial"/>
            </a:endParaRPr>
          </a:p>
        </p:txBody>
      </p:sp>
      <p:sp>
        <p:nvSpPr>
          <p:cNvPr id="16" name="Shape 3"/>
          <p:cNvSpPr/>
          <p:nvPr/>
        </p:nvSpPr>
        <p:spPr>
          <a:xfrm>
            <a:off x="816120" y="2284200"/>
            <a:ext cx="2482200" cy="1575360"/>
          </a:xfrm>
          <a:prstGeom prst="roundRect">
            <a:avLst>
              <a:gd name="adj" fmla="val 4633"/>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 name="Text 4"/>
          <p:cNvSpPr/>
          <p:nvPr/>
        </p:nvSpPr>
        <p:spPr>
          <a:xfrm>
            <a:off x="1046520" y="2514600"/>
            <a:ext cx="2081880" cy="583560"/>
          </a:xfrm>
          <a:prstGeom prst="rect">
            <a:avLst/>
          </a:prstGeom>
          <a:noFill/>
          <a:ln w="0">
            <a:noFill/>
          </a:ln>
        </p:spPr>
        <p:style>
          <a:lnRef idx="0"/>
          <a:fillRef idx="0"/>
          <a:effectRef idx="0"/>
          <a:fontRef idx="minor"/>
        </p:style>
        <p:txBody>
          <a:bodyPr lIns="0" rIns="0" tIns="0" bIns="0" anchor="t">
            <a:normAutofit/>
          </a:bodyPr>
          <a:p>
            <a:pPr defTabSz="914400">
              <a:lnSpc>
                <a:spcPts val="4399"/>
              </a:lnSpc>
              <a:tabLst>
                <a:tab algn="l" pos="0"/>
              </a:tabLst>
            </a:pPr>
            <a:r>
              <a:rPr b="1" lang="en-US" sz="4400" spc="-1" strike="noStrike">
                <a:solidFill>
                  <a:srgbClr val="0b5cad"/>
                </a:solidFill>
                <a:latin typeface="IBM Plex Sans"/>
                <a:ea typeface="IBM Plex Sans"/>
              </a:rPr>
              <a:t>2011</a:t>
            </a:r>
            <a:endParaRPr b="0" lang="en-US" sz="4400" spc="-1" strike="noStrike">
              <a:solidFill>
                <a:srgbClr val="000000"/>
              </a:solidFill>
              <a:latin typeface="Arial"/>
            </a:endParaRPr>
          </a:p>
        </p:txBody>
      </p:sp>
      <p:sp>
        <p:nvSpPr>
          <p:cNvPr id="18" name="Text 5"/>
          <p:cNvSpPr/>
          <p:nvPr/>
        </p:nvSpPr>
        <p:spPr>
          <a:xfrm>
            <a:off x="1046520" y="3149640"/>
            <a:ext cx="2081880" cy="264600"/>
          </a:xfrm>
          <a:prstGeom prst="rect">
            <a:avLst/>
          </a:prstGeom>
          <a:noFill/>
          <a:ln w="0">
            <a:noFill/>
          </a:ln>
        </p:spPr>
        <p:style>
          <a:lnRef idx="0"/>
          <a:fillRef idx="0"/>
          <a:effectRef idx="0"/>
          <a:fontRef idx="minor"/>
        </p:style>
        <p:txBody>
          <a:bodyPr lIns="0" rIns="0" tIns="0" bIns="0" anchor="t">
            <a:normAutofit/>
          </a:bodyPr>
          <a:p>
            <a:pPr defTabSz="914400">
              <a:lnSpc>
                <a:spcPts val="1891"/>
              </a:lnSpc>
              <a:tabLst>
                <a:tab algn="l" pos="0"/>
              </a:tabLst>
            </a:pPr>
            <a:r>
              <a:rPr b="0" lang="en-US" sz="1400" spc="-1" strike="noStrike">
                <a:solidFill>
                  <a:srgbClr val="0e1e33"/>
                </a:solidFill>
                <a:latin typeface="IBM Plex Sans"/>
                <a:ea typeface="IBM Plex Sans"/>
              </a:rPr>
              <a:t>BI Talent adıyla kuruluş</a:t>
            </a:r>
            <a:endParaRPr b="0" lang="en-US" sz="1400" spc="-1" strike="noStrike">
              <a:solidFill>
                <a:srgbClr val="000000"/>
              </a:solidFill>
              <a:latin typeface="Arial"/>
            </a:endParaRPr>
          </a:p>
        </p:txBody>
      </p:sp>
      <p:sp>
        <p:nvSpPr>
          <p:cNvPr id="19" name="Shape 6"/>
          <p:cNvSpPr/>
          <p:nvPr/>
        </p:nvSpPr>
        <p:spPr>
          <a:xfrm>
            <a:off x="3508200" y="2284200"/>
            <a:ext cx="2482200" cy="1575360"/>
          </a:xfrm>
          <a:prstGeom prst="roundRect">
            <a:avLst>
              <a:gd name="adj" fmla="val 4633"/>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 name="Text 7"/>
          <p:cNvSpPr/>
          <p:nvPr/>
        </p:nvSpPr>
        <p:spPr>
          <a:xfrm>
            <a:off x="3738960" y="2514600"/>
            <a:ext cx="2081880" cy="583560"/>
          </a:xfrm>
          <a:prstGeom prst="rect">
            <a:avLst/>
          </a:prstGeom>
          <a:noFill/>
          <a:ln w="0">
            <a:noFill/>
          </a:ln>
        </p:spPr>
        <p:style>
          <a:lnRef idx="0"/>
          <a:fillRef idx="0"/>
          <a:effectRef idx="0"/>
          <a:fontRef idx="minor"/>
        </p:style>
        <p:txBody>
          <a:bodyPr lIns="0" rIns="0" tIns="0" bIns="0" anchor="t">
            <a:normAutofit/>
          </a:bodyPr>
          <a:p>
            <a:pPr defTabSz="914400">
              <a:lnSpc>
                <a:spcPts val="4399"/>
              </a:lnSpc>
              <a:tabLst>
                <a:tab algn="l" pos="0"/>
              </a:tabLst>
            </a:pPr>
            <a:r>
              <a:rPr b="1" lang="en-US" sz="4400" spc="-1" strike="noStrike">
                <a:solidFill>
                  <a:srgbClr val="0b5cad"/>
                </a:solidFill>
                <a:latin typeface="IBM Plex Sans"/>
                <a:ea typeface="IBM Plex Sans"/>
              </a:rPr>
              <a:t>2021</a:t>
            </a:r>
            <a:endParaRPr b="0" lang="en-US" sz="4400" spc="-1" strike="noStrike">
              <a:solidFill>
                <a:srgbClr val="000000"/>
              </a:solidFill>
              <a:latin typeface="Arial"/>
            </a:endParaRPr>
          </a:p>
        </p:txBody>
      </p:sp>
      <p:sp>
        <p:nvSpPr>
          <p:cNvPr id="21" name="Text 8"/>
          <p:cNvSpPr/>
          <p:nvPr/>
        </p:nvSpPr>
        <p:spPr>
          <a:xfrm>
            <a:off x="3738960" y="3149640"/>
            <a:ext cx="2081880" cy="504720"/>
          </a:xfrm>
          <a:prstGeom prst="rect">
            <a:avLst/>
          </a:prstGeom>
          <a:noFill/>
          <a:ln w="0">
            <a:noFill/>
          </a:ln>
        </p:spPr>
        <p:style>
          <a:lnRef idx="0"/>
          <a:fillRef idx="0"/>
          <a:effectRef idx="0"/>
          <a:fontRef idx="minor"/>
        </p:style>
        <p:txBody>
          <a:bodyPr lIns="0" rIns="0" tIns="0" bIns="0" anchor="t">
            <a:normAutofit/>
          </a:bodyPr>
          <a:p>
            <a:pPr defTabSz="914400">
              <a:lnSpc>
                <a:spcPts val="1891"/>
              </a:lnSpc>
              <a:tabLst>
                <a:tab algn="l" pos="0"/>
              </a:tabLst>
            </a:pPr>
            <a:r>
              <a:rPr b="0" lang="en-US" sz="1400" spc="-1" strike="noStrike">
                <a:solidFill>
                  <a:srgbClr val="0e1e33"/>
                </a:solidFill>
                <a:latin typeface="IBM Plex Sans"/>
                <a:ea typeface="IBM Plex Sans"/>
              </a:rPr>
              <a:t>Enqura’dan spin-off, bağımsız şirket</a:t>
            </a:r>
            <a:endParaRPr b="0" lang="en-US" sz="1400" spc="-1" strike="noStrike">
              <a:solidFill>
                <a:srgbClr val="000000"/>
              </a:solidFill>
              <a:latin typeface="Arial"/>
            </a:endParaRPr>
          </a:p>
        </p:txBody>
      </p:sp>
      <p:sp>
        <p:nvSpPr>
          <p:cNvPr id="22" name="Shape 9"/>
          <p:cNvSpPr/>
          <p:nvPr/>
        </p:nvSpPr>
        <p:spPr>
          <a:xfrm>
            <a:off x="6200640" y="2284200"/>
            <a:ext cx="2482200" cy="1575360"/>
          </a:xfrm>
          <a:prstGeom prst="roundRect">
            <a:avLst>
              <a:gd name="adj" fmla="val 4633"/>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 name="Text 10"/>
          <p:cNvSpPr/>
          <p:nvPr/>
        </p:nvSpPr>
        <p:spPr>
          <a:xfrm>
            <a:off x="6431400" y="2514600"/>
            <a:ext cx="2081880" cy="583560"/>
          </a:xfrm>
          <a:prstGeom prst="rect">
            <a:avLst/>
          </a:prstGeom>
          <a:noFill/>
          <a:ln w="0">
            <a:noFill/>
          </a:ln>
        </p:spPr>
        <p:style>
          <a:lnRef idx="0"/>
          <a:fillRef idx="0"/>
          <a:effectRef idx="0"/>
          <a:fontRef idx="minor"/>
        </p:style>
        <p:txBody>
          <a:bodyPr lIns="0" rIns="0" tIns="0" bIns="0" anchor="t">
            <a:normAutofit/>
          </a:bodyPr>
          <a:p>
            <a:pPr defTabSz="914400">
              <a:lnSpc>
                <a:spcPts val="4399"/>
              </a:lnSpc>
              <a:tabLst>
                <a:tab algn="l" pos="0"/>
              </a:tabLst>
            </a:pPr>
            <a:r>
              <a:rPr b="1" lang="en-US" sz="4400" spc="-1" strike="noStrike">
                <a:solidFill>
                  <a:srgbClr val="0b5cad"/>
                </a:solidFill>
                <a:latin typeface="IBM Plex Sans"/>
                <a:ea typeface="IBM Plex Sans"/>
              </a:rPr>
              <a:t>60+</a:t>
            </a:r>
            <a:endParaRPr b="0" lang="en-US" sz="4400" spc="-1" strike="noStrike">
              <a:solidFill>
                <a:srgbClr val="000000"/>
              </a:solidFill>
              <a:latin typeface="Arial"/>
            </a:endParaRPr>
          </a:p>
        </p:txBody>
      </p:sp>
      <p:sp>
        <p:nvSpPr>
          <p:cNvPr id="24" name="Text 11"/>
          <p:cNvSpPr/>
          <p:nvPr/>
        </p:nvSpPr>
        <p:spPr>
          <a:xfrm>
            <a:off x="6431400" y="3149640"/>
            <a:ext cx="2081880" cy="264600"/>
          </a:xfrm>
          <a:prstGeom prst="rect">
            <a:avLst/>
          </a:prstGeom>
          <a:noFill/>
          <a:ln w="0">
            <a:noFill/>
          </a:ln>
        </p:spPr>
        <p:style>
          <a:lnRef idx="0"/>
          <a:fillRef idx="0"/>
          <a:effectRef idx="0"/>
          <a:fontRef idx="minor"/>
        </p:style>
        <p:txBody>
          <a:bodyPr lIns="0" rIns="0" tIns="0" bIns="0" anchor="t">
            <a:normAutofit/>
          </a:bodyPr>
          <a:p>
            <a:pPr defTabSz="914400">
              <a:lnSpc>
                <a:spcPts val="1891"/>
              </a:lnSpc>
              <a:tabLst>
                <a:tab algn="l" pos="0"/>
              </a:tabLst>
            </a:pPr>
            <a:r>
              <a:rPr b="0" lang="en-US" sz="1400" spc="-1" strike="noStrike">
                <a:solidFill>
                  <a:srgbClr val="0e1e33"/>
                </a:solidFill>
                <a:latin typeface="IBM Plex Sans"/>
                <a:ea typeface="IBM Plex Sans"/>
              </a:rPr>
              <a:t>firmaya çözüm</a:t>
            </a:r>
            <a:endParaRPr b="0" lang="en-US" sz="1400" spc="-1" strike="noStrike">
              <a:solidFill>
                <a:srgbClr val="000000"/>
              </a:solidFill>
              <a:latin typeface="Arial"/>
            </a:endParaRPr>
          </a:p>
        </p:txBody>
      </p:sp>
      <p:sp>
        <p:nvSpPr>
          <p:cNvPr id="25" name="Shape 12"/>
          <p:cNvSpPr/>
          <p:nvPr/>
        </p:nvSpPr>
        <p:spPr>
          <a:xfrm>
            <a:off x="8893080" y="2284200"/>
            <a:ext cx="2482200" cy="1575360"/>
          </a:xfrm>
          <a:prstGeom prst="roundRect">
            <a:avLst>
              <a:gd name="adj" fmla="val 4633"/>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 name="Text 13"/>
          <p:cNvSpPr/>
          <p:nvPr/>
        </p:nvSpPr>
        <p:spPr>
          <a:xfrm>
            <a:off x="9123840" y="2514600"/>
            <a:ext cx="2081880" cy="583560"/>
          </a:xfrm>
          <a:prstGeom prst="rect">
            <a:avLst/>
          </a:prstGeom>
          <a:noFill/>
          <a:ln w="0">
            <a:noFill/>
          </a:ln>
        </p:spPr>
        <p:style>
          <a:lnRef idx="0"/>
          <a:fillRef idx="0"/>
          <a:effectRef idx="0"/>
          <a:fontRef idx="minor"/>
        </p:style>
        <p:txBody>
          <a:bodyPr lIns="0" rIns="0" tIns="0" bIns="0" anchor="t">
            <a:normAutofit/>
          </a:bodyPr>
          <a:p>
            <a:pPr defTabSz="914400">
              <a:lnSpc>
                <a:spcPts val="4399"/>
              </a:lnSpc>
              <a:tabLst>
                <a:tab algn="l" pos="0"/>
              </a:tabLst>
            </a:pPr>
            <a:r>
              <a:rPr b="1" lang="en-US" sz="4400" spc="-1" strike="noStrike">
                <a:solidFill>
                  <a:srgbClr val="0b5cad"/>
                </a:solidFill>
                <a:latin typeface="IBM Plex Sans"/>
                <a:ea typeface="IBM Plex Sans"/>
              </a:rPr>
              <a:t>15+</a:t>
            </a:r>
            <a:endParaRPr b="0" lang="en-US" sz="4400" spc="-1" strike="noStrike">
              <a:solidFill>
                <a:srgbClr val="000000"/>
              </a:solidFill>
              <a:latin typeface="Arial"/>
            </a:endParaRPr>
          </a:p>
        </p:txBody>
      </p:sp>
      <p:sp>
        <p:nvSpPr>
          <p:cNvPr id="27" name="Text 14"/>
          <p:cNvSpPr/>
          <p:nvPr/>
        </p:nvSpPr>
        <p:spPr>
          <a:xfrm>
            <a:off x="9123840" y="3149640"/>
            <a:ext cx="2081880" cy="264600"/>
          </a:xfrm>
          <a:prstGeom prst="rect">
            <a:avLst/>
          </a:prstGeom>
          <a:noFill/>
          <a:ln w="0">
            <a:noFill/>
          </a:ln>
        </p:spPr>
        <p:style>
          <a:lnRef idx="0"/>
          <a:fillRef idx="0"/>
          <a:effectRef idx="0"/>
          <a:fontRef idx="minor"/>
        </p:style>
        <p:txBody>
          <a:bodyPr lIns="0" rIns="0" tIns="0" bIns="0" anchor="t">
            <a:normAutofit/>
          </a:bodyPr>
          <a:p>
            <a:pPr defTabSz="914400">
              <a:lnSpc>
                <a:spcPts val="1891"/>
              </a:lnSpc>
              <a:tabLst>
                <a:tab algn="l" pos="0"/>
              </a:tabLst>
            </a:pPr>
            <a:r>
              <a:rPr b="0" lang="en-US" sz="1400" spc="-1" strike="noStrike">
                <a:solidFill>
                  <a:srgbClr val="0e1e33"/>
                </a:solidFill>
                <a:latin typeface="IBM Plex Sans"/>
                <a:ea typeface="IBM Plex Sans"/>
              </a:rPr>
              <a:t>sektör</a:t>
            </a:r>
            <a:endParaRPr b="0" lang="en-US" sz="1400" spc="-1" strike="noStrike">
              <a:solidFill>
                <a:srgbClr val="000000"/>
              </a:solidFill>
              <a:latin typeface="Arial"/>
            </a:endParaRPr>
          </a:p>
        </p:txBody>
      </p:sp>
      <p:sp>
        <p:nvSpPr>
          <p:cNvPr id="28" name="Shape 15"/>
          <p:cNvSpPr/>
          <p:nvPr/>
        </p:nvSpPr>
        <p:spPr>
          <a:xfrm>
            <a:off x="812880" y="4041000"/>
            <a:ext cx="10565640" cy="654480"/>
          </a:xfrm>
          <a:prstGeom prst="roundRect">
            <a:avLst>
              <a:gd name="adj" fmla="val 11628"/>
            </a:avLst>
          </a:prstGeom>
          <a:solidFill>
            <a:srgbClr val="0e1e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Text 16"/>
          <p:cNvSpPr/>
          <p:nvPr/>
        </p:nvSpPr>
        <p:spPr>
          <a:xfrm>
            <a:off x="1041480" y="4244400"/>
            <a:ext cx="1119960" cy="273600"/>
          </a:xfrm>
          <a:prstGeom prst="rect">
            <a:avLst/>
          </a:prstGeom>
          <a:noFill/>
          <a:ln w="0">
            <a:noFill/>
          </a:ln>
        </p:spPr>
        <p:style>
          <a:lnRef idx="0"/>
          <a:fillRef idx="0"/>
          <a:effectRef idx="0"/>
          <a:fontRef idx="minor"/>
        </p:style>
        <p:txBody>
          <a:bodyPr lIns="0" rIns="0" tIns="0" bIns="0" anchor="t">
            <a:normAutofit fontScale="50000"/>
          </a:bodyPr>
          <a:p>
            <a:pPr defTabSz="914400">
              <a:lnSpc>
                <a:spcPts val="1959"/>
              </a:lnSpc>
              <a:tabLst>
                <a:tab algn="l" pos="0"/>
              </a:tabLst>
            </a:pPr>
            <a:r>
              <a:rPr b="1" lang="en-US" sz="1400" spc="-1" strike="noStrike">
                <a:solidFill>
                  <a:srgbClr val="6cb4ff"/>
                </a:solidFill>
                <a:latin typeface="IBM Plex Sans"/>
                <a:ea typeface="IBM Plex Sans"/>
              </a:rPr>
              <a:t>Dört iş kolu</a:t>
            </a:r>
            <a:endParaRPr b="0" lang="en-US" sz="1400" spc="-1" strike="noStrike">
              <a:solidFill>
                <a:srgbClr val="000000"/>
              </a:solidFill>
              <a:latin typeface="Arial"/>
            </a:endParaRPr>
          </a:p>
        </p:txBody>
      </p:sp>
      <p:sp>
        <p:nvSpPr>
          <p:cNvPr id="30" name="Text 17"/>
          <p:cNvSpPr/>
          <p:nvPr/>
        </p:nvSpPr>
        <p:spPr>
          <a:xfrm>
            <a:off x="2178360" y="4244400"/>
            <a:ext cx="8179200" cy="27360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f4f6f9"/>
                </a:solidFill>
                <a:latin typeface="IBM Plex Sans"/>
                <a:ea typeface="IBM Plex Sans"/>
              </a:rPr>
              <a:t>Danışmanlık ve proje · Hazır sektörel ürünler · Lisans satışı · Eğitim (Ensight Academy)</a:t>
            </a:r>
            <a:endParaRPr b="0" lang="en-US" sz="1400" spc="-1" strike="noStrike">
              <a:solidFill>
                <a:srgbClr val="000000"/>
              </a:solidFill>
              <a:latin typeface="Arial"/>
            </a:endParaRPr>
          </a:p>
        </p:txBody>
      </p:sp>
      <p:sp>
        <p:nvSpPr>
          <p:cNvPr id="31" name="Text 18"/>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2" name="Text 19"/>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02</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BÜYÜK RESİM</a:t>
            </a:r>
            <a:endParaRPr b="0" lang="en-US" sz="1200" spc="-1" strike="noStrike">
              <a:solidFill>
                <a:srgbClr val="000000"/>
              </a:solidFill>
              <a:latin typeface="Arial"/>
            </a:endParaRPr>
          </a:p>
        </p:txBody>
      </p:sp>
      <p:sp>
        <p:nvSpPr>
          <p:cNvPr id="3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Teknolojiler veri akışında nerede duruyor?</a:t>
            </a:r>
            <a:endParaRPr b="0" lang="en-US" sz="3200" spc="-1" strike="noStrike">
              <a:solidFill>
                <a:srgbClr val="000000"/>
              </a:solidFill>
              <a:latin typeface="Arial"/>
            </a:endParaRPr>
          </a:p>
        </p:txBody>
      </p:sp>
      <p:sp>
        <p:nvSpPr>
          <p:cNvPr id="35" name="Shape 2"/>
          <p:cNvSpPr/>
          <p:nvPr/>
        </p:nvSpPr>
        <p:spPr>
          <a:xfrm>
            <a:off x="81612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 name="Text 3"/>
          <p:cNvSpPr/>
          <p:nvPr/>
        </p:nvSpPr>
        <p:spPr>
          <a:xfrm>
            <a:off x="94500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01</a:t>
            </a:r>
            <a:endParaRPr b="0" lang="en-US" sz="1200" spc="-1" strike="noStrike">
              <a:solidFill>
                <a:srgbClr val="000000"/>
              </a:solidFill>
              <a:latin typeface="Arial"/>
            </a:endParaRPr>
          </a:p>
        </p:txBody>
      </p:sp>
      <p:sp>
        <p:nvSpPr>
          <p:cNvPr id="37" name="Text 4"/>
          <p:cNvSpPr/>
          <p:nvPr/>
        </p:nvSpPr>
        <p:spPr>
          <a:xfrm>
            <a:off x="94500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Kaynak</a:t>
            </a:r>
            <a:endParaRPr b="0" lang="en-US" sz="1500" spc="-1" strike="noStrike">
              <a:solidFill>
                <a:srgbClr val="000000"/>
              </a:solidFill>
              <a:latin typeface="Arial"/>
            </a:endParaRPr>
          </a:p>
        </p:txBody>
      </p:sp>
      <p:sp>
        <p:nvSpPr>
          <p:cNvPr id="38" name="Text 5"/>
          <p:cNvSpPr/>
          <p:nvPr/>
        </p:nvSpPr>
        <p:spPr>
          <a:xfrm>
            <a:off x="94500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ERP, CRM</a:t>
            </a:r>
            <a:endParaRPr b="0" lang="en-US" sz="1200" spc="-1" strike="noStrike">
              <a:solidFill>
                <a:srgbClr val="000000"/>
              </a:solidFill>
              <a:latin typeface="Arial"/>
            </a:endParaRPr>
          </a:p>
        </p:txBody>
      </p:sp>
      <p:sp>
        <p:nvSpPr>
          <p:cNvPr id="39" name="Text 6"/>
          <p:cNvSpPr/>
          <p:nvPr/>
        </p:nvSpPr>
        <p:spPr>
          <a:xfrm>
            <a:off x="94500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Core banking</a:t>
            </a:r>
            <a:endParaRPr b="0" lang="en-US" sz="1200" spc="-1" strike="noStrike">
              <a:solidFill>
                <a:srgbClr val="000000"/>
              </a:solidFill>
              <a:latin typeface="Arial"/>
            </a:endParaRPr>
          </a:p>
        </p:txBody>
      </p:sp>
      <p:sp>
        <p:nvSpPr>
          <p:cNvPr id="40" name="Text 7"/>
          <p:cNvSpPr/>
          <p:nvPr/>
        </p:nvSpPr>
        <p:spPr>
          <a:xfrm>
            <a:off x="945000" y="312912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Dosya, API</a:t>
            </a:r>
            <a:endParaRPr b="0" lang="en-US" sz="1200" spc="-1" strike="noStrike">
              <a:solidFill>
                <a:srgbClr val="000000"/>
              </a:solidFill>
              <a:latin typeface="Arial"/>
            </a:endParaRPr>
          </a:p>
        </p:txBody>
      </p:sp>
      <p:sp>
        <p:nvSpPr>
          <p:cNvPr id="41" name="Shape 8"/>
          <p:cNvSpPr/>
          <p:nvPr/>
        </p:nvSpPr>
        <p:spPr>
          <a:xfrm>
            <a:off x="259812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 name="Text 9"/>
          <p:cNvSpPr/>
          <p:nvPr/>
        </p:nvSpPr>
        <p:spPr>
          <a:xfrm>
            <a:off x="272700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02</a:t>
            </a:r>
            <a:endParaRPr b="0" lang="en-US" sz="1200" spc="-1" strike="noStrike">
              <a:solidFill>
                <a:srgbClr val="000000"/>
              </a:solidFill>
              <a:latin typeface="Arial"/>
            </a:endParaRPr>
          </a:p>
        </p:txBody>
      </p:sp>
      <p:sp>
        <p:nvSpPr>
          <p:cNvPr id="43" name="Text 10"/>
          <p:cNvSpPr/>
          <p:nvPr/>
        </p:nvSpPr>
        <p:spPr>
          <a:xfrm>
            <a:off x="272700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Alım</a:t>
            </a:r>
            <a:endParaRPr b="0" lang="en-US" sz="1500" spc="-1" strike="noStrike">
              <a:solidFill>
                <a:srgbClr val="000000"/>
              </a:solidFill>
              <a:latin typeface="Arial"/>
            </a:endParaRPr>
          </a:p>
        </p:txBody>
      </p:sp>
      <p:sp>
        <p:nvSpPr>
          <p:cNvPr id="44" name="Text 11"/>
          <p:cNvSpPr/>
          <p:nvPr/>
        </p:nvSpPr>
        <p:spPr>
          <a:xfrm>
            <a:off x="272700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Data Factory</a:t>
            </a:r>
            <a:endParaRPr b="0" lang="en-US" sz="1200" spc="-1" strike="noStrike">
              <a:solidFill>
                <a:srgbClr val="000000"/>
              </a:solidFill>
              <a:latin typeface="Arial"/>
            </a:endParaRPr>
          </a:p>
        </p:txBody>
      </p:sp>
      <p:sp>
        <p:nvSpPr>
          <p:cNvPr id="45" name="Text 12"/>
          <p:cNvSpPr/>
          <p:nvPr/>
        </p:nvSpPr>
        <p:spPr>
          <a:xfrm>
            <a:off x="272700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SSIS</a:t>
            </a:r>
            <a:endParaRPr b="0" lang="en-US" sz="1200" spc="-1" strike="noStrike">
              <a:solidFill>
                <a:srgbClr val="000000"/>
              </a:solidFill>
              <a:latin typeface="Arial"/>
            </a:endParaRPr>
          </a:p>
        </p:txBody>
      </p:sp>
      <p:sp>
        <p:nvSpPr>
          <p:cNvPr id="46" name="Text 13"/>
          <p:cNvSpPr/>
          <p:nvPr/>
        </p:nvSpPr>
        <p:spPr>
          <a:xfrm>
            <a:off x="2727000" y="312912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Event Hubs</a:t>
            </a:r>
            <a:endParaRPr b="0" lang="en-US" sz="1200" spc="-1" strike="noStrike">
              <a:solidFill>
                <a:srgbClr val="000000"/>
              </a:solidFill>
              <a:latin typeface="Arial"/>
            </a:endParaRPr>
          </a:p>
        </p:txBody>
      </p:sp>
      <p:sp>
        <p:nvSpPr>
          <p:cNvPr id="47" name="Shape 14"/>
          <p:cNvSpPr/>
          <p:nvPr/>
        </p:nvSpPr>
        <p:spPr>
          <a:xfrm>
            <a:off x="438048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8" name="Text 15"/>
          <p:cNvSpPr/>
          <p:nvPr/>
        </p:nvSpPr>
        <p:spPr>
          <a:xfrm>
            <a:off x="450936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03</a:t>
            </a:r>
            <a:endParaRPr b="0" lang="en-US" sz="1200" spc="-1" strike="noStrike">
              <a:solidFill>
                <a:srgbClr val="000000"/>
              </a:solidFill>
              <a:latin typeface="Arial"/>
            </a:endParaRPr>
          </a:p>
        </p:txBody>
      </p:sp>
      <p:sp>
        <p:nvSpPr>
          <p:cNvPr id="49" name="Text 16"/>
          <p:cNvSpPr/>
          <p:nvPr/>
        </p:nvSpPr>
        <p:spPr>
          <a:xfrm>
            <a:off x="450936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Depolama</a:t>
            </a:r>
            <a:endParaRPr b="0" lang="en-US" sz="1500" spc="-1" strike="noStrike">
              <a:solidFill>
                <a:srgbClr val="000000"/>
              </a:solidFill>
              <a:latin typeface="Arial"/>
            </a:endParaRPr>
          </a:p>
        </p:txBody>
      </p:sp>
      <p:sp>
        <p:nvSpPr>
          <p:cNvPr id="50" name="Text 17"/>
          <p:cNvSpPr/>
          <p:nvPr/>
        </p:nvSpPr>
        <p:spPr>
          <a:xfrm>
            <a:off x="450936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ADLS Gen2</a:t>
            </a:r>
            <a:endParaRPr b="0" lang="en-US" sz="1200" spc="-1" strike="noStrike">
              <a:solidFill>
                <a:srgbClr val="000000"/>
              </a:solidFill>
              <a:latin typeface="Arial"/>
            </a:endParaRPr>
          </a:p>
        </p:txBody>
      </p:sp>
      <p:sp>
        <p:nvSpPr>
          <p:cNvPr id="51" name="Text 18"/>
          <p:cNvSpPr/>
          <p:nvPr/>
        </p:nvSpPr>
        <p:spPr>
          <a:xfrm>
            <a:off x="450936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OneLake</a:t>
            </a:r>
            <a:endParaRPr b="0" lang="en-US" sz="1200" spc="-1" strike="noStrike">
              <a:solidFill>
                <a:srgbClr val="000000"/>
              </a:solidFill>
              <a:latin typeface="Arial"/>
            </a:endParaRPr>
          </a:p>
        </p:txBody>
      </p:sp>
      <p:sp>
        <p:nvSpPr>
          <p:cNvPr id="52" name="Text 19"/>
          <p:cNvSpPr/>
          <p:nvPr/>
        </p:nvSpPr>
        <p:spPr>
          <a:xfrm>
            <a:off x="4509360" y="312912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SQL Server</a:t>
            </a:r>
            <a:endParaRPr b="0" lang="en-US" sz="1200" spc="-1" strike="noStrike">
              <a:solidFill>
                <a:srgbClr val="000000"/>
              </a:solidFill>
              <a:latin typeface="Arial"/>
            </a:endParaRPr>
          </a:p>
        </p:txBody>
      </p:sp>
      <p:sp>
        <p:nvSpPr>
          <p:cNvPr id="53" name="Text 20"/>
          <p:cNvSpPr/>
          <p:nvPr/>
        </p:nvSpPr>
        <p:spPr>
          <a:xfrm>
            <a:off x="4509360" y="340344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Azure SQL</a:t>
            </a:r>
            <a:endParaRPr b="0" lang="en-US" sz="1200" spc="-1" strike="noStrike">
              <a:solidFill>
                <a:srgbClr val="000000"/>
              </a:solidFill>
              <a:latin typeface="Arial"/>
            </a:endParaRPr>
          </a:p>
        </p:txBody>
      </p:sp>
      <p:sp>
        <p:nvSpPr>
          <p:cNvPr id="54" name="Text 21"/>
          <p:cNvSpPr/>
          <p:nvPr/>
        </p:nvSpPr>
        <p:spPr>
          <a:xfrm>
            <a:off x="4509360" y="367776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PostgreSQL</a:t>
            </a:r>
            <a:endParaRPr b="0" lang="en-US" sz="1200" spc="-1" strike="noStrike">
              <a:solidFill>
                <a:srgbClr val="000000"/>
              </a:solidFill>
              <a:latin typeface="Arial"/>
            </a:endParaRPr>
          </a:p>
        </p:txBody>
      </p:sp>
      <p:sp>
        <p:nvSpPr>
          <p:cNvPr id="55" name="Shape 22"/>
          <p:cNvSpPr/>
          <p:nvPr/>
        </p:nvSpPr>
        <p:spPr>
          <a:xfrm>
            <a:off x="616284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6" name="Text 23"/>
          <p:cNvSpPr/>
          <p:nvPr/>
        </p:nvSpPr>
        <p:spPr>
          <a:xfrm>
            <a:off x="629172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04</a:t>
            </a:r>
            <a:endParaRPr b="0" lang="en-US" sz="1200" spc="-1" strike="noStrike">
              <a:solidFill>
                <a:srgbClr val="000000"/>
              </a:solidFill>
              <a:latin typeface="Arial"/>
            </a:endParaRPr>
          </a:p>
        </p:txBody>
      </p:sp>
      <p:sp>
        <p:nvSpPr>
          <p:cNvPr id="57" name="Text 24"/>
          <p:cNvSpPr/>
          <p:nvPr/>
        </p:nvSpPr>
        <p:spPr>
          <a:xfrm>
            <a:off x="629172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İşleme</a:t>
            </a:r>
            <a:endParaRPr b="0" lang="en-US" sz="1500" spc="-1" strike="noStrike">
              <a:solidFill>
                <a:srgbClr val="000000"/>
              </a:solidFill>
              <a:latin typeface="Arial"/>
            </a:endParaRPr>
          </a:p>
        </p:txBody>
      </p:sp>
      <p:sp>
        <p:nvSpPr>
          <p:cNvPr id="58" name="Text 25"/>
          <p:cNvSpPr/>
          <p:nvPr/>
        </p:nvSpPr>
        <p:spPr>
          <a:xfrm>
            <a:off x="629172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Fabric</a:t>
            </a:r>
            <a:endParaRPr b="0" lang="en-US" sz="1200" spc="-1" strike="noStrike">
              <a:solidFill>
                <a:srgbClr val="000000"/>
              </a:solidFill>
              <a:latin typeface="Arial"/>
            </a:endParaRPr>
          </a:p>
        </p:txBody>
      </p:sp>
      <p:sp>
        <p:nvSpPr>
          <p:cNvPr id="59" name="Text 26"/>
          <p:cNvSpPr/>
          <p:nvPr/>
        </p:nvSpPr>
        <p:spPr>
          <a:xfrm>
            <a:off x="629172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Databricks</a:t>
            </a:r>
            <a:endParaRPr b="0" lang="en-US" sz="1200" spc="-1" strike="noStrike">
              <a:solidFill>
                <a:srgbClr val="000000"/>
              </a:solidFill>
              <a:latin typeface="Arial"/>
            </a:endParaRPr>
          </a:p>
        </p:txBody>
      </p:sp>
      <p:sp>
        <p:nvSpPr>
          <p:cNvPr id="60" name="Text 27"/>
          <p:cNvSpPr/>
          <p:nvPr/>
        </p:nvSpPr>
        <p:spPr>
          <a:xfrm>
            <a:off x="6291720" y="312912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Synapse</a:t>
            </a:r>
            <a:endParaRPr b="0" lang="en-US" sz="1200" spc="-1" strike="noStrike">
              <a:solidFill>
                <a:srgbClr val="000000"/>
              </a:solidFill>
              <a:latin typeface="Arial"/>
            </a:endParaRPr>
          </a:p>
        </p:txBody>
      </p:sp>
      <p:sp>
        <p:nvSpPr>
          <p:cNvPr id="61" name="Shape 28"/>
          <p:cNvSpPr/>
          <p:nvPr/>
        </p:nvSpPr>
        <p:spPr>
          <a:xfrm>
            <a:off x="794484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2" name="Text 29"/>
          <p:cNvSpPr/>
          <p:nvPr/>
        </p:nvSpPr>
        <p:spPr>
          <a:xfrm>
            <a:off x="807372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05</a:t>
            </a:r>
            <a:endParaRPr b="0" lang="en-US" sz="1200" spc="-1" strike="noStrike">
              <a:solidFill>
                <a:srgbClr val="000000"/>
              </a:solidFill>
              <a:latin typeface="Arial"/>
            </a:endParaRPr>
          </a:p>
        </p:txBody>
      </p:sp>
      <p:sp>
        <p:nvSpPr>
          <p:cNvPr id="63" name="Text 30"/>
          <p:cNvSpPr/>
          <p:nvPr/>
        </p:nvSpPr>
        <p:spPr>
          <a:xfrm>
            <a:off x="807372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Modelleme</a:t>
            </a:r>
            <a:endParaRPr b="0" lang="en-US" sz="1500" spc="-1" strike="noStrike">
              <a:solidFill>
                <a:srgbClr val="000000"/>
              </a:solidFill>
              <a:latin typeface="Arial"/>
            </a:endParaRPr>
          </a:p>
        </p:txBody>
      </p:sp>
      <p:sp>
        <p:nvSpPr>
          <p:cNvPr id="64" name="Text 31"/>
          <p:cNvSpPr/>
          <p:nvPr/>
        </p:nvSpPr>
        <p:spPr>
          <a:xfrm>
            <a:off x="807372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SSAS / Azure AS</a:t>
            </a:r>
            <a:endParaRPr b="0" lang="en-US" sz="1200" spc="-1" strike="noStrike">
              <a:solidFill>
                <a:srgbClr val="000000"/>
              </a:solidFill>
              <a:latin typeface="Arial"/>
            </a:endParaRPr>
          </a:p>
        </p:txBody>
      </p:sp>
      <p:sp>
        <p:nvSpPr>
          <p:cNvPr id="65" name="Text 32"/>
          <p:cNvSpPr/>
          <p:nvPr/>
        </p:nvSpPr>
        <p:spPr>
          <a:xfrm>
            <a:off x="807372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Semantic model</a:t>
            </a:r>
            <a:endParaRPr b="0" lang="en-US" sz="1200" spc="-1" strike="noStrike">
              <a:solidFill>
                <a:srgbClr val="000000"/>
              </a:solidFill>
              <a:latin typeface="Arial"/>
            </a:endParaRPr>
          </a:p>
        </p:txBody>
      </p:sp>
      <p:sp>
        <p:nvSpPr>
          <p:cNvPr id="66" name="Shape 33"/>
          <p:cNvSpPr/>
          <p:nvPr/>
        </p:nvSpPr>
        <p:spPr>
          <a:xfrm>
            <a:off x="9727200" y="1832040"/>
            <a:ext cx="1648080" cy="3292560"/>
          </a:xfrm>
          <a:prstGeom prst="roundRect">
            <a:avLst>
              <a:gd name="adj" fmla="val 442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7" name="Text 34"/>
          <p:cNvSpPr/>
          <p:nvPr/>
        </p:nvSpPr>
        <p:spPr>
          <a:xfrm>
            <a:off x="9856080" y="1986120"/>
            <a:ext cx="14410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b5cad"/>
                </a:solidFill>
                <a:latin typeface="IBM Plex Mono"/>
                <a:ea typeface="IBM Plex Mono"/>
              </a:rPr>
              <a:t>06</a:t>
            </a:r>
            <a:endParaRPr b="0" lang="en-US" sz="1200" spc="-1" strike="noStrike">
              <a:solidFill>
                <a:srgbClr val="000000"/>
              </a:solidFill>
              <a:latin typeface="Arial"/>
            </a:endParaRPr>
          </a:p>
        </p:txBody>
      </p:sp>
      <p:sp>
        <p:nvSpPr>
          <p:cNvPr id="68" name="Text 35"/>
          <p:cNvSpPr/>
          <p:nvPr/>
        </p:nvSpPr>
        <p:spPr>
          <a:xfrm>
            <a:off x="9856080" y="2275920"/>
            <a:ext cx="14410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e1e33"/>
                </a:solidFill>
                <a:latin typeface="IBM Plex Sans"/>
                <a:ea typeface="IBM Plex Sans"/>
              </a:rPr>
              <a:t>Sunum</a:t>
            </a:r>
            <a:endParaRPr b="0" lang="en-US" sz="1500" spc="-1" strike="noStrike">
              <a:solidFill>
                <a:srgbClr val="000000"/>
              </a:solidFill>
              <a:latin typeface="Arial"/>
            </a:endParaRPr>
          </a:p>
        </p:txBody>
      </p:sp>
      <p:sp>
        <p:nvSpPr>
          <p:cNvPr id="69" name="Text 36"/>
          <p:cNvSpPr/>
          <p:nvPr/>
        </p:nvSpPr>
        <p:spPr>
          <a:xfrm>
            <a:off x="9856080" y="258048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Power BI</a:t>
            </a:r>
            <a:endParaRPr b="0" lang="en-US" sz="1200" spc="-1" strike="noStrike">
              <a:solidFill>
                <a:srgbClr val="000000"/>
              </a:solidFill>
              <a:latin typeface="Arial"/>
            </a:endParaRPr>
          </a:p>
        </p:txBody>
      </p:sp>
      <p:sp>
        <p:nvSpPr>
          <p:cNvPr id="70" name="Text 37"/>
          <p:cNvSpPr/>
          <p:nvPr/>
        </p:nvSpPr>
        <p:spPr>
          <a:xfrm>
            <a:off x="9856080" y="285480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Report Server</a:t>
            </a:r>
            <a:endParaRPr b="0" lang="en-US" sz="1200" spc="-1" strike="noStrike">
              <a:solidFill>
                <a:srgbClr val="000000"/>
              </a:solidFill>
              <a:latin typeface="Arial"/>
            </a:endParaRPr>
          </a:p>
        </p:txBody>
      </p:sp>
      <p:sp>
        <p:nvSpPr>
          <p:cNvPr id="71" name="Text 38"/>
          <p:cNvSpPr/>
          <p:nvPr/>
        </p:nvSpPr>
        <p:spPr>
          <a:xfrm>
            <a:off x="9856080" y="3129120"/>
            <a:ext cx="1441080" cy="222840"/>
          </a:xfrm>
          <a:prstGeom prst="rect">
            <a:avLst/>
          </a:prstGeom>
          <a:noFill/>
          <a:ln w="0">
            <a:noFill/>
          </a:ln>
        </p:spPr>
        <p:style>
          <a:lnRef idx="0"/>
          <a:fillRef idx="0"/>
          <a:effectRef idx="0"/>
          <a:fontRef idx="minor"/>
        </p:style>
        <p:txBody>
          <a:bodyPr lIns="0" rIns="0" tIns="0" bIns="0" anchor="t">
            <a:normAutofit/>
          </a:bodyPr>
          <a:p>
            <a:pPr defTabSz="914400">
              <a:lnSpc>
                <a:spcPts val="1559"/>
              </a:lnSpc>
              <a:tabLst>
                <a:tab algn="l" pos="0"/>
              </a:tabLst>
            </a:pPr>
            <a:r>
              <a:rPr b="0" lang="en-US" sz="1200" spc="-1" strike="noStrike">
                <a:solidFill>
                  <a:srgbClr val="0e1e33"/>
                </a:solidFill>
                <a:latin typeface="IBM Plex Sans"/>
                <a:ea typeface="IBM Plex Sans"/>
              </a:rPr>
              <a:t>SSRS</a:t>
            </a:r>
            <a:endParaRPr b="0" lang="en-US" sz="1200" spc="-1" strike="noStrike">
              <a:solidFill>
                <a:srgbClr val="000000"/>
              </a:solidFill>
              <a:latin typeface="Arial"/>
            </a:endParaRPr>
          </a:p>
        </p:txBody>
      </p:sp>
      <p:sp>
        <p:nvSpPr>
          <p:cNvPr id="72" name="Text 39"/>
          <p:cNvSpPr/>
          <p:nvPr/>
        </p:nvSpPr>
        <p:spPr>
          <a:xfrm>
            <a:off x="812880" y="5306040"/>
            <a:ext cx="5218920" cy="535320"/>
          </a:xfrm>
          <a:prstGeom prst="roundRect">
            <a:avLst>
              <a:gd name="adj" fmla="val 14218"/>
            </a:avLst>
          </a:prstGeom>
          <a:solidFill>
            <a:srgbClr val="0e1e33"/>
          </a:solidFill>
          <a:ln w="0">
            <a:noFill/>
          </a:ln>
        </p:spPr>
        <p:style>
          <a:lnRef idx="0"/>
          <a:fillRef idx="0"/>
          <a:effectRef idx="0"/>
          <a:fontRef idx="minor"/>
        </p:style>
        <p:txBody>
          <a:bodyPr lIns="155520" rIns="9720" tIns="129960" bIns="104760" anchor="t">
            <a:normAutofit/>
          </a:bodyPr>
          <a:p>
            <a:pPr defTabSz="914400">
              <a:lnSpc>
                <a:spcPts val="1820"/>
              </a:lnSpc>
              <a:tabLst>
                <a:tab algn="l" pos="0"/>
              </a:tabLst>
            </a:pPr>
            <a:r>
              <a:rPr b="0" lang="en-US" sz="1300" spc="-1" strike="noStrike">
                <a:solidFill>
                  <a:srgbClr val="6cb4ff"/>
                </a:solidFill>
                <a:latin typeface="IBM Plex Sans"/>
                <a:ea typeface="IBM Plex Sans"/>
              </a:rPr>
              <a:t>Yapay zekâ katmanı:</a:t>
            </a:r>
            <a:r>
              <a:rPr b="0" lang="en-US" sz="1300" spc="-1" strike="noStrike">
                <a:solidFill>
                  <a:srgbClr val="f4f6f9"/>
                </a:solidFill>
                <a:latin typeface="IBM Plex Sans"/>
                <a:ea typeface="IBM Plex Sans"/>
              </a:rPr>
              <a:t> Azure Machine Learning · Azure AI Services</a:t>
            </a:r>
            <a:endParaRPr b="0" lang="en-US" sz="1300" spc="-1" strike="noStrike">
              <a:solidFill>
                <a:srgbClr val="ffffff"/>
              </a:solidFill>
              <a:latin typeface="Arial"/>
            </a:endParaRPr>
          </a:p>
        </p:txBody>
      </p:sp>
      <p:sp>
        <p:nvSpPr>
          <p:cNvPr id="73" name="Text 40"/>
          <p:cNvSpPr/>
          <p:nvPr/>
        </p:nvSpPr>
        <p:spPr>
          <a:xfrm>
            <a:off x="6159600" y="5306040"/>
            <a:ext cx="5218920" cy="535320"/>
          </a:xfrm>
          <a:prstGeom prst="roundRect">
            <a:avLst>
              <a:gd name="adj" fmla="val 14218"/>
            </a:avLst>
          </a:prstGeom>
          <a:solidFill>
            <a:srgbClr val="0e1e33"/>
          </a:solidFill>
          <a:ln w="0">
            <a:noFill/>
          </a:ln>
        </p:spPr>
        <p:style>
          <a:lnRef idx="0"/>
          <a:fillRef idx="0"/>
          <a:effectRef idx="0"/>
          <a:fontRef idx="minor"/>
        </p:style>
        <p:txBody>
          <a:bodyPr lIns="155520" rIns="9720" tIns="129960" bIns="104760" anchor="t">
            <a:normAutofit/>
          </a:bodyPr>
          <a:p>
            <a:pPr defTabSz="914400">
              <a:lnSpc>
                <a:spcPts val="1820"/>
              </a:lnSpc>
              <a:tabLst>
                <a:tab algn="l" pos="0"/>
              </a:tabLst>
            </a:pPr>
            <a:r>
              <a:rPr b="0" lang="en-US" sz="1300" spc="-1" strike="noStrike">
                <a:solidFill>
                  <a:srgbClr val="6cb4ff"/>
                </a:solidFill>
                <a:latin typeface="IBM Plex Sans"/>
                <a:ea typeface="IBM Plex Sans"/>
              </a:rPr>
              <a:t>Yönetişim katmanı:</a:t>
            </a:r>
            <a:r>
              <a:rPr b="0" lang="en-US" sz="1300" spc="-1" strike="noStrike">
                <a:solidFill>
                  <a:srgbClr val="f4f6f9"/>
                </a:solidFill>
                <a:latin typeface="IBM Plex Sans"/>
                <a:ea typeface="IBM Plex Sans"/>
              </a:rPr>
              <a:t> Microsoft Purview</a:t>
            </a:r>
            <a:endParaRPr b="0" lang="en-US" sz="1300" spc="-1" strike="noStrike">
              <a:solidFill>
                <a:srgbClr val="ffffff"/>
              </a:solidFill>
              <a:latin typeface="Arial"/>
            </a:endParaRPr>
          </a:p>
        </p:txBody>
      </p:sp>
      <p:sp>
        <p:nvSpPr>
          <p:cNvPr id="74" name="Text 41"/>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75" name="Text 42"/>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03</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76"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FABRIC 1/4</a:t>
            </a:r>
            <a:endParaRPr b="0" lang="en-US" sz="1200" spc="-1" strike="noStrike">
              <a:solidFill>
                <a:srgbClr val="000000"/>
              </a:solidFill>
              <a:latin typeface="Arial"/>
            </a:endParaRPr>
          </a:p>
        </p:txBody>
      </p:sp>
      <p:sp>
        <p:nvSpPr>
          <p:cNvPr id="77"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Microsoft Fabric nedir?</a:t>
            </a:r>
            <a:endParaRPr b="0" lang="en-US" sz="3200" spc="-1" strike="noStrike">
              <a:solidFill>
                <a:srgbClr val="000000"/>
              </a:solidFill>
              <a:latin typeface="Arial"/>
            </a:endParaRPr>
          </a:p>
        </p:txBody>
      </p:sp>
      <p:sp>
        <p:nvSpPr>
          <p:cNvPr id="78" name="Text 2"/>
          <p:cNvSpPr/>
          <p:nvPr/>
        </p:nvSpPr>
        <p:spPr>
          <a:xfrm>
            <a:off x="812880" y="1828800"/>
            <a:ext cx="1046412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Verinin kurumdaki tüm yolculuğunu tek bir SaaS platformda yöneten uçtan uca analitik ürünü. Sık yapılan benzetme: analitik için Office 365.</a:t>
            </a:r>
            <a:endParaRPr b="0" lang="en-US" sz="1600" spc="-1" strike="noStrike">
              <a:solidFill>
                <a:srgbClr val="000000"/>
              </a:solidFill>
              <a:latin typeface="Arial"/>
            </a:endParaRPr>
          </a:p>
        </p:txBody>
      </p:sp>
      <p:sp>
        <p:nvSpPr>
          <p:cNvPr id="79" name="Shape 3"/>
          <p:cNvSpPr/>
          <p:nvPr/>
        </p:nvSpPr>
        <p:spPr>
          <a:xfrm>
            <a:off x="816120" y="2558520"/>
            <a:ext cx="5199840" cy="1026720"/>
          </a:xfrm>
          <a:prstGeom prst="roundRect">
            <a:avLst>
              <a:gd name="adj" fmla="val 710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 name="Text 4"/>
          <p:cNvSpPr/>
          <p:nvPr/>
        </p:nvSpPr>
        <p:spPr>
          <a:xfrm>
            <a:off x="995760" y="2712600"/>
            <a:ext cx="498564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Tek platform</a:t>
            </a:r>
            <a:endParaRPr b="0" lang="en-US" sz="1500" spc="-1" strike="noStrike">
              <a:solidFill>
                <a:srgbClr val="000000"/>
              </a:solidFill>
              <a:latin typeface="Arial"/>
            </a:endParaRPr>
          </a:p>
        </p:txBody>
      </p:sp>
      <p:sp>
        <p:nvSpPr>
          <p:cNvPr id="81" name="Text 5"/>
          <p:cNvSpPr/>
          <p:nvPr/>
        </p:nvSpPr>
        <p:spPr>
          <a:xfrm>
            <a:off x="995760" y="3004920"/>
            <a:ext cx="498564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Veri alma, işleme, ambar, gerçek zamanlı analitik, veri bilimi ve raporlama aynı ortamda; ayrı servisleri birbirine bağlamaya gerek yok.</a:t>
            </a:r>
            <a:endParaRPr b="0" lang="en-US" sz="1200" spc="-1" strike="noStrike">
              <a:solidFill>
                <a:srgbClr val="000000"/>
              </a:solidFill>
              <a:latin typeface="Arial"/>
            </a:endParaRPr>
          </a:p>
        </p:txBody>
      </p:sp>
      <p:sp>
        <p:nvSpPr>
          <p:cNvPr id="82" name="Shape 6"/>
          <p:cNvSpPr/>
          <p:nvPr/>
        </p:nvSpPr>
        <p:spPr>
          <a:xfrm>
            <a:off x="6175440" y="2558520"/>
            <a:ext cx="5199840" cy="1026720"/>
          </a:xfrm>
          <a:prstGeom prst="roundRect">
            <a:avLst>
              <a:gd name="adj" fmla="val 710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3" name="Text 7"/>
          <p:cNvSpPr/>
          <p:nvPr/>
        </p:nvSpPr>
        <p:spPr>
          <a:xfrm>
            <a:off x="6355080" y="2712600"/>
            <a:ext cx="498564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SaaS</a:t>
            </a:r>
            <a:endParaRPr b="0" lang="en-US" sz="1500" spc="-1" strike="noStrike">
              <a:solidFill>
                <a:srgbClr val="000000"/>
              </a:solidFill>
              <a:latin typeface="Arial"/>
            </a:endParaRPr>
          </a:p>
        </p:txBody>
      </p:sp>
      <p:sp>
        <p:nvSpPr>
          <p:cNvPr id="84" name="Text 8"/>
          <p:cNvSpPr/>
          <p:nvPr/>
        </p:nvSpPr>
        <p:spPr>
          <a:xfrm>
            <a:off x="6355080" y="3004920"/>
            <a:ext cx="498564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Sunucu, kaynak grubu, bölge ayarı yok. Fabric’i kullanmak için Azure hesabı bile gerekmiyor.</a:t>
            </a:r>
            <a:endParaRPr b="0" lang="en-US" sz="1200" spc="-1" strike="noStrike">
              <a:solidFill>
                <a:srgbClr val="000000"/>
              </a:solidFill>
              <a:latin typeface="Arial"/>
            </a:endParaRPr>
          </a:p>
        </p:txBody>
      </p:sp>
      <p:sp>
        <p:nvSpPr>
          <p:cNvPr id="85" name="Shape 9"/>
          <p:cNvSpPr/>
          <p:nvPr/>
        </p:nvSpPr>
        <p:spPr>
          <a:xfrm>
            <a:off x="816120" y="3744720"/>
            <a:ext cx="5199840" cy="1026720"/>
          </a:xfrm>
          <a:prstGeom prst="roundRect">
            <a:avLst>
              <a:gd name="adj" fmla="val 710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6" name="Text 10"/>
          <p:cNvSpPr/>
          <p:nvPr/>
        </p:nvSpPr>
        <p:spPr>
          <a:xfrm>
            <a:off x="995760" y="3898800"/>
            <a:ext cx="498564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Ortak işlem gücü</a:t>
            </a:r>
            <a:endParaRPr b="0" lang="en-US" sz="1500" spc="-1" strike="noStrike">
              <a:solidFill>
                <a:srgbClr val="000000"/>
              </a:solidFill>
              <a:latin typeface="Arial"/>
            </a:endParaRPr>
          </a:p>
        </p:txBody>
      </p:sp>
      <p:sp>
        <p:nvSpPr>
          <p:cNvPr id="87" name="Text 11"/>
          <p:cNvSpPr/>
          <p:nvPr/>
        </p:nvSpPr>
        <p:spPr>
          <a:xfrm>
            <a:off x="995760" y="4191120"/>
            <a:ext cx="498564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Tüm iş yükleri tek kapasiteden beslenir; birinin kullanmadığı gücü diğeri kullanır.</a:t>
            </a:r>
            <a:endParaRPr b="0" lang="en-US" sz="1200" spc="-1" strike="noStrike">
              <a:solidFill>
                <a:srgbClr val="000000"/>
              </a:solidFill>
              <a:latin typeface="Arial"/>
            </a:endParaRPr>
          </a:p>
        </p:txBody>
      </p:sp>
      <p:sp>
        <p:nvSpPr>
          <p:cNvPr id="88" name="Shape 12"/>
          <p:cNvSpPr/>
          <p:nvPr/>
        </p:nvSpPr>
        <p:spPr>
          <a:xfrm>
            <a:off x="6175440" y="3744720"/>
            <a:ext cx="5199840" cy="1026720"/>
          </a:xfrm>
          <a:prstGeom prst="roundRect">
            <a:avLst>
              <a:gd name="adj" fmla="val 710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9" name="Text 13"/>
          <p:cNvSpPr/>
          <p:nvPr/>
        </p:nvSpPr>
        <p:spPr>
          <a:xfrm>
            <a:off x="6355080" y="3898800"/>
            <a:ext cx="498564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Yerleşik yapay zekâ</a:t>
            </a:r>
            <a:endParaRPr b="0" lang="en-US" sz="1500" spc="-1" strike="noStrike">
              <a:solidFill>
                <a:srgbClr val="000000"/>
              </a:solidFill>
              <a:latin typeface="Arial"/>
            </a:endParaRPr>
          </a:p>
        </p:txBody>
      </p:sp>
      <p:sp>
        <p:nvSpPr>
          <p:cNvPr id="90" name="Text 14"/>
          <p:cNvSpPr/>
          <p:nvPr/>
        </p:nvSpPr>
        <p:spPr>
          <a:xfrm>
            <a:off x="6355080" y="4191120"/>
            <a:ext cx="498564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Copilot sorgu, pipeline ve kod yazmaya yardım eder; Excel ve Teams ile entegre çalışır.</a:t>
            </a:r>
            <a:endParaRPr b="0" lang="en-US" sz="1200" spc="-1" strike="noStrike">
              <a:solidFill>
                <a:srgbClr val="000000"/>
              </a:solidFill>
              <a:latin typeface="Arial"/>
            </a:endParaRPr>
          </a:p>
        </p:txBody>
      </p:sp>
      <p:sp>
        <p:nvSpPr>
          <p:cNvPr id="91" name="Shape 15"/>
          <p:cNvSpPr/>
          <p:nvPr/>
        </p:nvSpPr>
        <p:spPr>
          <a:xfrm>
            <a:off x="812880" y="4952880"/>
            <a:ext cx="10565640" cy="791640"/>
          </a:xfrm>
          <a:prstGeom prst="roundRect">
            <a:avLst>
              <a:gd name="adj" fmla="val 9615"/>
            </a:avLst>
          </a:prstGeom>
          <a:solidFill>
            <a:srgbClr val="0e1e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Text 16"/>
          <p:cNvSpPr/>
          <p:nvPr/>
        </p:nvSpPr>
        <p:spPr>
          <a:xfrm>
            <a:off x="1041480" y="5224680"/>
            <a:ext cx="1961280" cy="27360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1" strike="noStrike">
                <a:solidFill>
                  <a:srgbClr val="6cb4ff"/>
                </a:solidFill>
                <a:latin typeface="IBM Plex Sans"/>
                <a:ea typeface="IBM Plex Sans"/>
              </a:rPr>
              <a:t>Ensight ve Fabric</a:t>
            </a:r>
            <a:endParaRPr b="0" lang="en-US" sz="1400" spc="-1" strike="noStrike">
              <a:solidFill>
                <a:srgbClr val="000000"/>
              </a:solidFill>
              <a:latin typeface="Arial"/>
            </a:endParaRPr>
          </a:p>
        </p:txBody>
      </p:sp>
      <p:sp>
        <p:nvSpPr>
          <p:cNvPr id="93" name="Text 17"/>
          <p:cNvSpPr/>
          <p:nvPr/>
        </p:nvSpPr>
        <p:spPr>
          <a:xfrm>
            <a:off x="3124080" y="5118120"/>
            <a:ext cx="824040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Ensight, Türkiye’nin ilk Microsoft Fabric Featured Partner’ı. Projeleri bronze-silver-gold lakehouse katmanlarıyla kuruyor, Ensight Academy’de Fabric eğitimi veriyor.</a:t>
            </a:r>
            <a:endParaRPr b="0" lang="en-US" sz="1300" spc="-1" strike="noStrike">
              <a:solidFill>
                <a:srgbClr val="000000"/>
              </a:solidFill>
              <a:latin typeface="Arial"/>
            </a:endParaRPr>
          </a:p>
        </p:txBody>
      </p:sp>
      <p:sp>
        <p:nvSpPr>
          <p:cNvPr id="94" name="Text 18"/>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95" name="Text 19"/>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04</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96"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FABRIC 2/4</a:t>
            </a:r>
            <a:endParaRPr b="0" lang="en-US" sz="1200" spc="-1" strike="noStrike">
              <a:solidFill>
                <a:srgbClr val="000000"/>
              </a:solidFill>
              <a:latin typeface="Arial"/>
            </a:endParaRPr>
          </a:p>
        </p:txBody>
      </p:sp>
      <p:sp>
        <p:nvSpPr>
          <p:cNvPr id="97"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OneLake: kurumun tek veri gölü</a:t>
            </a:r>
            <a:endParaRPr b="0" lang="en-US" sz="3200" spc="-1" strike="noStrike">
              <a:solidFill>
                <a:srgbClr val="000000"/>
              </a:solidFill>
              <a:latin typeface="Arial"/>
            </a:endParaRPr>
          </a:p>
        </p:txBody>
      </p:sp>
      <p:sp>
        <p:nvSpPr>
          <p:cNvPr id="98" name="Text 2"/>
          <p:cNvSpPr/>
          <p:nvPr/>
        </p:nvSpPr>
        <p:spPr>
          <a:xfrm>
            <a:off x="812880" y="1828800"/>
            <a:ext cx="1046412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Fabric’in kalbi. ADLS Gen2 üzerine kurulu, açık Delta formatında; her kurumda bir tane var ve ilk günden hazır geliyor.</a:t>
            </a:r>
            <a:endParaRPr b="0" lang="en-US" sz="1600" spc="-1" strike="noStrike">
              <a:solidFill>
                <a:srgbClr val="000000"/>
              </a:solidFill>
              <a:latin typeface="Arial"/>
            </a:endParaRPr>
          </a:p>
        </p:txBody>
      </p:sp>
      <p:sp>
        <p:nvSpPr>
          <p:cNvPr id="99" name="Text 3"/>
          <p:cNvSpPr/>
          <p:nvPr/>
        </p:nvSpPr>
        <p:spPr>
          <a:xfrm>
            <a:off x="812880" y="2555280"/>
            <a:ext cx="49701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HİYERARŞİ</a:t>
            </a:r>
            <a:endParaRPr b="0" lang="en-US" sz="1200" spc="-1" strike="noStrike">
              <a:solidFill>
                <a:srgbClr val="000000"/>
              </a:solidFill>
              <a:latin typeface="Arial"/>
            </a:endParaRPr>
          </a:p>
        </p:txBody>
      </p:sp>
      <p:sp>
        <p:nvSpPr>
          <p:cNvPr id="100" name="Shape 4"/>
          <p:cNvSpPr/>
          <p:nvPr/>
        </p:nvSpPr>
        <p:spPr>
          <a:xfrm>
            <a:off x="816120" y="2835360"/>
            <a:ext cx="4818960" cy="734760"/>
          </a:xfrm>
          <a:prstGeom prst="roundRect">
            <a:avLst>
              <a:gd name="adj" fmla="val 9931"/>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 name="Text 5"/>
          <p:cNvSpPr/>
          <p:nvPr/>
        </p:nvSpPr>
        <p:spPr>
          <a:xfrm>
            <a:off x="983160" y="296424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Tenant</a:t>
            </a:r>
            <a:endParaRPr b="0" lang="en-US" sz="1400" spc="-1" strike="noStrike">
              <a:solidFill>
                <a:srgbClr val="000000"/>
              </a:solidFill>
              <a:latin typeface="Arial"/>
            </a:endParaRPr>
          </a:p>
        </p:txBody>
      </p:sp>
      <p:sp>
        <p:nvSpPr>
          <p:cNvPr id="102" name="Text 6"/>
          <p:cNvSpPr/>
          <p:nvPr/>
        </p:nvSpPr>
        <p:spPr>
          <a:xfrm>
            <a:off x="983160" y="322848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f4f6f9"/>
                </a:solidFill>
                <a:latin typeface="IBM Plex Sans"/>
                <a:ea typeface="IBM Plex Sans"/>
              </a:rPr>
              <a:t>Kurumun tamamı: tek bir OneLake</a:t>
            </a:r>
            <a:endParaRPr b="0" lang="en-US" sz="1200" spc="-1" strike="noStrike">
              <a:solidFill>
                <a:srgbClr val="000000"/>
              </a:solidFill>
              <a:latin typeface="Arial"/>
            </a:endParaRPr>
          </a:p>
        </p:txBody>
      </p:sp>
      <p:pic>
        <p:nvPicPr>
          <p:cNvPr id="103" name="Image 0" descr="arrow-down"/>
          <p:cNvPicPr/>
          <p:nvPr/>
        </p:nvPicPr>
        <p:blipFill>
          <a:blip r:embed="rId1"/>
          <a:stretch/>
        </p:blipFill>
        <p:spPr>
          <a:xfrm>
            <a:off x="3098880" y="3637440"/>
            <a:ext cx="253440" cy="202320"/>
          </a:xfrm>
          <a:prstGeom prst="rect">
            <a:avLst/>
          </a:prstGeom>
          <a:ln w="0">
            <a:noFill/>
          </a:ln>
        </p:spPr>
      </p:pic>
      <p:sp>
        <p:nvSpPr>
          <p:cNvPr id="104" name="Shape 7"/>
          <p:cNvSpPr/>
          <p:nvPr/>
        </p:nvSpPr>
        <p:spPr>
          <a:xfrm>
            <a:off x="816120" y="3907080"/>
            <a:ext cx="4818960" cy="734760"/>
          </a:xfrm>
          <a:prstGeom prst="roundRect">
            <a:avLst>
              <a:gd name="adj" fmla="val 993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5" name="Text 8"/>
          <p:cNvSpPr/>
          <p:nvPr/>
        </p:nvSpPr>
        <p:spPr>
          <a:xfrm>
            <a:off x="983160" y="403596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Workspace</a:t>
            </a:r>
            <a:endParaRPr b="0" lang="en-US" sz="1400" spc="-1" strike="noStrike">
              <a:solidFill>
                <a:srgbClr val="000000"/>
              </a:solidFill>
              <a:latin typeface="Arial"/>
            </a:endParaRPr>
          </a:p>
        </p:txBody>
      </p:sp>
      <p:sp>
        <p:nvSpPr>
          <p:cNvPr id="106" name="Text 9"/>
          <p:cNvSpPr/>
          <p:nvPr/>
        </p:nvSpPr>
        <p:spPr>
          <a:xfrm>
            <a:off x="983160" y="430020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Ekip veya proje klasörü (OneDrive’daki klasör gibi)</a:t>
            </a:r>
            <a:endParaRPr b="0" lang="en-US" sz="1200" spc="-1" strike="noStrike">
              <a:solidFill>
                <a:srgbClr val="000000"/>
              </a:solidFill>
              <a:latin typeface="Arial"/>
            </a:endParaRPr>
          </a:p>
        </p:txBody>
      </p:sp>
      <p:pic>
        <p:nvPicPr>
          <p:cNvPr id="107" name="Image 1" descr="arrow-down"/>
          <p:cNvPicPr/>
          <p:nvPr/>
        </p:nvPicPr>
        <p:blipFill>
          <a:blip r:embed="rId2"/>
          <a:stretch/>
        </p:blipFill>
        <p:spPr>
          <a:xfrm>
            <a:off x="3098880" y="4709160"/>
            <a:ext cx="253440" cy="202320"/>
          </a:xfrm>
          <a:prstGeom prst="rect">
            <a:avLst/>
          </a:prstGeom>
          <a:ln w="0">
            <a:noFill/>
          </a:ln>
        </p:spPr>
      </p:pic>
      <p:sp>
        <p:nvSpPr>
          <p:cNvPr id="108" name="Shape 10"/>
          <p:cNvSpPr/>
          <p:nvPr/>
        </p:nvSpPr>
        <p:spPr>
          <a:xfrm>
            <a:off x="816120" y="4979160"/>
            <a:ext cx="4818960" cy="734760"/>
          </a:xfrm>
          <a:prstGeom prst="roundRect">
            <a:avLst>
              <a:gd name="adj" fmla="val 993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9" name="Text 11"/>
          <p:cNvSpPr/>
          <p:nvPr/>
        </p:nvSpPr>
        <p:spPr>
          <a:xfrm>
            <a:off x="983160" y="510804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Lakehouse / Warehouse</a:t>
            </a:r>
            <a:endParaRPr b="0" lang="en-US" sz="1400" spc="-1" strike="noStrike">
              <a:solidFill>
                <a:srgbClr val="000000"/>
              </a:solidFill>
              <a:latin typeface="Arial"/>
            </a:endParaRPr>
          </a:p>
        </p:txBody>
      </p:sp>
      <p:sp>
        <p:nvSpPr>
          <p:cNvPr id="110" name="Text 12"/>
          <p:cNvSpPr/>
          <p:nvPr/>
        </p:nvSpPr>
        <p:spPr>
          <a:xfrm>
            <a:off x="983160" y="5372280"/>
            <a:ext cx="46195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Dosyalar ve Delta tablolar; tüm iş yükleri aynı kopyayı okur</a:t>
            </a:r>
            <a:endParaRPr b="0" lang="en-US" sz="1200" spc="-1" strike="noStrike">
              <a:solidFill>
                <a:srgbClr val="000000"/>
              </a:solidFill>
              <a:latin typeface="Arial"/>
            </a:endParaRPr>
          </a:p>
        </p:txBody>
      </p:sp>
      <p:sp>
        <p:nvSpPr>
          <p:cNvPr id="111" name="Text 13"/>
          <p:cNvSpPr/>
          <p:nvPr/>
        </p:nvSpPr>
        <p:spPr>
          <a:xfrm>
            <a:off x="5943600" y="2555280"/>
            <a:ext cx="5598000" cy="201240"/>
          </a:xfrm>
          <a:prstGeom prst="rect">
            <a:avLst/>
          </a:prstGeom>
          <a:noFill/>
          <a:ln w="0">
            <a:noFill/>
          </a:ln>
        </p:spPr>
        <p:style>
          <a:lnRef idx="0"/>
          <a:fillRef idx="0"/>
          <a:effectRef idx="0"/>
          <a:fontRef idx="minor"/>
        </p:style>
        <p:txBody>
          <a:bodyPr lIns="0" rIns="0" tIns="0" bIns="0" anchor="t">
            <a:normAutofit/>
          </a:bodyPr>
          <a:p>
            <a:pPr defTabSz="914400">
              <a:lnSpc>
                <a:spcPts val="1423"/>
              </a:lnSpc>
              <a:tabLst>
                <a:tab algn="l" pos="0"/>
              </a:tabLst>
            </a:pPr>
            <a:r>
              <a:rPr b="0" lang="en-US" sz="1010" spc="94" strike="noStrike">
                <a:solidFill>
                  <a:srgbClr val="0b5cad"/>
                </a:solidFill>
                <a:latin typeface="IBM Plex Mono"/>
                <a:ea typeface="IBM Plex Mono"/>
              </a:rPr>
              <a:t>VERİ KOPYALAMADAN BAĞLANMA</a:t>
            </a:r>
            <a:endParaRPr b="0" lang="en-US" sz="1010" spc="-1" strike="noStrike">
              <a:solidFill>
                <a:srgbClr val="000000"/>
              </a:solidFill>
              <a:latin typeface="Arial"/>
            </a:endParaRPr>
          </a:p>
        </p:txBody>
      </p:sp>
      <p:sp>
        <p:nvSpPr>
          <p:cNvPr id="112" name="Shape 14"/>
          <p:cNvSpPr/>
          <p:nvPr/>
        </p:nvSpPr>
        <p:spPr>
          <a:xfrm>
            <a:off x="5946840" y="2862000"/>
            <a:ext cx="5428440" cy="902880"/>
          </a:xfrm>
          <a:prstGeom prst="roundRect">
            <a:avLst>
              <a:gd name="adj" fmla="val 8083"/>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3" name="Text 15"/>
          <p:cNvSpPr/>
          <p:nvPr/>
        </p:nvSpPr>
        <p:spPr>
          <a:xfrm>
            <a:off x="6126480" y="3016080"/>
            <a:ext cx="5221080" cy="209880"/>
          </a:xfrm>
          <a:prstGeom prst="rect">
            <a:avLst/>
          </a:prstGeom>
          <a:noFill/>
          <a:ln w="0">
            <a:noFill/>
          </a:ln>
        </p:spPr>
        <p:style>
          <a:lnRef idx="0"/>
          <a:fillRef idx="0"/>
          <a:effectRef idx="0"/>
          <a:fontRef idx="minor"/>
        </p:style>
        <p:txBody>
          <a:bodyPr lIns="0" rIns="0" tIns="0" bIns="0" anchor="t">
            <a:normAutofit/>
          </a:bodyPr>
          <a:p>
            <a:pPr defTabSz="914400">
              <a:lnSpc>
                <a:spcPts val="1474"/>
              </a:lnSpc>
              <a:tabLst>
                <a:tab algn="l" pos="0"/>
              </a:tabLst>
            </a:pPr>
            <a:r>
              <a:rPr b="1" lang="en-US" sz="1230" spc="-1" strike="noStrike">
                <a:solidFill>
                  <a:srgbClr val="0b5cad"/>
                </a:solidFill>
                <a:latin typeface="IBM Plex Sans"/>
                <a:ea typeface="IBM Plex Sans"/>
              </a:rPr>
              <a:t>Shortcut</a:t>
            </a:r>
            <a:endParaRPr b="0" lang="en-US" sz="1230" spc="-1" strike="noStrike">
              <a:solidFill>
                <a:srgbClr val="000000"/>
              </a:solidFill>
              <a:latin typeface="Arial"/>
            </a:endParaRPr>
          </a:p>
        </p:txBody>
      </p:sp>
      <p:sp>
        <p:nvSpPr>
          <p:cNvPr id="114" name="Text 16"/>
          <p:cNvSpPr/>
          <p:nvPr/>
        </p:nvSpPr>
        <p:spPr>
          <a:xfrm>
            <a:off x="6126480" y="3265200"/>
            <a:ext cx="5245560" cy="370800"/>
          </a:xfrm>
          <a:prstGeom prst="rect">
            <a:avLst/>
          </a:prstGeom>
          <a:noFill/>
          <a:ln w="0">
            <a:noFill/>
          </a:ln>
        </p:spPr>
        <p:style>
          <a:lnRef idx="0"/>
          <a:fillRef idx="0"/>
          <a:effectRef idx="0"/>
          <a:fontRef idx="minor"/>
        </p:style>
        <p:txBody>
          <a:bodyPr lIns="0" rIns="0" tIns="0" bIns="0" anchor="t">
            <a:normAutofit/>
          </a:bodyPr>
          <a:p>
            <a:pPr defTabSz="914400">
              <a:lnSpc>
                <a:spcPts val="1417"/>
              </a:lnSpc>
              <a:tabLst>
                <a:tab algn="l" pos="0"/>
              </a:tabLst>
            </a:pPr>
            <a:r>
              <a:rPr b="0" lang="en-US" sz="1010" spc="-1" strike="noStrike">
                <a:solidFill>
                  <a:srgbClr val="0e1e33"/>
                </a:solidFill>
                <a:latin typeface="IBM Plex Sans"/>
                <a:ea typeface="IBM Plex Sans"/>
              </a:rPr>
              <a:t>ADLS, Amazon S3 ve Google Cloud Storage’daki veriye taşımadan, ETL yazmadan erişim.</a:t>
            </a:r>
            <a:endParaRPr b="0" lang="en-US" sz="1010" spc="-1" strike="noStrike">
              <a:solidFill>
                <a:srgbClr val="000000"/>
              </a:solidFill>
              <a:latin typeface="Arial"/>
            </a:endParaRPr>
          </a:p>
        </p:txBody>
      </p:sp>
      <p:sp>
        <p:nvSpPr>
          <p:cNvPr id="115" name="Shape 17"/>
          <p:cNvSpPr/>
          <p:nvPr/>
        </p:nvSpPr>
        <p:spPr>
          <a:xfrm>
            <a:off x="5946840" y="3898800"/>
            <a:ext cx="5428440" cy="902520"/>
          </a:xfrm>
          <a:prstGeom prst="roundRect">
            <a:avLst>
              <a:gd name="adj" fmla="val 808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6" name="Text 18"/>
          <p:cNvSpPr/>
          <p:nvPr/>
        </p:nvSpPr>
        <p:spPr>
          <a:xfrm>
            <a:off x="6126480" y="4052880"/>
            <a:ext cx="5221080" cy="209880"/>
          </a:xfrm>
          <a:prstGeom prst="rect">
            <a:avLst/>
          </a:prstGeom>
          <a:noFill/>
          <a:ln w="0">
            <a:noFill/>
          </a:ln>
        </p:spPr>
        <p:style>
          <a:lnRef idx="0"/>
          <a:fillRef idx="0"/>
          <a:effectRef idx="0"/>
          <a:fontRef idx="minor"/>
        </p:style>
        <p:txBody>
          <a:bodyPr lIns="0" rIns="0" tIns="0" bIns="0" anchor="t">
            <a:normAutofit/>
          </a:bodyPr>
          <a:p>
            <a:pPr defTabSz="914400">
              <a:lnSpc>
                <a:spcPts val="1474"/>
              </a:lnSpc>
              <a:tabLst>
                <a:tab algn="l" pos="0"/>
              </a:tabLst>
            </a:pPr>
            <a:r>
              <a:rPr b="1" lang="en-US" sz="1230" spc="-1" strike="noStrike">
                <a:solidFill>
                  <a:srgbClr val="0b5cad"/>
                </a:solidFill>
                <a:latin typeface="IBM Plex Sans"/>
                <a:ea typeface="IBM Plex Sans"/>
              </a:rPr>
              <a:t>Mirroring</a:t>
            </a:r>
            <a:endParaRPr b="0" lang="en-US" sz="1230" spc="-1" strike="noStrike">
              <a:solidFill>
                <a:srgbClr val="000000"/>
              </a:solidFill>
              <a:latin typeface="Arial"/>
            </a:endParaRPr>
          </a:p>
        </p:txBody>
      </p:sp>
      <p:sp>
        <p:nvSpPr>
          <p:cNvPr id="117" name="Text 19"/>
          <p:cNvSpPr/>
          <p:nvPr/>
        </p:nvSpPr>
        <p:spPr>
          <a:xfrm>
            <a:off x="6126480" y="4302000"/>
            <a:ext cx="5221080" cy="370440"/>
          </a:xfrm>
          <a:prstGeom prst="rect">
            <a:avLst/>
          </a:prstGeom>
          <a:noFill/>
          <a:ln w="0">
            <a:noFill/>
          </a:ln>
        </p:spPr>
        <p:style>
          <a:lnRef idx="0"/>
          <a:fillRef idx="0"/>
          <a:effectRef idx="0"/>
          <a:fontRef idx="minor"/>
        </p:style>
        <p:txBody>
          <a:bodyPr lIns="0" rIns="0" tIns="0" bIns="0" anchor="t">
            <a:normAutofit/>
          </a:bodyPr>
          <a:p>
            <a:pPr defTabSz="914400">
              <a:lnSpc>
                <a:spcPts val="1361"/>
              </a:lnSpc>
              <a:tabLst>
                <a:tab algn="l" pos="0"/>
              </a:tabLst>
            </a:pPr>
            <a:r>
              <a:rPr b="0" lang="en-US" sz="970" spc="-1" strike="noStrike">
                <a:solidFill>
                  <a:srgbClr val="0e1e33"/>
                </a:solidFill>
                <a:latin typeface="IBM Plex Sans"/>
                <a:ea typeface="IBM Plex Sans"/>
              </a:rPr>
              <a:t>Azure SQL, Cosmos DB, Azure Databricks ve Snowflake verisini sürekli olarak OneLake’e yansıtma.</a:t>
            </a:r>
            <a:endParaRPr b="0" lang="en-US" sz="970" spc="-1" strike="noStrike">
              <a:solidFill>
                <a:srgbClr val="000000"/>
              </a:solidFill>
              <a:latin typeface="Arial"/>
            </a:endParaRPr>
          </a:p>
        </p:txBody>
      </p:sp>
      <p:sp>
        <p:nvSpPr>
          <p:cNvPr id="118" name="Shape 20"/>
          <p:cNvSpPr/>
          <p:nvPr/>
        </p:nvSpPr>
        <p:spPr>
          <a:xfrm>
            <a:off x="5946840" y="4935600"/>
            <a:ext cx="5428440" cy="902520"/>
          </a:xfrm>
          <a:prstGeom prst="roundRect">
            <a:avLst>
              <a:gd name="adj" fmla="val 808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9" name="Text 21"/>
          <p:cNvSpPr/>
          <p:nvPr/>
        </p:nvSpPr>
        <p:spPr>
          <a:xfrm>
            <a:off x="6126480" y="5089680"/>
            <a:ext cx="5221080" cy="209880"/>
          </a:xfrm>
          <a:prstGeom prst="rect">
            <a:avLst/>
          </a:prstGeom>
          <a:noFill/>
          <a:ln w="0">
            <a:noFill/>
          </a:ln>
        </p:spPr>
        <p:style>
          <a:lnRef idx="0"/>
          <a:fillRef idx="0"/>
          <a:effectRef idx="0"/>
          <a:fontRef idx="minor"/>
        </p:style>
        <p:txBody>
          <a:bodyPr lIns="0" rIns="0" tIns="0" bIns="0" anchor="t">
            <a:normAutofit/>
          </a:bodyPr>
          <a:p>
            <a:pPr defTabSz="914400">
              <a:lnSpc>
                <a:spcPts val="1474"/>
              </a:lnSpc>
              <a:tabLst>
                <a:tab algn="l" pos="0"/>
              </a:tabLst>
            </a:pPr>
            <a:r>
              <a:rPr b="1" lang="en-US" sz="1230" spc="-1" strike="noStrike">
                <a:solidFill>
                  <a:srgbClr val="0b5cad"/>
                </a:solidFill>
                <a:latin typeface="IBM Plex Sans"/>
                <a:ea typeface="IBM Plex Sans"/>
              </a:rPr>
              <a:t>Dış paylaşım</a:t>
            </a:r>
            <a:endParaRPr b="0" lang="en-US" sz="1230" spc="-1" strike="noStrike">
              <a:solidFill>
                <a:srgbClr val="000000"/>
              </a:solidFill>
              <a:latin typeface="Arial"/>
            </a:endParaRPr>
          </a:p>
        </p:txBody>
      </p:sp>
      <p:sp>
        <p:nvSpPr>
          <p:cNvPr id="120" name="Text 22"/>
          <p:cNvSpPr/>
          <p:nvPr/>
        </p:nvSpPr>
        <p:spPr>
          <a:xfrm>
            <a:off x="6126480" y="5338440"/>
            <a:ext cx="5245560" cy="370440"/>
          </a:xfrm>
          <a:prstGeom prst="rect">
            <a:avLst/>
          </a:prstGeom>
          <a:noFill/>
          <a:ln w="0">
            <a:noFill/>
          </a:ln>
        </p:spPr>
        <p:style>
          <a:lnRef idx="0"/>
          <a:fillRef idx="0"/>
          <a:effectRef idx="0"/>
          <a:fontRef idx="minor"/>
        </p:style>
        <p:txBody>
          <a:bodyPr lIns="0" rIns="0" tIns="0" bIns="0" anchor="t">
            <a:normAutofit/>
          </a:bodyPr>
          <a:p>
            <a:pPr defTabSz="914400">
              <a:lnSpc>
                <a:spcPts val="1471"/>
              </a:lnSpc>
              <a:tabLst>
                <a:tab algn="l" pos="0"/>
              </a:tabLst>
            </a:pPr>
            <a:r>
              <a:rPr b="0" lang="en-US" sz="1050" spc="-1" strike="noStrike">
                <a:solidFill>
                  <a:srgbClr val="0e1e33"/>
                </a:solidFill>
                <a:latin typeface="IBM Plex Sans"/>
                <a:ea typeface="IBM Plex Sans"/>
              </a:rPr>
              <a:t>Canlı veri setlerini başka kurumlarla kopyalamadan paylaşma; yetkiler kaynakta kalır.</a:t>
            </a:r>
            <a:endParaRPr b="0" lang="en-US" sz="1050" spc="-1" strike="noStrike">
              <a:solidFill>
                <a:srgbClr val="000000"/>
              </a:solidFill>
              <a:latin typeface="Arial"/>
            </a:endParaRPr>
          </a:p>
        </p:txBody>
      </p:sp>
      <p:sp>
        <p:nvSpPr>
          <p:cNvPr id="121" name="Text 23"/>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122" name="Text 24"/>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05</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2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FABRIC 3/4</a:t>
            </a:r>
            <a:endParaRPr b="0" lang="en-US" sz="1200" spc="-1" strike="noStrike">
              <a:solidFill>
                <a:srgbClr val="000000"/>
              </a:solidFill>
              <a:latin typeface="Arial"/>
            </a:endParaRPr>
          </a:p>
        </p:txBody>
      </p:sp>
      <p:sp>
        <p:nvSpPr>
          <p:cNvPr id="12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Fabric’in iş yükleri</a:t>
            </a:r>
            <a:endParaRPr b="0" lang="en-US" sz="3200" spc="-1" strike="noStrike">
              <a:solidFill>
                <a:srgbClr val="000000"/>
              </a:solidFill>
              <a:latin typeface="Arial"/>
            </a:endParaRPr>
          </a:p>
        </p:txBody>
      </p:sp>
      <p:sp>
        <p:nvSpPr>
          <p:cNvPr id="125" name="Shape 2"/>
          <p:cNvSpPr/>
          <p:nvPr/>
        </p:nvSpPr>
        <p:spPr>
          <a:xfrm>
            <a:off x="816120" y="1832040"/>
            <a:ext cx="2539440" cy="2042640"/>
          </a:xfrm>
          <a:prstGeom prst="roundRect">
            <a:avLst>
              <a:gd name="adj" fmla="val 357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6" name="Text 3"/>
          <p:cNvSpPr/>
          <p:nvPr/>
        </p:nvSpPr>
        <p:spPr>
          <a:xfrm>
            <a:off x="995760" y="198612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Data Factory</a:t>
            </a:r>
            <a:endParaRPr b="0" lang="en-US" sz="1400" spc="-1" strike="noStrike">
              <a:solidFill>
                <a:srgbClr val="000000"/>
              </a:solidFill>
              <a:latin typeface="Arial"/>
            </a:endParaRPr>
          </a:p>
        </p:txBody>
      </p:sp>
      <p:sp>
        <p:nvSpPr>
          <p:cNvPr id="127" name="Text 4"/>
          <p:cNvSpPr/>
          <p:nvPr/>
        </p:nvSpPr>
        <p:spPr>
          <a:xfrm>
            <a:off x="995760" y="226296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200+ bağlayıcıyla veri alma ve dönüştürme; Power Query kolaylığında pipeline’lar.</a:t>
            </a:r>
            <a:endParaRPr b="0" lang="en-US" sz="1200" spc="-1" strike="noStrike">
              <a:solidFill>
                <a:srgbClr val="000000"/>
              </a:solidFill>
              <a:latin typeface="Arial"/>
            </a:endParaRPr>
          </a:p>
        </p:txBody>
      </p:sp>
      <p:sp>
        <p:nvSpPr>
          <p:cNvPr id="128" name="Shape 5"/>
          <p:cNvSpPr/>
          <p:nvPr/>
        </p:nvSpPr>
        <p:spPr>
          <a:xfrm>
            <a:off x="3489480" y="1832040"/>
            <a:ext cx="2539440" cy="2042640"/>
          </a:xfrm>
          <a:prstGeom prst="roundRect">
            <a:avLst>
              <a:gd name="adj" fmla="val 357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9" name="Text 6"/>
          <p:cNvSpPr/>
          <p:nvPr/>
        </p:nvSpPr>
        <p:spPr>
          <a:xfrm>
            <a:off x="3669120" y="198612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Data Engineering</a:t>
            </a:r>
            <a:endParaRPr b="0" lang="en-US" sz="1400" spc="-1" strike="noStrike">
              <a:solidFill>
                <a:srgbClr val="000000"/>
              </a:solidFill>
              <a:latin typeface="Arial"/>
            </a:endParaRPr>
          </a:p>
        </p:txBody>
      </p:sp>
      <p:sp>
        <p:nvSpPr>
          <p:cNvPr id="130" name="Text 7"/>
          <p:cNvSpPr/>
          <p:nvPr/>
        </p:nvSpPr>
        <p:spPr>
          <a:xfrm>
            <a:off x="3669120" y="226296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Apache Spark ve notebook’larla büyük veri işleme; işler zamanlanabilir.</a:t>
            </a:r>
            <a:endParaRPr b="0" lang="en-US" sz="1200" spc="-1" strike="noStrike">
              <a:solidFill>
                <a:srgbClr val="000000"/>
              </a:solidFill>
              <a:latin typeface="Arial"/>
            </a:endParaRPr>
          </a:p>
        </p:txBody>
      </p:sp>
      <p:sp>
        <p:nvSpPr>
          <p:cNvPr id="131" name="Shape 8"/>
          <p:cNvSpPr/>
          <p:nvPr/>
        </p:nvSpPr>
        <p:spPr>
          <a:xfrm>
            <a:off x="6162840" y="1832040"/>
            <a:ext cx="2539440" cy="2042640"/>
          </a:xfrm>
          <a:prstGeom prst="roundRect">
            <a:avLst>
              <a:gd name="adj" fmla="val 357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2" name="Text 9"/>
          <p:cNvSpPr/>
          <p:nvPr/>
        </p:nvSpPr>
        <p:spPr>
          <a:xfrm>
            <a:off x="6342480" y="198612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Data Warehouse</a:t>
            </a:r>
            <a:endParaRPr b="0" lang="en-US" sz="1400" spc="-1" strike="noStrike">
              <a:solidFill>
                <a:srgbClr val="000000"/>
              </a:solidFill>
              <a:latin typeface="Arial"/>
            </a:endParaRPr>
          </a:p>
        </p:txBody>
      </p:sp>
      <p:sp>
        <p:nvSpPr>
          <p:cNvPr id="133" name="Text 10"/>
          <p:cNvSpPr/>
          <p:nvPr/>
        </p:nvSpPr>
        <p:spPr>
          <a:xfrm>
            <a:off x="6342480" y="2262960"/>
            <a:ext cx="2245320" cy="8780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Yüksek performanslı SQL ambarı; işlem gücü ve depolama ayrı ölçeklenir, veri Delta formatında.</a:t>
            </a:r>
            <a:endParaRPr b="0" lang="en-US" sz="1200" spc="-1" strike="noStrike">
              <a:solidFill>
                <a:srgbClr val="000000"/>
              </a:solidFill>
              <a:latin typeface="Arial"/>
            </a:endParaRPr>
          </a:p>
        </p:txBody>
      </p:sp>
      <p:sp>
        <p:nvSpPr>
          <p:cNvPr id="134" name="Shape 11"/>
          <p:cNvSpPr/>
          <p:nvPr/>
        </p:nvSpPr>
        <p:spPr>
          <a:xfrm>
            <a:off x="8836200" y="1832040"/>
            <a:ext cx="2539440" cy="2042640"/>
          </a:xfrm>
          <a:prstGeom prst="roundRect">
            <a:avLst>
              <a:gd name="adj" fmla="val 3574"/>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5" name="Text 12"/>
          <p:cNvSpPr/>
          <p:nvPr/>
        </p:nvSpPr>
        <p:spPr>
          <a:xfrm>
            <a:off x="9015840" y="198612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Data Science</a:t>
            </a:r>
            <a:endParaRPr b="0" lang="en-US" sz="1400" spc="-1" strike="noStrike">
              <a:solidFill>
                <a:srgbClr val="000000"/>
              </a:solidFill>
              <a:latin typeface="Arial"/>
            </a:endParaRPr>
          </a:p>
        </p:txBody>
      </p:sp>
      <p:sp>
        <p:nvSpPr>
          <p:cNvPr id="136" name="Text 13"/>
          <p:cNvSpPr/>
          <p:nvPr/>
        </p:nvSpPr>
        <p:spPr>
          <a:xfrm>
            <a:off x="9015840" y="226296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Model eğitme ve yayına alma; tahminler doğrudan Power BI raporlarına girer.</a:t>
            </a:r>
            <a:endParaRPr b="0" lang="en-US" sz="1200" spc="-1" strike="noStrike">
              <a:solidFill>
                <a:srgbClr val="000000"/>
              </a:solidFill>
              <a:latin typeface="Arial"/>
            </a:endParaRPr>
          </a:p>
        </p:txBody>
      </p:sp>
      <p:sp>
        <p:nvSpPr>
          <p:cNvPr id="137" name="Shape 14"/>
          <p:cNvSpPr/>
          <p:nvPr/>
        </p:nvSpPr>
        <p:spPr>
          <a:xfrm>
            <a:off x="816120" y="4008600"/>
            <a:ext cx="2539440" cy="1829520"/>
          </a:xfrm>
          <a:prstGeom prst="roundRect">
            <a:avLst>
              <a:gd name="adj" fmla="val 399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8" name="Text 15"/>
          <p:cNvSpPr/>
          <p:nvPr/>
        </p:nvSpPr>
        <p:spPr>
          <a:xfrm>
            <a:off x="995760" y="416304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Real-Time Intelligence</a:t>
            </a:r>
            <a:endParaRPr b="0" lang="en-US" sz="1400" spc="-1" strike="noStrike">
              <a:solidFill>
                <a:srgbClr val="000000"/>
              </a:solidFill>
              <a:latin typeface="Arial"/>
            </a:endParaRPr>
          </a:p>
        </p:txBody>
      </p:sp>
      <p:sp>
        <p:nvSpPr>
          <p:cNvPr id="139" name="Text 16"/>
          <p:cNvSpPr/>
          <p:nvPr/>
        </p:nvSpPr>
        <p:spPr>
          <a:xfrm>
            <a:off x="995760" y="443988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IoT sinyali, log, tıklama akışı gibi veriyi geldiği anda analiz ve aksiyon.</a:t>
            </a:r>
            <a:endParaRPr b="0" lang="en-US" sz="1200" spc="-1" strike="noStrike">
              <a:solidFill>
                <a:srgbClr val="000000"/>
              </a:solidFill>
              <a:latin typeface="Arial"/>
            </a:endParaRPr>
          </a:p>
        </p:txBody>
      </p:sp>
      <p:sp>
        <p:nvSpPr>
          <p:cNvPr id="140" name="Shape 17"/>
          <p:cNvSpPr/>
          <p:nvPr/>
        </p:nvSpPr>
        <p:spPr>
          <a:xfrm>
            <a:off x="3489480" y="4008600"/>
            <a:ext cx="2539440" cy="1829520"/>
          </a:xfrm>
          <a:prstGeom prst="roundRect">
            <a:avLst>
              <a:gd name="adj" fmla="val 399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1" name="Text 18"/>
          <p:cNvSpPr/>
          <p:nvPr/>
        </p:nvSpPr>
        <p:spPr>
          <a:xfrm>
            <a:off x="3669120" y="416304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Databases</a:t>
            </a:r>
            <a:endParaRPr b="0" lang="en-US" sz="1400" spc="-1" strike="noStrike">
              <a:solidFill>
                <a:srgbClr val="000000"/>
              </a:solidFill>
              <a:latin typeface="Arial"/>
            </a:endParaRPr>
          </a:p>
        </p:txBody>
      </p:sp>
      <p:sp>
        <p:nvSpPr>
          <p:cNvPr id="142" name="Text 19"/>
          <p:cNvSpPr/>
          <p:nvPr/>
        </p:nvSpPr>
        <p:spPr>
          <a:xfrm>
            <a:off x="3669120" y="443988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Fabric içinde işlemsel SQL veritabanı; uygulamanın verisi de aynı platformda.</a:t>
            </a:r>
            <a:endParaRPr b="0" lang="en-US" sz="1200" spc="-1" strike="noStrike">
              <a:solidFill>
                <a:srgbClr val="000000"/>
              </a:solidFill>
              <a:latin typeface="Arial"/>
            </a:endParaRPr>
          </a:p>
        </p:txBody>
      </p:sp>
      <p:sp>
        <p:nvSpPr>
          <p:cNvPr id="143" name="Shape 20"/>
          <p:cNvSpPr/>
          <p:nvPr/>
        </p:nvSpPr>
        <p:spPr>
          <a:xfrm>
            <a:off x="6162840" y="4008600"/>
            <a:ext cx="2539440" cy="1829520"/>
          </a:xfrm>
          <a:prstGeom prst="roundRect">
            <a:avLst>
              <a:gd name="adj" fmla="val 399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4" name="Text 21"/>
          <p:cNvSpPr/>
          <p:nvPr/>
        </p:nvSpPr>
        <p:spPr>
          <a:xfrm>
            <a:off x="6342480" y="416304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Power BI</a:t>
            </a:r>
            <a:endParaRPr b="0" lang="en-US" sz="1400" spc="-1" strike="noStrike">
              <a:solidFill>
                <a:srgbClr val="000000"/>
              </a:solidFill>
              <a:latin typeface="Arial"/>
            </a:endParaRPr>
          </a:p>
        </p:txBody>
      </p:sp>
      <p:sp>
        <p:nvSpPr>
          <p:cNvPr id="145" name="Text 22"/>
          <p:cNvSpPr/>
          <p:nvPr/>
        </p:nvSpPr>
        <p:spPr>
          <a:xfrm>
            <a:off x="6342480" y="443988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Etkileşimli rapor ve dashboard; verinin son kullanıcıya ulaştığı katman.</a:t>
            </a:r>
            <a:endParaRPr b="0" lang="en-US" sz="1200" spc="-1" strike="noStrike">
              <a:solidFill>
                <a:srgbClr val="000000"/>
              </a:solidFill>
              <a:latin typeface="Arial"/>
            </a:endParaRPr>
          </a:p>
        </p:txBody>
      </p:sp>
      <p:sp>
        <p:nvSpPr>
          <p:cNvPr id="146" name="Shape 23"/>
          <p:cNvSpPr/>
          <p:nvPr/>
        </p:nvSpPr>
        <p:spPr>
          <a:xfrm>
            <a:off x="8836200" y="4008600"/>
            <a:ext cx="2539440" cy="1829520"/>
          </a:xfrm>
          <a:prstGeom prst="roundRect">
            <a:avLst>
              <a:gd name="adj" fmla="val 399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7" name="Text 24"/>
          <p:cNvSpPr/>
          <p:nvPr/>
        </p:nvSpPr>
        <p:spPr>
          <a:xfrm>
            <a:off x="9015840" y="4163040"/>
            <a:ext cx="2245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Fabric IQ (önizleme)</a:t>
            </a:r>
            <a:endParaRPr b="0" lang="en-US" sz="1400" spc="-1" strike="noStrike">
              <a:solidFill>
                <a:srgbClr val="000000"/>
              </a:solidFill>
              <a:latin typeface="Arial"/>
            </a:endParaRPr>
          </a:p>
        </p:txBody>
      </p:sp>
      <p:sp>
        <p:nvSpPr>
          <p:cNvPr id="148" name="Text 25"/>
          <p:cNvSpPr/>
          <p:nvPr/>
        </p:nvSpPr>
        <p:spPr>
          <a:xfrm>
            <a:off x="9015840" y="4439880"/>
            <a:ext cx="224532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Ontoloji, semantik model ve agent’larla iş tanımlarını tüm platformda ortaklaştırma.</a:t>
            </a:r>
            <a:endParaRPr b="0" lang="en-US" sz="1200" spc="-1" strike="noStrike">
              <a:solidFill>
                <a:srgbClr val="000000"/>
              </a:solidFill>
              <a:latin typeface="Arial"/>
            </a:endParaRPr>
          </a:p>
        </p:txBody>
      </p:sp>
      <p:sp>
        <p:nvSpPr>
          <p:cNvPr id="149" name="Text 26"/>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150" name="Text 27"/>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06</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51"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FABRIC 4/4</a:t>
            </a:r>
            <a:endParaRPr b="0" lang="en-US" sz="1200" spc="-1" strike="noStrike">
              <a:solidFill>
                <a:srgbClr val="000000"/>
              </a:solidFill>
              <a:latin typeface="Arial"/>
            </a:endParaRPr>
          </a:p>
        </p:txBody>
      </p:sp>
      <p:sp>
        <p:nvSpPr>
          <p:cNvPr id="152"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Fabric Apps: veriden uygulamaya</a:t>
            </a:r>
            <a:endParaRPr b="0" lang="en-US" sz="3200" spc="-1" strike="noStrike">
              <a:solidFill>
                <a:srgbClr val="000000"/>
              </a:solidFill>
              <a:latin typeface="Arial"/>
            </a:endParaRPr>
          </a:p>
        </p:txBody>
      </p:sp>
      <p:sp>
        <p:nvSpPr>
          <p:cNvPr id="153" name="Text 2"/>
          <p:cNvSpPr/>
          <p:nvPr/>
        </p:nvSpPr>
        <p:spPr>
          <a:xfrm>
            <a:off x="812880" y="1828800"/>
            <a:ext cx="1046412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Build 2026’da duyurulan yeni öğe: Fabric içinde web uygulaması geliştirip yayınlama. Fabric artık sadece analitik değil, bir uygulama platformu.</a:t>
            </a:r>
            <a:endParaRPr b="0" lang="en-US" sz="1600" spc="-1" strike="noStrike">
              <a:solidFill>
                <a:srgbClr val="000000"/>
              </a:solidFill>
              <a:latin typeface="Arial"/>
            </a:endParaRPr>
          </a:p>
        </p:txBody>
      </p:sp>
      <p:sp>
        <p:nvSpPr>
          <p:cNvPr id="154" name="Shape 3"/>
          <p:cNvSpPr/>
          <p:nvPr/>
        </p:nvSpPr>
        <p:spPr>
          <a:xfrm>
            <a:off x="816120" y="2558520"/>
            <a:ext cx="5187240" cy="2309400"/>
          </a:xfrm>
          <a:prstGeom prst="roundRect">
            <a:avLst>
              <a:gd name="adj" fmla="val 316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5" name="Text 4"/>
          <p:cNvSpPr/>
          <p:nvPr/>
        </p:nvSpPr>
        <p:spPr>
          <a:xfrm>
            <a:off x="1020960" y="2738160"/>
            <a:ext cx="492048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0b5cad"/>
                </a:solidFill>
                <a:latin typeface="IBM Plex Sans"/>
                <a:ea typeface="IBM Plex Sans"/>
              </a:rPr>
              <a:t>Operasyonel uygulama</a:t>
            </a:r>
            <a:endParaRPr b="0" lang="en-US" sz="1600" spc="-1" strike="noStrike">
              <a:solidFill>
                <a:srgbClr val="000000"/>
              </a:solidFill>
              <a:latin typeface="Arial"/>
            </a:endParaRPr>
          </a:p>
        </p:txBody>
      </p:sp>
      <p:sp>
        <p:nvSpPr>
          <p:cNvPr id="156" name="Text 5"/>
          <p:cNvSpPr/>
          <p:nvPr/>
        </p:nvSpPr>
        <p:spPr>
          <a:xfrm>
            <a:off x="1020960" y="3070800"/>
            <a:ext cx="49204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Veri okuyan ve yazan iş uygulaması</a:t>
            </a:r>
            <a:endParaRPr b="0" lang="en-US" sz="1200" spc="-1" strike="noStrike">
              <a:solidFill>
                <a:srgbClr val="000000"/>
              </a:solidFill>
              <a:latin typeface="Arial"/>
            </a:endParaRPr>
          </a:p>
        </p:txBody>
      </p:sp>
      <p:sp>
        <p:nvSpPr>
          <p:cNvPr id="157" name="Text 6"/>
          <p:cNvSpPr/>
          <p:nvPr/>
        </p:nvSpPr>
        <p:spPr>
          <a:xfrm>
            <a:off x="1119960" y="3373200"/>
            <a:ext cx="4813920" cy="664920"/>
          </a:xfrm>
          <a:prstGeom prst="rect">
            <a:avLst/>
          </a:prstGeom>
          <a:noFill/>
          <a:ln w="0">
            <a:noFill/>
          </a:ln>
        </p:spPr>
        <p:style>
          <a:lnRef idx="0"/>
          <a:fillRef idx="0"/>
          <a:effectRef idx="0"/>
          <a:fontRef idx="minor"/>
        </p:style>
        <p:txBody>
          <a:bodyPr lIns="0" rIns="0" tIns="0" bIns="0" anchor="t">
            <a:normAutofit/>
          </a:bodyPr>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Yönetilen bir SQL veritabanı otomatik kurulur</a:t>
            </a:r>
            <a:endParaRPr b="0" lang="en-US" sz="1200" spc="-1" strike="noStrike">
              <a:solidFill>
                <a:srgbClr val="000000"/>
              </a:solidFill>
              <a:latin typeface="Arial"/>
            </a:endParaRPr>
          </a:p>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Bütçe girişi, ana veri bakımı, istisna yönetimi</a:t>
            </a:r>
            <a:endParaRPr b="0" lang="en-US" sz="1200" spc="-1" strike="noStrike">
              <a:solidFill>
                <a:srgbClr val="000000"/>
              </a:solidFill>
              <a:latin typeface="Arial"/>
            </a:endParaRPr>
          </a:p>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Kullanıcının girdiği veri doğrudan OneLake’e düşer</a:t>
            </a:r>
            <a:endParaRPr b="0" lang="en-US" sz="1200" spc="-1" strike="noStrike">
              <a:solidFill>
                <a:srgbClr val="000000"/>
              </a:solidFill>
              <a:latin typeface="Arial"/>
            </a:endParaRPr>
          </a:p>
        </p:txBody>
      </p:sp>
      <p:sp>
        <p:nvSpPr>
          <p:cNvPr id="158" name="Shape 7"/>
          <p:cNvSpPr/>
          <p:nvPr/>
        </p:nvSpPr>
        <p:spPr>
          <a:xfrm>
            <a:off x="6188040" y="2558520"/>
            <a:ext cx="5187240" cy="2309400"/>
          </a:xfrm>
          <a:prstGeom prst="roundRect">
            <a:avLst>
              <a:gd name="adj" fmla="val 316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9" name="Text 8"/>
          <p:cNvSpPr/>
          <p:nvPr/>
        </p:nvSpPr>
        <p:spPr>
          <a:xfrm>
            <a:off x="6393240" y="2738160"/>
            <a:ext cx="492048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0b5cad"/>
                </a:solidFill>
                <a:latin typeface="IBM Plex Sans"/>
                <a:ea typeface="IBM Plex Sans"/>
              </a:rPr>
              <a:t>Veri uygulaması</a:t>
            </a:r>
            <a:endParaRPr b="0" lang="en-US" sz="1600" spc="-1" strike="noStrike">
              <a:solidFill>
                <a:srgbClr val="000000"/>
              </a:solidFill>
              <a:latin typeface="Arial"/>
            </a:endParaRPr>
          </a:p>
        </p:txBody>
      </p:sp>
      <p:sp>
        <p:nvSpPr>
          <p:cNvPr id="160" name="Text 9"/>
          <p:cNvSpPr/>
          <p:nvPr/>
        </p:nvSpPr>
        <p:spPr>
          <a:xfrm>
            <a:off x="6393240" y="3070800"/>
            <a:ext cx="49204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Kodla tasarlanan özel dashboard</a:t>
            </a:r>
            <a:endParaRPr b="0" lang="en-US" sz="1200" spc="-1" strike="noStrike">
              <a:solidFill>
                <a:srgbClr val="000000"/>
              </a:solidFill>
              <a:latin typeface="Arial"/>
            </a:endParaRPr>
          </a:p>
        </p:txBody>
      </p:sp>
      <p:sp>
        <p:nvSpPr>
          <p:cNvPr id="161" name="Text 10"/>
          <p:cNvSpPr/>
          <p:nvPr/>
        </p:nvSpPr>
        <p:spPr>
          <a:xfrm>
            <a:off x="6491880" y="3373200"/>
            <a:ext cx="4813920" cy="664920"/>
          </a:xfrm>
          <a:prstGeom prst="rect">
            <a:avLst/>
          </a:prstGeom>
          <a:noFill/>
          <a:ln w="0">
            <a:noFill/>
          </a:ln>
        </p:spPr>
        <p:style>
          <a:lnRef idx="0"/>
          <a:fillRef idx="0"/>
          <a:effectRef idx="0"/>
          <a:fontRef idx="minor"/>
        </p:style>
        <p:txBody>
          <a:bodyPr lIns="0" rIns="0" tIns="0" bIns="0" anchor="t">
            <a:normAutofit/>
          </a:bodyPr>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Yayınlanmış semantik modelleri DAX ile sorgular</a:t>
            </a:r>
            <a:endParaRPr b="0" lang="en-US" sz="1200" spc="-1" strike="noStrike">
              <a:solidFill>
                <a:srgbClr val="000000"/>
              </a:solidFill>
              <a:latin typeface="Arial"/>
            </a:endParaRPr>
          </a:p>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Birden fazla modeli tek ekranda birleştirebilir</a:t>
            </a:r>
            <a:endParaRPr b="0" lang="en-US" sz="1200" spc="-1" strike="noStrike">
              <a:solidFill>
                <a:srgbClr val="000000"/>
              </a:solidFill>
              <a:latin typeface="Arial"/>
            </a:endParaRPr>
          </a:p>
          <a:p>
            <a:pPr marL="155160" indent="-155160" defTabSz="914400">
              <a:lnSpc>
                <a:spcPts val="1681"/>
              </a:lnSpc>
              <a:buClr>
                <a:srgbClr val="0e1e33"/>
              </a:buClr>
              <a:buFont typeface="Symbol" charset="2"/>
              <a:buChar char=""/>
            </a:pPr>
            <a:r>
              <a:rPr b="0" lang="en-US" sz="1200" spc="-1" strike="noStrike">
                <a:solidFill>
                  <a:srgbClr val="0e1e33"/>
                </a:solidFill>
                <a:latin typeface="IBM Plex Sans"/>
                <a:ea typeface="IBM Plex Sans"/>
              </a:rPr>
              <a:t>Power BI’ın yetmediği esnek görünümler için</a:t>
            </a:r>
            <a:endParaRPr b="0" lang="en-US" sz="1200" spc="-1" strike="noStrike">
              <a:solidFill>
                <a:srgbClr val="000000"/>
              </a:solidFill>
              <a:latin typeface="Arial"/>
            </a:endParaRPr>
          </a:p>
        </p:txBody>
      </p:sp>
      <p:sp>
        <p:nvSpPr>
          <p:cNvPr id="162" name="Shape 11"/>
          <p:cNvSpPr/>
          <p:nvPr/>
        </p:nvSpPr>
        <p:spPr>
          <a:xfrm>
            <a:off x="812880" y="5049360"/>
            <a:ext cx="10565640" cy="791640"/>
          </a:xfrm>
          <a:prstGeom prst="roundRect">
            <a:avLst>
              <a:gd name="adj" fmla="val 9615"/>
            </a:avLst>
          </a:prstGeom>
          <a:solidFill>
            <a:srgbClr val="0e1e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 name="Text 12"/>
          <p:cNvSpPr/>
          <p:nvPr/>
        </p:nvSpPr>
        <p:spPr>
          <a:xfrm>
            <a:off x="1041480" y="5321160"/>
            <a:ext cx="1961280" cy="27360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1" strike="noStrike">
                <a:solidFill>
                  <a:srgbClr val="6cb4ff"/>
                </a:solidFill>
                <a:latin typeface="IBM Plex Sans"/>
                <a:ea typeface="IBM Plex Sans"/>
              </a:rPr>
              <a:t>Nasıl yapılır?</a:t>
            </a:r>
            <a:endParaRPr b="0" lang="en-US" sz="1400" spc="-1" strike="noStrike">
              <a:solidFill>
                <a:srgbClr val="000000"/>
              </a:solidFill>
              <a:latin typeface="Arial"/>
            </a:endParaRPr>
          </a:p>
        </p:txBody>
      </p:sp>
      <p:sp>
        <p:nvSpPr>
          <p:cNvPr id="164" name="Text 13"/>
          <p:cNvSpPr/>
          <p:nvPr/>
        </p:nvSpPr>
        <p:spPr>
          <a:xfrm>
            <a:off x="3124080" y="5214600"/>
            <a:ext cx="824040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Kod ile: TypeScript ve React ön yüz, açık kaynak Rayfin SDK ile arka uç; Entra ile giriş hazır. Genelde bir kodlama asistanıyla birlikte geliştiriliyor.</a:t>
            </a:r>
            <a:endParaRPr b="0" lang="en-US" sz="1300" spc="-1" strike="noStrike">
              <a:solidFill>
                <a:srgbClr val="000000"/>
              </a:solidFill>
              <a:latin typeface="Arial"/>
            </a:endParaRPr>
          </a:p>
        </p:txBody>
      </p:sp>
      <p:sp>
        <p:nvSpPr>
          <p:cNvPr id="165" name="Text 14"/>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166" name="Text 15"/>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07</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67"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DATABRICKS 1/4</a:t>
            </a:r>
            <a:endParaRPr b="0" lang="en-US" sz="1200" spc="-1" strike="noStrike">
              <a:solidFill>
                <a:srgbClr val="000000"/>
              </a:solidFill>
              <a:latin typeface="Arial"/>
            </a:endParaRPr>
          </a:p>
        </p:txBody>
      </p:sp>
      <p:sp>
        <p:nvSpPr>
          <p:cNvPr id="168"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Databricks nedir?</a:t>
            </a:r>
            <a:endParaRPr b="0" lang="en-US" sz="3200" spc="-1" strike="noStrike">
              <a:solidFill>
                <a:srgbClr val="000000"/>
              </a:solidFill>
              <a:latin typeface="Arial"/>
            </a:endParaRPr>
          </a:p>
        </p:txBody>
      </p:sp>
      <p:sp>
        <p:nvSpPr>
          <p:cNvPr id="169" name="Text 2"/>
          <p:cNvSpPr/>
          <p:nvPr/>
        </p:nvSpPr>
        <p:spPr>
          <a:xfrm>
            <a:off x="812880" y="1828800"/>
            <a:ext cx="1046412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Veri mühendisliği, analitik ve yapay zekâyı aynı veri üzerinde, tek platformda birleştiren açık “Data + AI” platformu.</a:t>
            </a:r>
            <a:endParaRPr b="0" lang="en-US" sz="1600" spc="-1" strike="noStrike">
              <a:solidFill>
                <a:srgbClr val="000000"/>
              </a:solidFill>
              <a:latin typeface="Arial"/>
            </a:endParaRPr>
          </a:p>
        </p:txBody>
      </p:sp>
      <p:sp>
        <p:nvSpPr>
          <p:cNvPr id="170" name="Text 3"/>
          <p:cNvSpPr/>
          <p:nvPr/>
        </p:nvSpPr>
        <p:spPr>
          <a:xfrm>
            <a:off x="812880" y="3211920"/>
            <a:ext cx="939240" cy="29124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b5cad"/>
                </a:solidFill>
                <a:latin typeface="IBM Plex Mono"/>
                <a:ea typeface="IBM Plex Mono"/>
              </a:rPr>
              <a:t>2013</a:t>
            </a:r>
            <a:endParaRPr b="0" lang="en-US" sz="1500" spc="-1" strike="noStrike">
              <a:solidFill>
                <a:srgbClr val="000000"/>
              </a:solidFill>
              <a:latin typeface="Arial"/>
            </a:endParaRPr>
          </a:p>
        </p:txBody>
      </p:sp>
      <p:sp>
        <p:nvSpPr>
          <p:cNvPr id="171" name="Text 4"/>
          <p:cNvSpPr/>
          <p:nvPr/>
        </p:nvSpPr>
        <p:spPr>
          <a:xfrm>
            <a:off x="1854360" y="3211920"/>
            <a:ext cx="366192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0e1e33"/>
                </a:solidFill>
                <a:latin typeface="IBM Plex Sans"/>
                <a:ea typeface="IBM Plex Sans"/>
              </a:rPr>
              <a:t>Apache Spark’ı geliştiren UC Berkeley ekibi Databricks’i kurdu</a:t>
            </a:r>
            <a:endParaRPr b="0" lang="en-US" sz="1300" spc="-1" strike="noStrike">
              <a:solidFill>
                <a:srgbClr val="000000"/>
              </a:solidFill>
              <a:latin typeface="Arial"/>
            </a:endParaRPr>
          </a:p>
        </p:txBody>
      </p:sp>
      <p:sp>
        <p:nvSpPr>
          <p:cNvPr id="172" name="Text 5"/>
          <p:cNvSpPr/>
          <p:nvPr/>
        </p:nvSpPr>
        <p:spPr>
          <a:xfrm>
            <a:off x="812880" y="3852000"/>
            <a:ext cx="939240" cy="29124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b5cad"/>
                </a:solidFill>
                <a:latin typeface="IBM Plex Mono"/>
                <a:ea typeface="IBM Plex Mono"/>
              </a:rPr>
              <a:t>2018</a:t>
            </a:r>
            <a:endParaRPr b="0" lang="en-US" sz="1500" spc="-1" strike="noStrike">
              <a:solidFill>
                <a:srgbClr val="000000"/>
              </a:solidFill>
              <a:latin typeface="Arial"/>
            </a:endParaRPr>
          </a:p>
        </p:txBody>
      </p:sp>
      <p:sp>
        <p:nvSpPr>
          <p:cNvPr id="173" name="Text 6"/>
          <p:cNvSpPr/>
          <p:nvPr/>
        </p:nvSpPr>
        <p:spPr>
          <a:xfrm>
            <a:off x="1854360" y="3852000"/>
            <a:ext cx="366192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0e1e33"/>
                </a:solidFill>
                <a:latin typeface="IBM Plex Sans"/>
                <a:ea typeface="IBM Plex Sans"/>
              </a:rPr>
              <a:t>Azure Databricks: Microsoft’un birinci taraf servisi; fatura, kimlik ve destek Azure üzerinden</a:t>
            </a:r>
            <a:endParaRPr b="0" lang="en-US" sz="1300" spc="-1" strike="noStrike">
              <a:solidFill>
                <a:srgbClr val="000000"/>
              </a:solidFill>
              <a:latin typeface="Arial"/>
            </a:endParaRPr>
          </a:p>
        </p:txBody>
      </p:sp>
      <p:sp>
        <p:nvSpPr>
          <p:cNvPr id="174" name="Text 7"/>
          <p:cNvSpPr/>
          <p:nvPr/>
        </p:nvSpPr>
        <p:spPr>
          <a:xfrm>
            <a:off x="812880" y="4492080"/>
            <a:ext cx="939240" cy="29124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b5cad"/>
                </a:solidFill>
                <a:latin typeface="IBM Plex Mono"/>
                <a:ea typeface="IBM Plex Mono"/>
              </a:rPr>
              <a:t>Bugün</a:t>
            </a:r>
            <a:endParaRPr b="0" lang="en-US" sz="1500" spc="-1" strike="noStrike">
              <a:solidFill>
                <a:srgbClr val="000000"/>
              </a:solidFill>
              <a:latin typeface="Arial"/>
            </a:endParaRPr>
          </a:p>
        </p:txBody>
      </p:sp>
      <p:sp>
        <p:nvSpPr>
          <p:cNvPr id="175" name="Text 8"/>
          <p:cNvSpPr/>
          <p:nvPr/>
        </p:nvSpPr>
        <p:spPr>
          <a:xfrm>
            <a:off x="1854360" y="4492080"/>
            <a:ext cx="366192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0e1e33"/>
                </a:solidFill>
                <a:latin typeface="IBM Plex Sans"/>
                <a:ea typeface="IBM Plex Sans"/>
              </a:rPr>
              <a:t>Azure, AWS ve Google Cloud’da aynı platform; altyapıyı müşterinin bulut hesabında kendisi yönetir</a:t>
            </a:r>
            <a:endParaRPr b="0" lang="en-US" sz="1300" spc="-1" strike="noStrike">
              <a:solidFill>
                <a:srgbClr val="000000"/>
              </a:solidFill>
              <a:latin typeface="Arial"/>
            </a:endParaRPr>
          </a:p>
        </p:txBody>
      </p:sp>
      <p:sp>
        <p:nvSpPr>
          <p:cNvPr id="176" name="Text 9"/>
          <p:cNvSpPr/>
          <p:nvPr/>
        </p:nvSpPr>
        <p:spPr>
          <a:xfrm>
            <a:off x="5867280" y="2555280"/>
            <a:ext cx="56764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AÇIK KAYNAK TEMELİ</a:t>
            </a:r>
            <a:endParaRPr b="0" lang="en-US" sz="1200" spc="-1" strike="noStrike">
              <a:solidFill>
                <a:srgbClr val="000000"/>
              </a:solidFill>
              <a:latin typeface="Arial"/>
            </a:endParaRPr>
          </a:p>
        </p:txBody>
      </p:sp>
      <p:sp>
        <p:nvSpPr>
          <p:cNvPr id="177" name="Shape 10"/>
          <p:cNvSpPr/>
          <p:nvPr/>
        </p:nvSpPr>
        <p:spPr>
          <a:xfrm>
            <a:off x="5870520" y="287352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8" name="Text 11"/>
          <p:cNvSpPr/>
          <p:nvPr/>
        </p:nvSpPr>
        <p:spPr>
          <a:xfrm>
            <a:off x="6024960" y="300240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Apache Spark</a:t>
            </a:r>
            <a:endParaRPr b="0" lang="en-US" sz="1400" spc="-1" strike="noStrike">
              <a:solidFill>
                <a:srgbClr val="000000"/>
              </a:solidFill>
              <a:latin typeface="Arial"/>
            </a:endParaRPr>
          </a:p>
        </p:txBody>
      </p:sp>
      <p:sp>
        <p:nvSpPr>
          <p:cNvPr id="179" name="Text 12"/>
          <p:cNvSpPr/>
          <p:nvPr/>
        </p:nvSpPr>
        <p:spPr>
          <a:xfrm>
            <a:off x="6024960" y="325368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Dağıtık veri işleme motoru</a:t>
            </a:r>
            <a:endParaRPr b="0" lang="en-US" sz="1200" spc="-1" strike="noStrike">
              <a:solidFill>
                <a:srgbClr val="000000"/>
              </a:solidFill>
              <a:latin typeface="Arial"/>
            </a:endParaRPr>
          </a:p>
        </p:txBody>
      </p:sp>
      <p:sp>
        <p:nvSpPr>
          <p:cNvPr id="180" name="Shape 13"/>
          <p:cNvSpPr/>
          <p:nvPr/>
        </p:nvSpPr>
        <p:spPr>
          <a:xfrm>
            <a:off x="8677440" y="287352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1" name="Text 14"/>
          <p:cNvSpPr/>
          <p:nvPr/>
        </p:nvSpPr>
        <p:spPr>
          <a:xfrm>
            <a:off x="8831520" y="300240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Delta Lake</a:t>
            </a:r>
            <a:endParaRPr b="0" lang="en-US" sz="1400" spc="-1" strike="noStrike">
              <a:solidFill>
                <a:srgbClr val="000000"/>
              </a:solidFill>
              <a:latin typeface="Arial"/>
            </a:endParaRPr>
          </a:p>
        </p:txBody>
      </p:sp>
      <p:sp>
        <p:nvSpPr>
          <p:cNvPr id="182" name="Text 15"/>
          <p:cNvSpPr/>
          <p:nvPr/>
        </p:nvSpPr>
        <p:spPr>
          <a:xfrm>
            <a:off x="8831520" y="325368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Veri gölüne güvenilir tablo yapısı</a:t>
            </a:r>
            <a:endParaRPr b="0" lang="en-US" sz="1200" spc="-1" strike="noStrike">
              <a:solidFill>
                <a:srgbClr val="000000"/>
              </a:solidFill>
              <a:latin typeface="Arial"/>
            </a:endParaRPr>
          </a:p>
        </p:txBody>
      </p:sp>
      <p:sp>
        <p:nvSpPr>
          <p:cNvPr id="183" name="Shape 16"/>
          <p:cNvSpPr/>
          <p:nvPr/>
        </p:nvSpPr>
        <p:spPr>
          <a:xfrm>
            <a:off x="5870520" y="370404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4" name="Text 17"/>
          <p:cNvSpPr/>
          <p:nvPr/>
        </p:nvSpPr>
        <p:spPr>
          <a:xfrm>
            <a:off x="6024960" y="383292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MLflow</a:t>
            </a:r>
            <a:endParaRPr b="0" lang="en-US" sz="1400" spc="-1" strike="noStrike">
              <a:solidFill>
                <a:srgbClr val="000000"/>
              </a:solidFill>
              <a:latin typeface="Arial"/>
            </a:endParaRPr>
          </a:p>
        </p:txBody>
      </p:sp>
      <p:sp>
        <p:nvSpPr>
          <p:cNvPr id="185" name="Text 18"/>
          <p:cNvSpPr/>
          <p:nvPr/>
        </p:nvSpPr>
        <p:spPr>
          <a:xfrm>
            <a:off x="6024960" y="408420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Model deneme ve takip</a:t>
            </a:r>
            <a:endParaRPr b="0" lang="en-US" sz="1200" spc="-1" strike="noStrike">
              <a:solidFill>
                <a:srgbClr val="000000"/>
              </a:solidFill>
              <a:latin typeface="Arial"/>
            </a:endParaRPr>
          </a:p>
        </p:txBody>
      </p:sp>
      <p:sp>
        <p:nvSpPr>
          <p:cNvPr id="186" name="Shape 19"/>
          <p:cNvSpPr/>
          <p:nvPr/>
        </p:nvSpPr>
        <p:spPr>
          <a:xfrm>
            <a:off x="8677440" y="370404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7" name="Text 20"/>
          <p:cNvSpPr/>
          <p:nvPr/>
        </p:nvSpPr>
        <p:spPr>
          <a:xfrm>
            <a:off x="8831520" y="383292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Unity Catalog</a:t>
            </a:r>
            <a:endParaRPr b="0" lang="en-US" sz="1400" spc="-1" strike="noStrike">
              <a:solidFill>
                <a:srgbClr val="000000"/>
              </a:solidFill>
              <a:latin typeface="Arial"/>
            </a:endParaRPr>
          </a:p>
        </p:txBody>
      </p:sp>
      <p:sp>
        <p:nvSpPr>
          <p:cNvPr id="188" name="Text 21"/>
          <p:cNvSpPr/>
          <p:nvPr/>
        </p:nvSpPr>
        <p:spPr>
          <a:xfrm>
            <a:off x="8831520" y="408420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Yönetişim ve yetki</a:t>
            </a:r>
            <a:endParaRPr b="0" lang="en-US" sz="1200" spc="-1" strike="noStrike">
              <a:solidFill>
                <a:srgbClr val="000000"/>
              </a:solidFill>
              <a:latin typeface="Arial"/>
            </a:endParaRPr>
          </a:p>
        </p:txBody>
      </p:sp>
      <p:sp>
        <p:nvSpPr>
          <p:cNvPr id="189" name="Shape 22"/>
          <p:cNvSpPr/>
          <p:nvPr/>
        </p:nvSpPr>
        <p:spPr>
          <a:xfrm>
            <a:off x="5870520" y="453456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0" name="Text 23"/>
          <p:cNvSpPr/>
          <p:nvPr/>
        </p:nvSpPr>
        <p:spPr>
          <a:xfrm>
            <a:off x="6024960" y="466344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OpenSharing</a:t>
            </a:r>
            <a:endParaRPr b="0" lang="en-US" sz="1400" spc="-1" strike="noStrike">
              <a:solidFill>
                <a:srgbClr val="000000"/>
              </a:solidFill>
              <a:latin typeface="Arial"/>
            </a:endParaRPr>
          </a:p>
        </p:txBody>
      </p:sp>
      <p:sp>
        <p:nvSpPr>
          <p:cNvPr id="191" name="Text 24"/>
          <p:cNvSpPr/>
          <p:nvPr/>
        </p:nvSpPr>
        <p:spPr>
          <a:xfrm>
            <a:off x="6024960" y="491508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Kurumlar arası veri paylaşımı</a:t>
            </a:r>
            <a:endParaRPr b="0" lang="en-US" sz="1200" spc="-1" strike="noStrike">
              <a:solidFill>
                <a:srgbClr val="000000"/>
              </a:solidFill>
              <a:latin typeface="Arial"/>
            </a:endParaRPr>
          </a:p>
        </p:txBody>
      </p:sp>
      <p:sp>
        <p:nvSpPr>
          <p:cNvPr id="192" name="Shape 25"/>
          <p:cNvSpPr/>
          <p:nvPr/>
        </p:nvSpPr>
        <p:spPr>
          <a:xfrm>
            <a:off x="8677440" y="4534560"/>
            <a:ext cx="2698200" cy="721800"/>
          </a:xfrm>
          <a:prstGeom prst="roundRect">
            <a:avLst>
              <a:gd name="adj" fmla="val 1010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3" name="Text 26"/>
          <p:cNvSpPr/>
          <p:nvPr/>
        </p:nvSpPr>
        <p:spPr>
          <a:xfrm>
            <a:off x="8831520" y="466344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e1e33"/>
                </a:solidFill>
                <a:latin typeface="IBM Plex Sans"/>
                <a:ea typeface="IBM Plex Sans"/>
              </a:rPr>
              <a:t>Structured Streaming</a:t>
            </a:r>
            <a:endParaRPr b="0" lang="en-US" sz="1400" spc="-1" strike="noStrike">
              <a:solidFill>
                <a:srgbClr val="000000"/>
              </a:solidFill>
              <a:latin typeface="Arial"/>
            </a:endParaRPr>
          </a:p>
        </p:txBody>
      </p:sp>
      <p:sp>
        <p:nvSpPr>
          <p:cNvPr id="194" name="Text 27"/>
          <p:cNvSpPr/>
          <p:nvPr/>
        </p:nvSpPr>
        <p:spPr>
          <a:xfrm>
            <a:off x="8831520" y="4915080"/>
            <a:ext cx="24609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Sans"/>
                <a:ea typeface="IBM Plex Sans"/>
              </a:rPr>
              <a:t>Akış verisi işleme</a:t>
            </a:r>
            <a:endParaRPr b="0" lang="en-US" sz="1200" spc="-1" strike="noStrike">
              <a:solidFill>
                <a:srgbClr val="000000"/>
              </a:solidFill>
              <a:latin typeface="Arial"/>
            </a:endParaRPr>
          </a:p>
        </p:txBody>
      </p:sp>
      <p:sp>
        <p:nvSpPr>
          <p:cNvPr id="195" name="Text 28"/>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196" name="Text 29"/>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08</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97"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DATABRICKS 2/4</a:t>
            </a:r>
            <a:endParaRPr b="0" lang="en-US" sz="1200" spc="-1" strike="noStrike">
              <a:solidFill>
                <a:srgbClr val="000000"/>
              </a:solidFill>
              <a:latin typeface="Arial"/>
            </a:endParaRPr>
          </a:p>
        </p:txBody>
      </p:sp>
      <p:sp>
        <p:nvSpPr>
          <p:cNvPr id="198"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Lakehouse ve madalyon mimarisi</a:t>
            </a:r>
            <a:endParaRPr b="0" lang="en-US" sz="3200" spc="-1" strike="noStrike">
              <a:solidFill>
                <a:srgbClr val="000000"/>
              </a:solidFill>
              <a:latin typeface="Arial"/>
            </a:endParaRPr>
          </a:p>
        </p:txBody>
      </p:sp>
      <p:sp>
        <p:nvSpPr>
          <p:cNvPr id="199" name="Text 2"/>
          <p:cNvSpPr/>
          <p:nvPr/>
        </p:nvSpPr>
        <p:spPr>
          <a:xfrm>
            <a:off x="812880" y="1828800"/>
            <a:ext cx="1046412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Lakehouse, veri gölünün ucuz ve esnek depolamasını veri ambarının güvenilirliğiyle birleştirir. Tüm ekipler tek bir doğru kaynaktan beslenir.</a:t>
            </a:r>
            <a:endParaRPr b="0" lang="en-US" sz="1600" spc="-1" strike="noStrike">
              <a:solidFill>
                <a:srgbClr val="000000"/>
              </a:solidFill>
              <a:latin typeface="Arial"/>
            </a:endParaRPr>
          </a:p>
        </p:txBody>
      </p:sp>
      <p:sp>
        <p:nvSpPr>
          <p:cNvPr id="200" name="Shape 3"/>
          <p:cNvSpPr/>
          <p:nvPr/>
        </p:nvSpPr>
        <p:spPr>
          <a:xfrm>
            <a:off x="816120" y="2558520"/>
            <a:ext cx="10559160" cy="488160"/>
          </a:xfrm>
          <a:prstGeom prst="roundRect">
            <a:avLst>
              <a:gd name="adj" fmla="val 14935"/>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 name="Text 4"/>
          <p:cNvSpPr/>
          <p:nvPr/>
        </p:nvSpPr>
        <p:spPr>
          <a:xfrm>
            <a:off x="995760" y="2687400"/>
            <a:ext cx="1961280" cy="25596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 strike="noStrike">
                <a:solidFill>
                  <a:srgbClr val="6cb4ff"/>
                </a:solidFill>
                <a:latin typeface="IBM Plex Sans"/>
                <a:ea typeface="IBM Plex Sans"/>
              </a:rPr>
              <a:t>Unity Catalog</a:t>
            </a:r>
            <a:endParaRPr b="0" lang="en-US" sz="1300" spc="-1" strike="noStrike">
              <a:solidFill>
                <a:srgbClr val="000000"/>
              </a:solidFill>
              <a:latin typeface="Arial"/>
            </a:endParaRPr>
          </a:p>
        </p:txBody>
      </p:sp>
      <p:sp>
        <p:nvSpPr>
          <p:cNvPr id="202" name="Text 5"/>
          <p:cNvSpPr/>
          <p:nvPr/>
        </p:nvSpPr>
        <p:spPr>
          <a:xfrm>
            <a:off x="3053160" y="2687400"/>
            <a:ext cx="4606920" cy="25596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Tüm katmanlarda tek yetki, katalog ve veri soy ağacı</a:t>
            </a:r>
            <a:endParaRPr b="0" lang="en-US" sz="1300" spc="-1" strike="noStrike">
              <a:solidFill>
                <a:srgbClr val="000000"/>
              </a:solidFill>
              <a:latin typeface="Arial"/>
            </a:endParaRPr>
          </a:p>
        </p:txBody>
      </p:sp>
      <p:sp>
        <p:nvSpPr>
          <p:cNvPr id="203" name="Shape 6"/>
          <p:cNvSpPr/>
          <p:nvPr/>
        </p:nvSpPr>
        <p:spPr>
          <a:xfrm>
            <a:off x="812880" y="3228480"/>
            <a:ext cx="1459800" cy="1340280"/>
          </a:xfrm>
          <a:prstGeom prst="roundRect">
            <a:avLst>
              <a:gd name="adj" fmla="val 5682"/>
            </a:avLst>
          </a:prstGeom>
          <a:solidFill>
            <a:srgbClr val="0e1e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 name="Text 7"/>
          <p:cNvSpPr/>
          <p:nvPr/>
        </p:nvSpPr>
        <p:spPr>
          <a:xfrm>
            <a:off x="965160" y="3440520"/>
            <a:ext cx="120564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cb4ff"/>
                </a:solidFill>
                <a:latin typeface="IBM Plex Mono"/>
                <a:ea typeface="IBM Plex Mono"/>
              </a:rPr>
              <a:t>KAYNAK</a:t>
            </a:r>
            <a:endParaRPr b="0" lang="en-US" sz="1200" spc="-1" strike="noStrike">
              <a:solidFill>
                <a:srgbClr val="000000"/>
              </a:solidFill>
              <a:latin typeface="Arial"/>
            </a:endParaRPr>
          </a:p>
        </p:txBody>
      </p:sp>
      <p:sp>
        <p:nvSpPr>
          <p:cNvPr id="205" name="Text 8"/>
          <p:cNvSpPr/>
          <p:nvPr/>
        </p:nvSpPr>
        <p:spPr>
          <a:xfrm>
            <a:off x="965160" y="3717360"/>
            <a:ext cx="120564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f4f6f9"/>
                </a:solidFill>
                <a:latin typeface="IBM Plex Sans"/>
                <a:ea typeface="IBM Plex Sans"/>
              </a:rPr>
              <a:t>ERP, CRM, core banking, dosya, akış</a:t>
            </a:r>
            <a:endParaRPr b="0" lang="en-US" sz="1200" spc="-1" strike="noStrike">
              <a:solidFill>
                <a:srgbClr val="000000"/>
              </a:solidFill>
              <a:latin typeface="Arial"/>
            </a:endParaRPr>
          </a:p>
        </p:txBody>
      </p:sp>
      <p:pic>
        <p:nvPicPr>
          <p:cNvPr id="206" name="Image 0" descr="arrow-right"/>
          <p:cNvPicPr/>
          <p:nvPr/>
        </p:nvPicPr>
        <p:blipFill>
          <a:blip r:embed="rId1"/>
          <a:stretch/>
        </p:blipFill>
        <p:spPr>
          <a:xfrm>
            <a:off x="2374920" y="3772080"/>
            <a:ext cx="354960" cy="253440"/>
          </a:xfrm>
          <a:prstGeom prst="rect">
            <a:avLst/>
          </a:prstGeom>
          <a:ln w="0">
            <a:noFill/>
          </a:ln>
        </p:spPr>
      </p:pic>
      <p:sp>
        <p:nvSpPr>
          <p:cNvPr id="207" name="Shape 9"/>
          <p:cNvSpPr/>
          <p:nvPr/>
        </p:nvSpPr>
        <p:spPr>
          <a:xfrm>
            <a:off x="2835360" y="3231360"/>
            <a:ext cx="2469600" cy="1334160"/>
          </a:xfrm>
          <a:prstGeom prst="roundRect">
            <a:avLst>
              <a:gd name="adj" fmla="val 547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8" name="Text 10"/>
          <p:cNvSpPr/>
          <p:nvPr/>
        </p:nvSpPr>
        <p:spPr>
          <a:xfrm>
            <a:off x="3015000" y="3385800"/>
            <a:ext cx="2173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Mono"/>
                <a:ea typeface="IBM Plex Mono"/>
              </a:rPr>
              <a:t>01 · ham</a:t>
            </a:r>
            <a:endParaRPr b="0" lang="en-US" sz="1200" spc="-1" strike="noStrike">
              <a:solidFill>
                <a:srgbClr val="000000"/>
              </a:solidFill>
              <a:latin typeface="Arial"/>
            </a:endParaRPr>
          </a:p>
        </p:txBody>
      </p:sp>
      <p:sp>
        <p:nvSpPr>
          <p:cNvPr id="209" name="Text 11"/>
          <p:cNvSpPr/>
          <p:nvPr/>
        </p:nvSpPr>
        <p:spPr>
          <a:xfrm>
            <a:off x="3015000" y="3662640"/>
            <a:ext cx="2173320" cy="283680"/>
          </a:xfrm>
          <a:prstGeom prst="rect">
            <a:avLst/>
          </a:prstGeom>
          <a:noFill/>
          <a:ln w="0">
            <a:noFill/>
          </a:ln>
        </p:spPr>
        <p:style>
          <a:lnRef idx="0"/>
          <a:fillRef idx="0"/>
          <a:effectRef idx="0"/>
          <a:fontRef idx="minor"/>
        </p:style>
        <p:txBody>
          <a:bodyPr lIns="0" rIns="0" tIns="0" bIns="0" anchor="t">
            <a:normAutofit/>
          </a:bodyPr>
          <a:p>
            <a:pPr defTabSz="914400">
              <a:lnSpc>
                <a:spcPts val="2041"/>
              </a:lnSpc>
              <a:tabLst>
                <a:tab algn="l" pos="0"/>
              </a:tabLst>
            </a:pPr>
            <a:r>
              <a:rPr b="1" lang="en-US" sz="1700" spc="-1" strike="noStrike">
                <a:solidFill>
                  <a:srgbClr val="0e1e33"/>
                </a:solidFill>
                <a:latin typeface="IBM Plex Sans"/>
                <a:ea typeface="IBM Plex Sans"/>
              </a:rPr>
              <a:t>Bronze</a:t>
            </a:r>
            <a:endParaRPr b="0" lang="en-US" sz="1700" spc="-1" strike="noStrike">
              <a:solidFill>
                <a:srgbClr val="000000"/>
              </a:solidFill>
              <a:latin typeface="Arial"/>
            </a:endParaRPr>
          </a:p>
        </p:txBody>
      </p:sp>
      <p:sp>
        <p:nvSpPr>
          <p:cNvPr id="210" name="Text 12"/>
          <p:cNvSpPr/>
          <p:nvPr/>
        </p:nvSpPr>
        <p:spPr>
          <a:xfrm>
            <a:off x="3015000" y="3985200"/>
            <a:ext cx="217332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Kaynaktan geldiği gibi; geçmiş korunur</a:t>
            </a:r>
            <a:endParaRPr b="0" lang="en-US" sz="1200" spc="-1" strike="noStrike">
              <a:solidFill>
                <a:srgbClr val="000000"/>
              </a:solidFill>
              <a:latin typeface="Arial"/>
            </a:endParaRPr>
          </a:p>
        </p:txBody>
      </p:sp>
      <p:pic>
        <p:nvPicPr>
          <p:cNvPr id="211" name="Image 1" descr="arrow-right"/>
          <p:cNvPicPr/>
          <p:nvPr/>
        </p:nvPicPr>
        <p:blipFill>
          <a:blip r:embed="rId2"/>
          <a:stretch/>
        </p:blipFill>
        <p:spPr>
          <a:xfrm>
            <a:off x="5410080" y="3772080"/>
            <a:ext cx="354960" cy="253440"/>
          </a:xfrm>
          <a:prstGeom prst="rect">
            <a:avLst/>
          </a:prstGeom>
          <a:ln w="0">
            <a:noFill/>
          </a:ln>
        </p:spPr>
      </p:pic>
      <p:sp>
        <p:nvSpPr>
          <p:cNvPr id="212" name="Shape 13"/>
          <p:cNvSpPr/>
          <p:nvPr/>
        </p:nvSpPr>
        <p:spPr>
          <a:xfrm>
            <a:off x="5870520" y="3231360"/>
            <a:ext cx="2469600" cy="1334160"/>
          </a:xfrm>
          <a:prstGeom prst="roundRect">
            <a:avLst>
              <a:gd name="adj" fmla="val 547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3" name="Text 14"/>
          <p:cNvSpPr/>
          <p:nvPr/>
        </p:nvSpPr>
        <p:spPr>
          <a:xfrm>
            <a:off x="6050160" y="3385800"/>
            <a:ext cx="2173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Mono"/>
                <a:ea typeface="IBM Plex Mono"/>
              </a:rPr>
              <a:t>02 · temiz</a:t>
            </a:r>
            <a:endParaRPr b="0" lang="en-US" sz="1200" spc="-1" strike="noStrike">
              <a:solidFill>
                <a:srgbClr val="000000"/>
              </a:solidFill>
              <a:latin typeface="Arial"/>
            </a:endParaRPr>
          </a:p>
        </p:txBody>
      </p:sp>
      <p:sp>
        <p:nvSpPr>
          <p:cNvPr id="214" name="Text 15"/>
          <p:cNvSpPr/>
          <p:nvPr/>
        </p:nvSpPr>
        <p:spPr>
          <a:xfrm>
            <a:off x="6050160" y="3662640"/>
            <a:ext cx="2173320" cy="283680"/>
          </a:xfrm>
          <a:prstGeom prst="rect">
            <a:avLst/>
          </a:prstGeom>
          <a:noFill/>
          <a:ln w="0">
            <a:noFill/>
          </a:ln>
        </p:spPr>
        <p:style>
          <a:lnRef idx="0"/>
          <a:fillRef idx="0"/>
          <a:effectRef idx="0"/>
          <a:fontRef idx="minor"/>
        </p:style>
        <p:txBody>
          <a:bodyPr lIns="0" rIns="0" tIns="0" bIns="0" anchor="t">
            <a:normAutofit/>
          </a:bodyPr>
          <a:p>
            <a:pPr defTabSz="914400">
              <a:lnSpc>
                <a:spcPts val="2041"/>
              </a:lnSpc>
              <a:tabLst>
                <a:tab algn="l" pos="0"/>
              </a:tabLst>
            </a:pPr>
            <a:r>
              <a:rPr b="1" lang="en-US" sz="1700" spc="-1" strike="noStrike">
                <a:solidFill>
                  <a:srgbClr val="0e1e33"/>
                </a:solidFill>
                <a:latin typeface="IBM Plex Sans"/>
                <a:ea typeface="IBM Plex Sans"/>
              </a:rPr>
              <a:t>Silver</a:t>
            </a:r>
            <a:endParaRPr b="0" lang="en-US" sz="1700" spc="-1" strike="noStrike">
              <a:solidFill>
                <a:srgbClr val="000000"/>
              </a:solidFill>
              <a:latin typeface="Arial"/>
            </a:endParaRPr>
          </a:p>
        </p:txBody>
      </p:sp>
      <p:sp>
        <p:nvSpPr>
          <p:cNvPr id="215" name="Text 16"/>
          <p:cNvSpPr/>
          <p:nvPr/>
        </p:nvSpPr>
        <p:spPr>
          <a:xfrm>
            <a:off x="6050160" y="3985200"/>
            <a:ext cx="217332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Temizlenmiş, birleştirilmiş, tekilleştirilmiş</a:t>
            </a:r>
            <a:endParaRPr b="0" lang="en-US" sz="1200" spc="-1" strike="noStrike">
              <a:solidFill>
                <a:srgbClr val="000000"/>
              </a:solidFill>
              <a:latin typeface="Arial"/>
            </a:endParaRPr>
          </a:p>
        </p:txBody>
      </p:sp>
      <p:pic>
        <p:nvPicPr>
          <p:cNvPr id="216" name="Image 2" descr="arrow-right"/>
          <p:cNvPicPr/>
          <p:nvPr/>
        </p:nvPicPr>
        <p:blipFill>
          <a:blip r:embed="rId3"/>
          <a:stretch/>
        </p:blipFill>
        <p:spPr>
          <a:xfrm>
            <a:off x="8445600" y="3772080"/>
            <a:ext cx="354960" cy="253440"/>
          </a:xfrm>
          <a:prstGeom prst="rect">
            <a:avLst/>
          </a:prstGeom>
          <a:ln w="0">
            <a:noFill/>
          </a:ln>
        </p:spPr>
      </p:pic>
      <p:sp>
        <p:nvSpPr>
          <p:cNvPr id="217" name="Shape 17"/>
          <p:cNvSpPr/>
          <p:nvPr/>
        </p:nvSpPr>
        <p:spPr>
          <a:xfrm>
            <a:off x="8906040" y="3231360"/>
            <a:ext cx="2469600" cy="1334160"/>
          </a:xfrm>
          <a:prstGeom prst="roundRect">
            <a:avLst>
              <a:gd name="adj" fmla="val 5471"/>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8" name="Text 18"/>
          <p:cNvSpPr/>
          <p:nvPr/>
        </p:nvSpPr>
        <p:spPr>
          <a:xfrm>
            <a:off x="9085680" y="3385800"/>
            <a:ext cx="217332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3d4a5a"/>
                </a:solidFill>
                <a:latin typeface="IBM Plex Mono"/>
                <a:ea typeface="IBM Plex Mono"/>
              </a:rPr>
              <a:t>03 · iş için hazır</a:t>
            </a:r>
            <a:endParaRPr b="0" lang="en-US" sz="1200" spc="-1" strike="noStrike">
              <a:solidFill>
                <a:srgbClr val="000000"/>
              </a:solidFill>
              <a:latin typeface="Arial"/>
            </a:endParaRPr>
          </a:p>
        </p:txBody>
      </p:sp>
      <p:sp>
        <p:nvSpPr>
          <p:cNvPr id="219" name="Text 19"/>
          <p:cNvSpPr/>
          <p:nvPr/>
        </p:nvSpPr>
        <p:spPr>
          <a:xfrm>
            <a:off x="9085680" y="3662640"/>
            <a:ext cx="2173320" cy="283680"/>
          </a:xfrm>
          <a:prstGeom prst="rect">
            <a:avLst/>
          </a:prstGeom>
          <a:noFill/>
          <a:ln w="0">
            <a:noFill/>
          </a:ln>
        </p:spPr>
        <p:style>
          <a:lnRef idx="0"/>
          <a:fillRef idx="0"/>
          <a:effectRef idx="0"/>
          <a:fontRef idx="minor"/>
        </p:style>
        <p:txBody>
          <a:bodyPr lIns="0" rIns="0" tIns="0" bIns="0" anchor="t">
            <a:normAutofit/>
          </a:bodyPr>
          <a:p>
            <a:pPr defTabSz="914400">
              <a:lnSpc>
                <a:spcPts val="2041"/>
              </a:lnSpc>
              <a:tabLst>
                <a:tab algn="l" pos="0"/>
              </a:tabLst>
            </a:pPr>
            <a:r>
              <a:rPr b="1" lang="en-US" sz="1700" spc="-1" strike="noStrike">
                <a:solidFill>
                  <a:srgbClr val="0e1e33"/>
                </a:solidFill>
                <a:latin typeface="IBM Plex Sans"/>
                <a:ea typeface="IBM Plex Sans"/>
              </a:rPr>
              <a:t>Gold</a:t>
            </a:r>
            <a:endParaRPr b="0" lang="en-US" sz="1700" spc="-1" strike="noStrike">
              <a:solidFill>
                <a:srgbClr val="000000"/>
              </a:solidFill>
              <a:latin typeface="Arial"/>
            </a:endParaRPr>
          </a:p>
        </p:txBody>
      </p:sp>
      <p:sp>
        <p:nvSpPr>
          <p:cNvPr id="220" name="Text 20"/>
          <p:cNvSpPr/>
          <p:nvPr/>
        </p:nvSpPr>
        <p:spPr>
          <a:xfrm>
            <a:off x="9085680" y="3985200"/>
            <a:ext cx="217332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KPI ve raporlar için toplanmış tablolar</a:t>
            </a:r>
            <a:endParaRPr b="0" lang="en-US" sz="1200" spc="-1" strike="noStrike">
              <a:solidFill>
                <a:srgbClr val="000000"/>
              </a:solidFill>
              <a:latin typeface="Arial"/>
            </a:endParaRPr>
          </a:p>
        </p:txBody>
      </p:sp>
      <p:sp>
        <p:nvSpPr>
          <p:cNvPr id="221" name="Shape 21"/>
          <p:cNvSpPr/>
          <p:nvPr/>
        </p:nvSpPr>
        <p:spPr>
          <a:xfrm>
            <a:off x="816120" y="4750560"/>
            <a:ext cx="10559160" cy="488160"/>
          </a:xfrm>
          <a:prstGeom prst="roundRect">
            <a:avLst>
              <a:gd name="adj" fmla="val 14935"/>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2" name="Text 22"/>
          <p:cNvSpPr/>
          <p:nvPr/>
        </p:nvSpPr>
        <p:spPr>
          <a:xfrm>
            <a:off x="995760" y="4879440"/>
            <a:ext cx="1961280" cy="25596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 strike="noStrike">
                <a:solidFill>
                  <a:srgbClr val="0b5cad"/>
                </a:solidFill>
                <a:latin typeface="IBM Plex Sans"/>
                <a:ea typeface="IBM Plex Sans"/>
              </a:rPr>
              <a:t>Delta Lake + ADLS</a:t>
            </a:r>
            <a:endParaRPr b="0" lang="en-US" sz="1300" spc="-1" strike="noStrike">
              <a:solidFill>
                <a:srgbClr val="000000"/>
              </a:solidFill>
              <a:latin typeface="Arial"/>
            </a:endParaRPr>
          </a:p>
        </p:txBody>
      </p:sp>
      <p:sp>
        <p:nvSpPr>
          <p:cNvPr id="223" name="Text 23"/>
          <p:cNvSpPr/>
          <p:nvPr/>
        </p:nvSpPr>
        <p:spPr>
          <a:xfrm>
            <a:off x="3053160" y="4879440"/>
            <a:ext cx="5216400" cy="25596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0e1e33"/>
                </a:solidFill>
                <a:latin typeface="IBM Plex Sans"/>
                <a:ea typeface="IBM Plex Sans"/>
              </a:rPr>
              <a:t>Açık formatta, ucuz bulut depolama üzerinde ACID tablolar</a:t>
            </a:r>
            <a:endParaRPr b="0" lang="en-US" sz="1300" spc="-1" strike="noStrike">
              <a:solidFill>
                <a:srgbClr val="000000"/>
              </a:solidFill>
              <a:latin typeface="Arial"/>
            </a:endParaRPr>
          </a:p>
        </p:txBody>
      </p:sp>
      <p:sp>
        <p:nvSpPr>
          <p:cNvPr id="224" name="Text 24"/>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225" name="Text 25"/>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09</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26"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DATABRICKS 3/4</a:t>
            </a:r>
            <a:endParaRPr b="0" lang="en-US" sz="1200" spc="-1" strike="noStrike">
              <a:solidFill>
                <a:srgbClr val="000000"/>
              </a:solidFill>
              <a:latin typeface="Arial"/>
            </a:endParaRPr>
          </a:p>
        </p:txBody>
      </p:sp>
      <p:sp>
        <p:nvSpPr>
          <p:cNvPr id="227"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Databricks ile neler yapılır?</a:t>
            </a:r>
            <a:endParaRPr b="0" lang="en-US" sz="3200" spc="-1" strike="noStrike">
              <a:solidFill>
                <a:srgbClr val="000000"/>
              </a:solidFill>
              <a:latin typeface="Arial"/>
            </a:endParaRPr>
          </a:p>
        </p:txBody>
      </p:sp>
      <p:sp>
        <p:nvSpPr>
          <p:cNvPr id="228" name="Shape 2"/>
          <p:cNvSpPr/>
          <p:nvPr/>
        </p:nvSpPr>
        <p:spPr>
          <a:xfrm>
            <a:off x="816120" y="1832040"/>
            <a:ext cx="3413520" cy="2030040"/>
          </a:xfrm>
          <a:prstGeom prst="roundRect">
            <a:avLst>
              <a:gd name="adj" fmla="val 359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9" name="Text 3"/>
          <p:cNvSpPr/>
          <p:nvPr/>
        </p:nvSpPr>
        <p:spPr>
          <a:xfrm>
            <a:off x="1020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ETL ve veri mühendisliği</a:t>
            </a:r>
            <a:endParaRPr b="0" lang="en-US" sz="1500" spc="-1" strike="noStrike">
              <a:solidFill>
                <a:srgbClr val="000000"/>
              </a:solidFill>
              <a:latin typeface="Arial"/>
            </a:endParaRPr>
          </a:p>
        </p:txBody>
      </p:sp>
      <p:sp>
        <p:nvSpPr>
          <p:cNvPr id="230" name="Text 4"/>
          <p:cNvSpPr/>
          <p:nvPr/>
        </p:nvSpPr>
        <p:spPr>
          <a:xfrm>
            <a:off x="1020960" y="2316600"/>
            <a:ext cx="3093480" cy="8780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Spark + Delta ile SQL, Python veya Scala’da pipeline. Lakeflow bağımlılıkları ve ölçeklemeyi yönetir; Auto Loader yeni dosyaları artımlı yükler.</a:t>
            </a:r>
            <a:endParaRPr b="0" lang="en-US" sz="1200" spc="-1" strike="noStrike">
              <a:solidFill>
                <a:srgbClr val="000000"/>
              </a:solidFill>
              <a:latin typeface="Arial"/>
            </a:endParaRPr>
          </a:p>
        </p:txBody>
      </p:sp>
      <p:sp>
        <p:nvSpPr>
          <p:cNvPr id="231" name="Shape 5"/>
          <p:cNvSpPr/>
          <p:nvPr/>
        </p:nvSpPr>
        <p:spPr>
          <a:xfrm>
            <a:off x="4388760" y="1832040"/>
            <a:ext cx="3413520" cy="2030040"/>
          </a:xfrm>
          <a:prstGeom prst="roundRect">
            <a:avLst>
              <a:gd name="adj" fmla="val 359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2" name="Text 6"/>
          <p:cNvSpPr/>
          <p:nvPr/>
        </p:nvSpPr>
        <p:spPr>
          <a:xfrm>
            <a:off x="4593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Veri ambarı ve BI</a:t>
            </a:r>
            <a:endParaRPr b="0" lang="en-US" sz="1500" spc="-1" strike="noStrike">
              <a:solidFill>
                <a:srgbClr val="000000"/>
              </a:solidFill>
              <a:latin typeface="Arial"/>
            </a:endParaRPr>
          </a:p>
        </p:txBody>
      </p:sp>
      <p:sp>
        <p:nvSpPr>
          <p:cNvPr id="233" name="Text 7"/>
          <p:cNvSpPr/>
          <p:nvPr/>
        </p:nvSpPr>
        <p:spPr>
          <a:xfrm>
            <a:off x="4593960" y="231660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SQL warehouse ile altyapısız sorgu. KPI’lar bir kez metric view olarak tanımlanır; AI/BI dashboard ve Power BI bağlantısı.</a:t>
            </a:r>
            <a:endParaRPr b="0" lang="en-US" sz="1200" spc="-1" strike="noStrike">
              <a:solidFill>
                <a:srgbClr val="000000"/>
              </a:solidFill>
              <a:latin typeface="Arial"/>
            </a:endParaRPr>
          </a:p>
        </p:txBody>
      </p:sp>
      <p:sp>
        <p:nvSpPr>
          <p:cNvPr id="234" name="Shape 8"/>
          <p:cNvSpPr/>
          <p:nvPr/>
        </p:nvSpPr>
        <p:spPr>
          <a:xfrm>
            <a:off x="7961760" y="1832040"/>
            <a:ext cx="3413520" cy="2030040"/>
          </a:xfrm>
          <a:prstGeom prst="roundRect">
            <a:avLst>
              <a:gd name="adj" fmla="val 359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5" name="Text 9"/>
          <p:cNvSpPr/>
          <p:nvPr/>
        </p:nvSpPr>
        <p:spPr>
          <a:xfrm>
            <a:off x="8166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Makine öğrenmesi ve GenAI</a:t>
            </a:r>
            <a:endParaRPr b="0" lang="en-US" sz="1500" spc="-1" strike="noStrike">
              <a:solidFill>
                <a:srgbClr val="000000"/>
              </a:solidFill>
              <a:latin typeface="Arial"/>
            </a:endParaRPr>
          </a:p>
        </p:txBody>
      </p:sp>
      <p:sp>
        <p:nvSpPr>
          <p:cNvPr id="236" name="Text 10"/>
          <p:cNvSpPr/>
          <p:nvPr/>
        </p:nvSpPr>
        <p:spPr>
          <a:xfrm>
            <a:off x="8166960" y="2316600"/>
            <a:ext cx="3093480" cy="8780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MLflow ile deney ve model takibi, Hugging Face modelleri, LLM’i kurum verisiyle özelleştirme; AI Functions ile SQL’den LLM çağırma.</a:t>
            </a:r>
            <a:endParaRPr b="0" lang="en-US" sz="1200" spc="-1" strike="noStrike">
              <a:solidFill>
                <a:srgbClr val="000000"/>
              </a:solidFill>
              <a:latin typeface="Arial"/>
            </a:endParaRPr>
          </a:p>
        </p:txBody>
      </p:sp>
      <p:sp>
        <p:nvSpPr>
          <p:cNvPr id="237" name="Shape 11"/>
          <p:cNvSpPr/>
          <p:nvPr/>
        </p:nvSpPr>
        <p:spPr>
          <a:xfrm>
            <a:off x="816120" y="4021560"/>
            <a:ext cx="3413520" cy="1816560"/>
          </a:xfrm>
          <a:prstGeom prst="roundRect">
            <a:avLst>
              <a:gd name="adj" fmla="val 401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8" name="Text 12"/>
          <p:cNvSpPr/>
          <p:nvPr/>
        </p:nvSpPr>
        <p:spPr>
          <a:xfrm>
            <a:off x="1020960" y="420120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Gerçek zamanlı analitik</a:t>
            </a:r>
            <a:endParaRPr b="0" lang="en-US" sz="1500" spc="-1" strike="noStrike">
              <a:solidFill>
                <a:srgbClr val="000000"/>
              </a:solidFill>
              <a:latin typeface="Arial"/>
            </a:endParaRPr>
          </a:p>
        </p:txBody>
      </p:sp>
      <p:sp>
        <p:nvSpPr>
          <p:cNvPr id="239" name="Text 13"/>
          <p:cNvSpPr/>
          <p:nvPr/>
        </p:nvSpPr>
        <p:spPr>
          <a:xfrm>
            <a:off x="1020960" y="450612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Structured Streaming ile akan veri ve artımlı değişiklikler; Event Hubs gibi kaynaklardan doğrudan beslenir.</a:t>
            </a:r>
            <a:endParaRPr b="0" lang="en-US" sz="1200" spc="-1" strike="noStrike">
              <a:solidFill>
                <a:srgbClr val="000000"/>
              </a:solidFill>
              <a:latin typeface="Arial"/>
            </a:endParaRPr>
          </a:p>
        </p:txBody>
      </p:sp>
      <p:sp>
        <p:nvSpPr>
          <p:cNvPr id="240" name="Shape 14"/>
          <p:cNvSpPr/>
          <p:nvPr/>
        </p:nvSpPr>
        <p:spPr>
          <a:xfrm>
            <a:off x="4388760" y="4021560"/>
            <a:ext cx="3413520" cy="1816560"/>
          </a:xfrm>
          <a:prstGeom prst="roundRect">
            <a:avLst>
              <a:gd name="adj" fmla="val 401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1" name="Text 15"/>
          <p:cNvSpPr/>
          <p:nvPr/>
        </p:nvSpPr>
        <p:spPr>
          <a:xfrm>
            <a:off x="4593960" y="420120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Yönetişim ve paylaşım</a:t>
            </a:r>
            <a:endParaRPr b="0" lang="en-US" sz="1500" spc="-1" strike="noStrike">
              <a:solidFill>
                <a:srgbClr val="000000"/>
              </a:solidFill>
              <a:latin typeface="Arial"/>
            </a:endParaRPr>
          </a:p>
        </p:txBody>
      </p:sp>
      <p:sp>
        <p:nvSpPr>
          <p:cNvPr id="242" name="Text 16"/>
          <p:cNvSpPr/>
          <p:nvPr/>
        </p:nvSpPr>
        <p:spPr>
          <a:xfrm>
            <a:off x="4593960" y="450612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Unity Catalog ile tablo, model ve dosyalarda tek yetki modeli; OpenSharing ile kurum dışına kopyasız paylaşım.</a:t>
            </a:r>
            <a:endParaRPr b="0" lang="en-US" sz="1200" spc="-1" strike="noStrike">
              <a:solidFill>
                <a:srgbClr val="000000"/>
              </a:solidFill>
              <a:latin typeface="Arial"/>
            </a:endParaRPr>
          </a:p>
        </p:txBody>
      </p:sp>
      <p:sp>
        <p:nvSpPr>
          <p:cNvPr id="243" name="Shape 17"/>
          <p:cNvSpPr/>
          <p:nvPr/>
        </p:nvSpPr>
        <p:spPr>
          <a:xfrm>
            <a:off x="7961760" y="4021560"/>
            <a:ext cx="3413520" cy="1816560"/>
          </a:xfrm>
          <a:prstGeom prst="roundRect">
            <a:avLst>
              <a:gd name="adj" fmla="val 4018"/>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4" name="Text 18"/>
          <p:cNvSpPr/>
          <p:nvPr/>
        </p:nvSpPr>
        <p:spPr>
          <a:xfrm>
            <a:off x="8166960" y="420120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Doğal dil ve OLTP</a:t>
            </a:r>
            <a:endParaRPr b="0" lang="en-US" sz="1500" spc="-1" strike="noStrike">
              <a:solidFill>
                <a:srgbClr val="000000"/>
              </a:solidFill>
              <a:latin typeface="Arial"/>
            </a:endParaRPr>
          </a:p>
        </p:txBody>
      </p:sp>
      <p:sp>
        <p:nvSpPr>
          <p:cNvPr id="245" name="Text 19"/>
          <p:cNvSpPr/>
          <p:nvPr/>
        </p:nvSpPr>
        <p:spPr>
          <a:xfrm>
            <a:off x="8166960" y="450612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Genie Agents ile iş kullanıcısı veriye kendi diliyle soru sorar. Lakebase: platforma entegre, yönetilen Postgres.</a:t>
            </a:r>
            <a:endParaRPr b="0" lang="en-US" sz="1200" spc="-1" strike="noStrike">
              <a:solidFill>
                <a:srgbClr val="000000"/>
              </a:solidFill>
              <a:latin typeface="Arial"/>
            </a:endParaRPr>
          </a:p>
        </p:txBody>
      </p:sp>
      <p:sp>
        <p:nvSpPr>
          <p:cNvPr id="246" name="Text 20"/>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247" name="Text 21"/>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10</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48"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 · DATABRICKS 4/4</a:t>
            </a:r>
            <a:endParaRPr b="0" lang="en-US" sz="1200" spc="-1" strike="noStrike">
              <a:solidFill>
                <a:srgbClr val="000000"/>
              </a:solidFill>
              <a:latin typeface="Arial"/>
            </a:endParaRPr>
          </a:p>
        </p:txBody>
      </p:sp>
      <p:sp>
        <p:nvSpPr>
          <p:cNvPr id="249"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Databricks’in yapı taşları</a:t>
            </a:r>
            <a:endParaRPr b="0" lang="en-US" sz="3200" spc="-1" strike="noStrike">
              <a:solidFill>
                <a:srgbClr val="000000"/>
              </a:solidFill>
              <a:latin typeface="Arial"/>
            </a:endParaRPr>
          </a:p>
        </p:txBody>
      </p:sp>
      <p:sp>
        <p:nvSpPr>
          <p:cNvPr id="250" name="Shape 2"/>
          <p:cNvSpPr/>
          <p:nvPr/>
        </p:nvSpPr>
        <p:spPr>
          <a:xfrm>
            <a:off x="816120" y="183204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1" name="Text 3"/>
          <p:cNvSpPr/>
          <p:nvPr/>
        </p:nvSpPr>
        <p:spPr>
          <a:xfrm>
            <a:off x="1020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Workspace</a:t>
            </a:r>
            <a:endParaRPr b="0" lang="en-US" sz="1500" spc="-1" strike="noStrike">
              <a:solidFill>
                <a:srgbClr val="000000"/>
              </a:solidFill>
              <a:latin typeface="Arial"/>
            </a:endParaRPr>
          </a:p>
        </p:txBody>
      </p:sp>
      <p:sp>
        <p:nvSpPr>
          <p:cNvPr id="252" name="Text 4"/>
          <p:cNvSpPr/>
          <p:nvPr/>
        </p:nvSpPr>
        <p:spPr>
          <a:xfrm>
            <a:off x="1020960" y="231660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Ekibin ortak çalışma alanı: notebook’lar, işler, panolar ve kullanıcı yetkileri burada durur.</a:t>
            </a:r>
            <a:endParaRPr b="0" lang="en-US" sz="1200" spc="-1" strike="noStrike">
              <a:solidFill>
                <a:srgbClr val="000000"/>
              </a:solidFill>
              <a:latin typeface="Arial"/>
            </a:endParaRPr>
          </a:p>
        </p:txBody>
      </p:sp>
      <p:sp>
        <p:nvSpPr>
          <p:cNvPr id="253" name="Shape 5"/>
          <p:cNvSpPr/>
          <p:nvPr/>
        </p:nvSpPr>
        <p:spPr>
          <a:xfrm>
            <a:off x="4388760" y="183204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4" name="Text 6"/>
          <p:cNvSpPr/>
          <p:nvPr/>
        </p:nvSpPr>
        <p:spPr>
          <a:xfrm>
            <a:off x="4593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Compute (küme)</a:t>
            </a:r>
            <a:endParaRPr b="0" lang="en-US" sz="1500" spc="-1" strike="noStrike">
              <a:solidFill>
                <a:srgbClr val="000000"/>
              </a:solidFill>
              <a:latin typeface="Arial"/>
            </a:endParaRPr>
          </a:p>
        </p:txBody>
      </p:sp>
      <p:sp>
        <p:nvSpPr>
          <p:cNvPr id="255" name="Text 7"/>
          <p:cNvSpPr/>
          <p:nvPr/>
        </p:nvSpPr>
        <p:spPr>
          <a:xfrm>
            <a:off x="4593960" y="231660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Kodu çalıştıran makineler. İş başlayınca açılır, bitince kapanır; yük artınca otomatik büyür.</a:t>
            </a:r>
            <a:endParaRPr b="0" lang="en-US" sz="1200" spc="-1" strike="noStrike">
              <a:solidFill>
                <a:srgbClr val="000000"/>
              </a:solidFill>
              <a:latin typeface="Arial"/>
            </a:endParaRPr>
          </a:p>
        </p:txBody>
      </p:sp>
      <p:sp>
        <p:nvSpPr>
          <p:cNvPr id="256" name="Shape 8"/>
          <p:cNvSpPr/>
          <p:nvPr/>
        </p:nvSpPr>
        <p:spPr>
          <a:xfrm>
            <a:off x="7961760" y="183204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7" name="Text 9"/>
          <p:cNvSpPr/>
          <p:nvPr/>
        </p:nvSpPr>
        <p:spPr>
          <a:xfrm>
            <a:off x="8166960" y="201168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Notebook</a:t>
            </a:r>
            <a:endParaRPr b="0" lang="en-US" sz="1500" spc="-1" strike="noStrike">
              <a:solidFill>
                <a:srgbClr val="000000"/>
              </a:solidFill>
              <a:latin typeface="Arial"/>
            </a:endParaRPr>
          </a:p>
        </p:txBody>
      </p:sp>
      <p:sp>
        <p:nvSpPr>
          <p:cNvPr id="258" name="Text 10"/>
          <p:cNvSpPr/>
          <p:nvPr/>
        </p:nvSpPr>
        <p:spPr>
          <a:xfrm>
            <a:off x="8166960" y="231660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Python, SQL, Scala ve R’ı aynı sayfada yazıp çalıştırma; sonuç, grafik ve açıklama yan yana.</a:t>
            </a:r>
            <a:endParaRPr b="0" lang="en-US" sz="1200" spc="-1" strike="noStrike">
              <a:solidFill>
                <a:srgbClr val="000000"/>
              </a:solidFill>
              <a:latin typeface="Arial"/>
            </a:endParaRPr>
          </a:p>
        </p:txBody>
      </p:sp>
      <p:sp>
        <p:nvSpPr>
          <p:cNvPr id="259" name="Shape 11"/>
          <p:cNvSpPr/>
          <p:nvPr/>
        </p:nvSpPr>
        <p:spPr>
          <a:xfrm>
            <a:off x="816120" y="329508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0" name="Text 12"/>
          <p:cNvSpPr/>
          <p:nvPr/>
        </p:nvSpPr>
        <p:spPr>
          <a:xfrm>
            <a:off x="1020960" y="347472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Jobs</a:t>
            </a:r>
            <a:endParaRPr b="0" lang="en-US" sz="1500" spc="-1" strike="noStrike">
              <a:solidFill>
                <a:srgbClr val="000000"/>
              </a:solidFill>
              <a:latin typeface="Arial"/>
            </a:endParaRPr>
          </a:p>
        </p:txBody>
      </p:sp>
      <p:sp>
        <p:nvSpPr>
          <p:cNvPr id="261" name="Text 13"/>
          <p:cNvSpPr/>
          <p:nvPr/>
        </p:nvSpPr>
        <p:spPr>
          <a:xfrm>
            <a:off x="1020960" y="3779640"/>
            <a:ext cx="309348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Notebook ve sorguları zamanlar, sırayla çalıştırır; hata olursa haber verir.</a:t>
            </a:r>
            <a:endParaRPr b="0" lang="en-US" sz="1200" spc="-1" strike="noStrike">
              <a:solidFill>
                <a:srgbClr val="000000"/>
              </a:solidFill>
              <a:latin typeface="Arial"/>
            </a:endParaRPr>
          </a:p>
        </p:txBody>
      </p:sp>
      <p:sp>
        <p:nvSpPr>
          <p:cNvPr id="262" name="Shape 14"/>
          <p:cNvSpPr/>
          <p:nvPr/>
        </p:nvSpPr>
        <p:spPr>
          <a:xfrm>
            <a:off x="4388760" y="329508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3" name="Text 15"/>
          <p:cNvSpPr/>
          <p:nvPr/>
        </p:nvSpPr>
        <p:spPr>
          <a:xfrm>
            <a:off x="4593960" y="347472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SQL Warehouse</a:t>
            </a:r>
            <a:endParaRPr b="0" lang="en-US" sz="1500" spc="-1" strike="noStrike">
              <a:solidFill>
                <a:srgbClr val="000000"/>
              </a:solidFill>
              <a:latin typeface="Arial"/>
            </a:endParaRPr>
          </a:p>
        </p:txBody>
      </p:sp>
      <p:sp>
        <p:nvSpPr>
          <p:cNvPr id="264" name="Text 16"/>
          <p:cNvSpPr/>
          <p:nvPr/>
        </p:nvSpPr>
        <p:spPr>
          <a:xfrm>
            <a:off x="4593960" y="3779640"/>
            <a:ext cx="3093480" cy="4514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Analistlerin SQL ile sorgu attığı uç nokta; Power BI da buraya bağlanır.</a:t>
            </a:r>
            <a:endParaRPr b="0" lang="en-US" sz="1200" spc="-1" strike="noStrike">
              <a:solidFill>
                <a:srgbClr val="000000"/>
              </a:solidFill>
              <a:latin typeface="Arial"/>
            </a:endParaRPr>
          </a:p>
        </p:txBody>
      </p:sp>
      <p:sp>
        <p:nvSpPr>
          <p:cNvPr id="265" name="Shape 17"/>
          <p:cNvSpPr/>
          <p:nvPr/>
        </p:nvSpPr>
        <p:spPr>
          <a:xfrm>
            <a:off x="7961760" y="3295080"/>
            <a:ext cx="3413520" cy="1303560"/>
          </a:xfrm>
          <a:prstGeom prst="roundRect">
            <a:avLst>
              <a:gd name="adj" fmla="val 5599"/>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6" name="Text 18"/>
          <p:cNvSpPr/>
          <p:nvPr/>
        </p:nvSpPr>
        <p:spPr>
          <a:xfrm>
            <a:off x="8166960" y="3474720"/>
            <a:ext cx="3093480" cy="25344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0b5cad"/>
                </a:solidFill>
                <a:latin typeface="IBM Plex Sans"/>
                <a:ea typeface="IBM Plex Sans"/>
              </a:rPr>
              <a:t>Unity Catalog</a:t>
            </a:r>
            <a:endParaRPr b="0" lang="en-US" sz="1500" spc="-1" strike="noStrike">
              <a:solidFill>
                <a:srgbClr val="000000"/>
              </a:solidFill>
              <a:latin typeface="Arial"/>
            </a:endParaRPr>
          </a:p>
        </p:txBody>
      </p:sp>
      <p:sp>
        <p:nvSpPr>
          <p:cNvPr id="267" name="Text 19"/>
          <p:cNvSpPr/>
          <p:nvPr/>
        </p:nvSpPr>
        <p:spPr>
          <a:xfrm>
            <a:off x="8166960" y="3779640"/>
            <a:ext cx="3093480" cy="66492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0e1e33"/>
                </a:solidFill>
                <a:latin typeface="IBM Plex Sans"/>
                <a:ea typeface="IBM Plex Sans"/>
              </a:rPr>
              <a:t>Tüm veriler tek adres düzeninde: </a:t>
            </a:r>
            <a:r>
              <a:rPr b="1" lang="en-US" sz="1200" spc="-1" strike="noStrike">
                <a:solidFill>
                  <a:srgbClr val="0e1e33"/>
                </a:solidFill>
                <a:latin typeface="IBM Plex Sans"/>
                <a:ea typeface="IBM Plex Sans"/>
              </a:rPr>
              <a:t>katalog.şema.tablo</a:t>
            </a:r>
            <a:r>
              <a:rPr b="0" lang="en-US" sz="1200" spc="-1" strike="noStrike">
                <a:solidFill>
                  <a:srgbClr val="0e1e33"/>
                </a:solidFill>
                <a:latin typeface="IBM Plex Sans"/>
                <a:ea typeface="IBM Plex Sans"/>
              </a:rPr>
              <a:t>. Yetki ve veri soy ağacı buradan yönetilir.</a:t>
            </a:r>
            <a:endParaRPr b="0" lang="en-US" sz="1200" spc="-1" strike="noStrike">
              <a:solidFill>
                <a:srgbClr val="000000"/>
              </a:solidFill>
              <a:latin typeface="Arial"/>
            </a:endParaRPr>
          </a:p>
        </p:txBody>
      </p:sp>
      <p:sp>
        <p:nvSpPr>
          <p:cNvPr id="268" name="Shape 20"/>
          <p:cNvSpPr/>
          <p:nvPr/>
        </p:nvSpPr>
        <p:spPr>
          <a:xfrm>
            <a:off x="812880" y="4780440"/>
            <a:ext cx="10565640" cy="817200"/>
          </a:xfrm>
          <a:prstGeom prst="roundRect">
            <a:avLst>
              <a:gd name="adj" fmla="val 9317"/>
            </a:avLst>
          </a:prstGeom>
          <a:solidFill>
            <a:srgbClr val="0e1e3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 name="Text 21"/>
          <p:cNvSpPr/>
          <p:nvPr/>
        </p:nvSpPr>
        <p:spPr>
          <a:xfrm>
            <a:off x="1041480" y="5064840"/>
            <a:ext cx="1961280" cy="273600"/>
          </a:xfrm>
          <a:prstGeom prst="rect">
            <a:avLst/>
          </a:prstGeom>
          <a:noFill/>
          <a:ln w="0">
            <a:noFill/>
          </a:ln>
        </p:spPr>
        <p:style>
          <a:lnRef idx="0"/>
          <a:fillRef idx="0"/>
          <a:effectRef idx="0"/>
          <a:fontRef idx="minor"/>
        </p:style>
        <p:txBody>
          <a:bodyPr lIns="0" rIns="0" tIns="0" bIns="0" anchor="t">
            <a:normAutofit fontScale="50000"/>
          </a:bodyPr>
          <a:p>
            <a:pPr defTabSz="914400">
              <a:lnSpc>
                <a:spcPts val="1959"/>
              </a:lnSpc>
              <a:tabLst>
                <a:tab algn="l" pos="0"/>
              </a:tabLst>
            </a:pPr>
            <a:r>
              <a:rPr b="1" lang="en-US" sz="1400" spc="-1" strike="noStrike">
                <a:solidFill>
                  <a:srgbClr val="6cb4ff"/>
                </a:solidFill>
                <a:latin typeface="IBM Plex Sans"/>
                <a:ea typeface="IBM Plex Sans"/>
              </a:rPr>
              <a:t>OneLake ile bağlantı</a:t>
            </a:r>
            <a:endParaRPr b="0" lang="en-US" sz="1400" spc="-1" strike="noStrike">
              <a:solidFill>
                <a:srgbClr val="000000"/>
              </a:solidFill>
              <a:latin typeface="Arial"/>
            </a:endParaRPr>
          </a:p>
        </p:txBody>
      </p:sp>
      <p:sp>
        <p:nvSpPr>
          <p:cNvPr id="270" name="Text 22"/>
          <p:cNvSpPr/>
          <p:nvPr/>
        </p:nvSpPr>
        <p:spPr>
          <a:xfrm>
            <a:off x="3124080" y="4957920"/>
            <a:ext cx="824040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Fabric, Unity Catalog’daki tabloları mirroring ile kopyalamadan OneLake’e yansıtır. Ağır işleme Databricks’te, raporlama Fabric ve Power BI’da yapılabilir; ortak dil Delta formatı.</a:t>
            </a:r>
            <a:endParaRPr b="0" lang="en-US" sz="1300" spc="-1" strike="noStrike">
              <a:solidFill>
                <a:srgbClr val="000000"/>
              </a:solidFill>
              <a:latin typeface="Arial"/>
            </a:endParaRPr>
          </a:p>
        </p:txBody>
      </p:sp>
      <p:sp>
        <p:nvSpPr>
          <p:cNvPr id="271" name="Text 23"/>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272" name="Text 24"/>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11</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7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PLATFORMU</a:t>
            </a:r>
            <a:endParaRPr b="0" lang="en-US" sz="1200" spc="-1" strike="noStrike">
              <a:solidFill>
                <a:srgbClr val="000000"/>
              </a:solidFill>
              <a:latin typeface="Arial"/>
            </a:endParaRPr>
          </a:p>
        </p:txBody>
      </p:sp>
      <p:sp>
        <p:nvSpPr>
          <p:cNvPr id="27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Synapse Analytics</a:t>
            </a:r>
            <a:endParaRPr b="0" lang="en-US" sz="3200" spc="-1" strike="noStrike">
              <a:solidFill>
                <a:srgbClr val="000000"/>
              </a:solidFill>
              <a:latin typeface="Arial"/>
            </a:endParaRPr>
          </a:p>
        </p:txBody>
      </p:sp>
      <p:sp>
        <p:nvSpPr>
          <p:cNvPr id="275"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Veri ambarı, büyük veri işleme ve veri entegrasyonunu tek çalışma alanında sunan, Fabric’ten önceki nesil Azure analitik platformu.</a:t>
            </a:r>
            <a:endParaRPr b="0" lang="en-US" sz="1600" spc="-1" strike="noStrike">
              <a:solidFill>
                <a:srgbClr val="000000"/>
              </a:solidFill>
              <a:latin typeface="Arial"/>
            </a:endParaRPr>
          </a:p>
        </p:txBody>
      </p:sp>
      <p:sp>
        <p:nvSpPr>
          <p:cNvPr id="276"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7"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278" name="Text 5"/>
          <p:cNvSpPr/>
          <p:nvPr/>
        </p:nvSpPr>
        <p:spPr>
          <a:xfrm>
            <a:off x="113184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Kurumsal veri ambarı (eski adıyla Azure SQL DW)</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Data lake’teki dosyalara SQL ile sorgu</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Pipeline, SQL ve Spark tek arayüzde</a:t>
            </a:r>
            <a:endParaRPr b="0" lang="en-US" sz="1300" spc="-1" strike="noStrike">
              <a:solidFill>
                <a:srgbClr val="000000"/>
              </a:solidFill>
              <a:latin typeface="Arial"/>
            </a:endParaRPr>
          </a:p>
        </p:txBody>
      </p:sp>
      <p:sp>
        <p:nvSpPr>
          <p:cNvPr id="279"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0"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281" name="Text 8"/>
          <p:cNvSpPr/>
          <p:nvPr/>
        </p:nvSpPr>
        <p:spPr>
          <a:xfrm>
            <a:off x="472176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Dedicated SQL pool: MPP mimarili ambar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Serverless SQL pool: göldeki dosyaya doğrudan sorgu</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Spark pool ve ADF tabanlı pipeline’lar</a:t>
            </a:r>
            <a:endParaRPr b="0" lang="en-US" sz="1300" spc="-1" strike="noStrike">
              <a:solidFill>
                <a:srgbClr val="000000"/>
              </a:solidFill>
              <a:latin typeface="Arial"/>
            </a:endParaRPr>
          </a:p>
        </p:txBody>
      </p:sp>
      <p:sp>
        <p:nvSpPr>
          <p:cNvPr id="282"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3"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284" name="Text 11"/>
          <p:cNvSpPr/>
          <p:nvPr/>
        </p:nvSpPr>
        <p:spPr>
          <a:xfrm>
            <a:off x="831168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Dedicated pool: DWU başına saatlik</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Serverless: taranan veri (TB) başına</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Microsoft yeni geliştirmeleri Fabric’e yöneltiyor: Synapse → Fabric geçişi önemli bir proje alanı</a:t>
            </a:r>
            <a:endParaRPr b="0" lang="en-US" sz="1300" spc="-1" strike="noStrike">
              <a:solidFill>
                <a:srgbClr val="000000"/>
              </a:solidFill>
              <a:latin typeface="Arial"/>
            </a:endParaRPr>
          </a:p>
        </p:txBody>
      </p:sp>
      <p:sp>
        <p:nvSpPr>
          <p:cNvPr id="285"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286"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12</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87"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ENTEGRASYONU</a:t>
            </a:r>
            <a:endParaRPr b="0" lang="en-US" sz="1200" spc="-1" strike="noStrike">
              <a:solidFill>
                <a:srgbClr val="000000"/>
              </a:solidFill>
              <a:latin typeface="Arial"/>
            </a:endParaRPr>
          </a:p>
        </p:txBody>
      </p:sp>
      <p:sp>
        <p:nvSpPr>
          <p:cNvPr id="288"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Data Factory</a:t>
            </a:r>
            <a:endParaRPr b="0" lang="en-US" sz="3200" spc="-1" strike="noStrike">
              <a:solidFill>
                <a:srgbClr val="000000"/>
              </a:solidFill>
              <a:latin typeface="Arial"/>
            </a:endParaRPr>
          </a:p>
        </p:txBody>
      </p:sp>
      <p:sp>
        <p:nvSpPr>
          <p:cNvPr id="289"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Verileri farklı kaynaklardan çekip dönüştüren ve hedefe taşıyan bulut tabanlı ETL/ELT ve orkestrasyon servisi.</a:t>
            </a:r>
            <a:endParaRPr b="0" lang="en-US" sz="1600" spc="-1" strike="noStrike">
              <a:solidFill>
                <a:srgbClr val="000000"/>
              </a:solidFill>
              <a:latin typeface="Arial"/>
            </a:endParaRPr>
          </a:p>
        </p:txBody>
      </p:sp>
      <p:sp>
        <p:nvSpPr>
          <p:cNvPr id="290"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1"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292" name="Text 5"/>
          <p:cNvSpPr/>
          <p:nvPr/>
        </p:nvSpPr>
        <p:spPr>
          <a:xfrm>
            <a:off x="113184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ERP, CRM, veritabanı, dosya ve API’lerden veri toplar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İşleri zamanlar, bağımlılıkları yönetir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Kod yazmadan görsel pipeline tasarımı</a:t>
            </a:r>
            <a:endParaRPr b="0" lang="en-US" sz="1300" spc="-1" strike="noStrike">
              <a:solidFill>
                <a:srgbClr val="000000"/>
              </a:solidFill>
              <a:latin typeface="Arial"/>
            </a:endParaRPr>
          </a:p>
        </p:txBody>
      </p:sp>
      <p:sp>
        <p:nvSpPr>
          <p:cNvPr id="293"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4"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295" name="Text 8"/>
          <p:cNvSpPr/>
          <p:nvPr/>
        </p:nvSpPr>
        <p:spPr>
          <a:xfrm>
            <a:off x="4721760" y="3103920"/>
            <a:ext cx="2913120" cy="164268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Pipeline → Activity (Copy, Data Flow, Notebook)</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Linked Service: kaynak ve hedef bağlantıları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Integration Runtime: Azure, Self-hosted, Azure-SSIS</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Trigger: zaman veya olay tetiklemeli</a:t>
            </a:r>
            <a:endParaRPr b="0" lang="en-US" sz="1300" spc="-1" strike="noStrike">
              <a:solidFill>
                <a:srgbClr val="000000"/>
              </a:solidFill>
              <a:latin typeface="Arial"/>
            </a:endParaRPr>
          </a:p>
        </p:txBody>
      </p:sp>
      <p:sp>
        <p:nvSpPr>
          <p:cNvPr id="296"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7"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298" name="Text 11"/>
          <p:cNvSpPr/>
          <p:nvPr/>
        </p:nvSpPr>
        <p:spPr>
          <a:xfrm>
            <a:off x="8311680" y="3103920"/>
            <a:ext cx="2913120" cy="164268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Tüketim bazlı: aktivite çalışması, veri taşıma saati ve Data Flow çekirdek saati</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Self-hosted IR ile on-prem veriye güvenli erişim</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Fabric’te aynı mantık Data Factory iş yükü olarak var</a:t>
            </a:r>
            <a:endParaRPr b="0" lang="en-US" sz="1300" spc="-1" strike="noStrike">
              <a:solidFill>
                <a:srgbClr val="000000"/>
              </a:solidFill>
              <a:latin typeface="Arial"/>
            </a:endParaRPr>
          </a:p>
        </p:txBody>
      </p:sp>
      <p:sp>
        <p:nvSpPr>
          <p:cNvPr id="299"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00"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13</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01"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 ENTEGRASYONU</a:t>
            </a:r>
            <a:endParaRPr b="0" lang="en-US" sz="1200" spc="-1" strike="noStrike">
              <a:solidFill>
                <a:srgbClr val="000000"/>
              </a:solidFill>
              <a:latin typeface="Arial"/>
            </a:endParaRPr>
          </a:p>
        </p:txBody>
      </p:sp>
      <p:sp>
        <p:nvSpPr>
          <p:cNvPr id="302"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SQL Server Integration Services (SSIS)</a:t>
            </a:r>
            <a:endParaRPr b="0" lang="en-US" sz="3200" spc="-1" strike="noStrike">
              <a:solidFill>
                <a:srgbClr val="000000"/>
              </a:solidFill>
              <a:latin typeface="Arial"/>
            </a:endParaRPr>
          </a:p>
        </p:txBody>
      </p:sp>
      <p:sp>
        <p:nvSpPr>
          <p:cNvPr id="303"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SQL Server ile gelen, on-prem dünyanın klasik ETL aracı; paketler Visual Studio’da görsel olarak tasarlanır.</a:t>
            </a:r>
            <a:endParaRPr b="0" lang="en-US" sz="1600" spc="-1" strike="noStrike">
              <a:solidFill>
                <a:srgbClr val="000000"/>
              </a:solidFill>
              <a:latin typeface="Arial"/>
            </a:endParaRPr>
          </a:p>
        </p:txBody>
      </p:sp>
      <p:sp>
        <p:nvSpPr>
          <p:cNvPr id="304"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5"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06" name="Text 5"/>
          <p:cNvSpPr/>
          <p:nvPr/>
        </p:nvSpPr>
        <p:spPr>
          <a:xfrm>
            <a:off x="113184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Kaynaklardan veri çekip temizler, ambara yükler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Gece batch yüklemeleri, dosya işlemleri</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Buluta çıkamayan kurumlarda hâlâ yaygın</a:t>
            </a:r>
            <a:endParaRPr b="0" lang="en-US" sz="1300" spc="-1" strike="noStrike">
              <a:solidFill>
                <a:srgbClr val="000000"/>
              </a:solidFill>
              <a:latin typeface="Arial"/>
            </a:endParaRPr>
          </a:p>
        </p:txBody>
      </p:sp>
      <p:sp>
        <p:nvSpPr>
          <p:cNvPr id="307"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8"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09" name="Text 8"/>
          <p:cNvSpPr/>
          <p:nvPr/>
        </p:nvSpPr>
        <p:spPr>
          <a:xfrm>
            <a:off x="472176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Control Flow: iş adımlarının sırası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Data Flow: kaynak → dönüşüm → hedef</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Paketler SSIS Catalog (SSISDB) üzerinden yönetilir</a:t>
            </a:r>
            <a:endParaRPr b="0" lang="en-US" sz="1300" spc="-1" strike="noStrike">
              <a:solidFill>
                <a:srgbClr val="000000"/>
              </a:solidFill>
              <a:latin typeface="Arial"/>
            </a:endParaRPr>
          </a:p>
        </p:txBody>
      </p:sp>
      <p:sp>
        <p:nvSpPr>
          <p:cNvPr id="310"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1"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12" name="Text 11"/>
          <p:cNvSpPr/>
          <p:nvPr/>
        </p:nvSpPr>
        <p:spPr>
          <a:xfrm>
            <a:off x="831168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Ayrı lisansı yok; SQL Server lisansına dahil</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Çalıştığı sunucuda SQL Server lisansı gerekir</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ADF’nin Azure-SSIS IR’ı ile paketler buluta taşınabilir</a:t>
            </a:r>
            <a:endParaRPr b="0" lang="en-US" sz="1300" spc="-1" strike="noStrike">
              <a:solidFill>
                <a:srgbClr val="000000"/>
              </a:solidFill>
              <a:latin typeface="Arial"/>
            </a:endParaRPr>
          </a:p>
        </p:txBody>
      </p:sp>
      <p:sp>
        <p:nvSpPr>
          <p:cNvPr id="313"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14"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14</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15"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GERÇEK ZAMANLI VERİ</a:t>
            </a:r>
            <a:endParaRPr b="0" lang="en-US" sz="1200" spc="-1" strike="noStrike">
              <a:solidFill>
                <a:srgbClr val="000000"/>
              </a:solidFill>
              <a:latin typeface="Arial"/>
            </a:endParaRPr>
          </a:p>
        </p:txBody>
      </p:sp>
      <p:sp>
        <p:nvSpPr>
          <p:cNvPr id="316"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Event Hubs</a:t>
            </a:r>
            <a:endParaRPr b="0" lang="en-US" sz="3200" spc="-1" strike="noStrike">
              <a:solidFill>
                <a:srgbClr val="000000"/>
              </a:solidFill>
              <a:latin typeface="Arial"/>
            </a:endParaRPr>
          </a:p>
        </p:txBody>
      </p:sp>
      <p:sp>
        <p:nvSpPr>
          <p:cNvPr id="317"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Yüksek hacimli olay akışlarını toplayan, yönetilen veri akışı (streaming) servisi; Apache Kafka protokolüyle uyumlu.</a:t>
            </a:r>
            <a:endParaRPr b="0" lang="en-US" sz="1600" spc="-1" strike="noStrike">
              <a:solidFill>
                <a:srgbClr val="000000"/>
              </a:solidFill>
              <a:latin typeface="Arial"/>
            </a:endParaRPr>
          </a:p>
        </p:txBody>
      </p:sp>
      <p:sp>
        <p:nvSpPr>
          <p:cNvPr id="318"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9"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20" name="Text 5"/>
          <p:cNvSpPr/>
          <p:nvPr/>
        </p:nvSpPr>
        <p:spPr>
          <a:xfrm>
            <a:off x="113184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Kart işlemleri, uygulama logları, IoT sinyalleri gibi sürekli akan veriyi toplar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Anlık dashboard ve gerçek zamanlı uyarılar</a:t>
            </a:r>
            <a:endParaRPr b="0" lang="en-US" sz="1300" spc="-1" strike="noStrike">
              <a:solidFill>
                <a:srgbClr val="000000"/>
              </a:solidFill>
              <a:latin typeface="Arial"/>
            </a:endParaRPr>
          </a:p>
        </p:txBody>
      </p:sp>
      <p:sp>
        <p:nvSpPr>
          <p:cNvPr id="321"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22"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23" name="Text 8"/>
          <p:cNvSpPr/>
          <p:nvPr/>
        </p:nvSpPr>
        <p:spPr>
          <a:xfrm>
            <a:off x="4721760" y="3103920"/>
            <a:ext cx="2913120" cy="187380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Üreticiler olay gönderir, olaylar partition’lara dağılır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Consumer group’lar aynı akışı bağımsız okur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Capture: akışı otomatik olarak ADLS’e yazar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Fabric Eventstream ve Databricks’e bağlanır</a:t>
            </a:r>
            <a:endParaRPr b="0" lang="en-US" sz="1300" spc="-1" strike="noStrike">
              <a:solidFill>
                <a:srgbClr val="000000"/>
              </a:solidFill>
              <a:latin typeface="Arial"/>
            </a:endParaRPr>
          </a:p>
        </p:txBody>
      </p:sp>
      <p:sp>
        <p:nvSpPr>
          <p:cNvPr id="324"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5"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26" name="Text 11"/>
          <p:cNvSpPr/>
          <p:nvPr/>
        </p:nvSpPr>
        <p:spPr>
          <a:xfrm>
            <a:off x="831168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Katmanlar: Basic, Standard, Premium, Dedicated</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Ücret: kapasite birimi ve olay sayısına göre</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Ensight’ın lisans portföyünde yer alıyor</a:t>
            </a:r>
            <a:endParaRPr b="0" lang="en-US" sz="1300" spc="-1" strike="noStrike">
              <a:solidFill>
                <a:srgbClr val="000000"/>
              </a:solidFill>
              <a:latin typeface="Arial"/>
            </a:endParaRPr>
          </a:p>
        </p:txBody>
      </p:sp>
      <p:sp>
        <p:nvSpPr>
          <p:cNvPr id="327"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28"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15</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29"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DEPOLAMA</a:t>
            </a:r>
            <a:endParaRPr b="0" lang="en-US" sz="1200" spc="-1" strike="noStrike">
              <a:solidFill>
                <a:srgbClr val="000000"/>
              </a:solidFill>
              <a:latin typeface="Arial"/>
            </a:endParaRPr>
          </a:p>
        </p:txBody>
      </p:sp>
      <p:sp>
        <p:nvSpPr>
          <p:cNvPr id="330"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Data Lake Storage Gen2</a:t>
            </a:r>
            <a:endParaRPr b="0" lang="en-US" sz="3200" spc="-1" strike="noStrike">
              <a:solidFill>
                <a:srgbClr val="000000"/>
              </a:solidFill>
              <a:latin typeface="Arial"/>
            </a:endParaRPr>
          </a:p>
        </p:txBody>
      </p:sp>
      <p:sp>
        <p:nvSpPr>
          <p:cNvPr id="331"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Blob Storage üzerine hiyerarşik klasör yapısı eklenmiş, büyük veri analitiği için tasarlanmış depolama katmanı.</a:t>
            </a:r>
            <a:endParaRPr b="0" lang="en-US" sz="1600" spc="-1" strike="noStrike">
              <a:solidFill>
                <a:srgbClr val="000000"/>
              </a:solidFill>
              <a:latin typeface="Arial"/>
            </a:endParaRPr>
          </a:p>
        </p:txBody>
      </p:sp>
      <p:sp>
        <p:nvSpPr>
          <p:cNvPr id="332"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3"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34" name="Text 5"/>
          <p:cNvSpPr/>
          <p:nvPr/>
        </p:nvSpPr>
        <p:spPr>
          <a:xfrm>
            <a:off x="113184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Ham, ara ve işlenmiş veriyi tek yerde tutar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Her tür veri: CSV, Parquet, JSON, görsel, log</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Lakehouse mimarisinin zemini</a:t>
            </a:r>
            <a:endParaRPr b="0" lang="en-US" sz="1300" spc="-1" strike="noStrike">
              <a:solidFill>
                <a:srgbClr val="000000"/>
              </a:solidFill>
              <a:latin typeface="Arial"/>
            </a:endParaRPr>
          </a:p>
        </p:txBody>
      </p:sp>
      <p:sp>
        <p:nvSpPr>
          <p:cNvPr id="335"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6"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37" name="Text 8"/>
          <p:cNvSpPr/>
          <p:nvPr/>
        </p:nvSpPr>
        <p:spPr>
          <a:xfrm>
            <a:off x="472176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Hiyerarşik namespace: gerçek klasörler ve dosya izinleri (ACL)</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Spark, Databricks, Synapse ve Fabric doğrudan okur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Fabric OneLake de ADLS Gen2 altyapısı üzerine kurulu</a:t>
            </a:r>
            <a:endParaRPr b="0" lang="en-US" sz="1300" spc="-1" strike="noStrike">
              <a:solidFill>
                <a:srgbClr val="000000"/>
              </a:solidFill>
              <a:latin typeface="Arial"/>
            </a:endParaRPr>
          </a:p>
        </p:txBody>
      </p:sp>
      <p:sp>
        <p:nvSpPr>
          <p:cNvPr id="338"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9"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40" name="Text 11"/>
          <p:cNvSpPr/>
          <p:nvPr/>
        </p:nvSpPr>
        <p:spPr>
          <a:xfrm>
            <a:off x="831168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Tüketim bazlı: GB başına depolama + işlem ücreti</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Erişim katmanları: Hot, Cool, Cold, Archive</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Ensight’ın ana teknolojileri arasında sayılıyor</a:t>
            </a:r>
            <a:endParaRPr b="0" lang="en-US" sz="1300" spc="-1" strike="noStrike">
              <a:solidFill>
                <a:srgbClr val="000000"/>
              </a:solidFill>
              <a:latin typeface="Arial"/>
            </a:endParaRPr>
          </a:p>
        </p:txBody>
      </p:sp>
      <p:sp>
        <p:nvSpPr>
          <p:cNvPr id="341"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42"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16</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4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VERİTABANI</a:t>
            </a:r>
            <a:endParaRPr b="0" lang="en-US" sz="1200" spc="-1" strike="noStrike">
              <a:solidFill>
                <a:srgbClr val="000000"/>
              </a:solidFill>
              <a:latin typeface="Arial"/>
            </a:endParaRPr>
          </a:p>
        </p:txBody>
      </p:sp>
      <p:sp>
        <p:nvSpPr>
          <p:cNvPr id="34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Microsoft SQL Server (MSSQL)</a:t>
            </a:r>
            <a:endParaRPr b="0" lang="en-US" sz="3200" spc="-1" strike="noStrike">
              <a:solidFill>
                <a:srgbClr val="000000"/>
              </a:solidFill>
              <a:latin typeface="Arial"/>
            </a:endParaRPr>
          </a:p>
        </p:txBody>
      </p:sp>
      <p:sp>
        <p:nvSpPr>
          <p:cNvPr id="345"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Microsoft’un ilişkisel veritabanı motoru; kurumların kendi sunucularında veya sanal makinede çalıştırdığı klasik veri ambarı tabanı.</a:t>
            </a:r>
            <a:endParaRPr b="0" lang="en-US" sz="1600" spc="-1" strike="noStrike">
              <a:solidFill>
                <a:srgbClr val="000000"/>
              </a:solidFill>
              <a:latin typeface="Arial"/>
            </a:endParaRPr>
          </a:p>
        </p:txBody>
      </p:sp>
      <p:sp>
        <p:nvSpPr>
          <p:cNvPr id="346"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7"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48" name="Text 5"/>
          <p:cNvSpPr/>
          <p:nvPr/>
        </p:nvSpPr>
        <p:spPr>
          <a:xfrm>
            <a:off x="113184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Operasyonel sistemlerin ve veri ambarlarının veritabanı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T-SQL ile sorgu, stored procedure</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SSIS, SSAS ve SSRS ile tam bir BI yığını</a:t>
            </a:r>
            <a:endParaRPr b="0" lang="en-US" sz="1300" spc="-1" strike="noStrike">
              <a:solidFill>
                <a:srgbClr val="000000"/>
              </a:solidFill>
              <a:latin typeface="Arial"/>
            </a:endParaRPr>
          </a:p>
        </p:txBody>
      </p:sp>
      <p:sp>
        <p:nvSpPr>
          <p:cNvPr id="349"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50"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51" name="Text 8"/>
          <p:cNvSpPr/>
          <p:nvPr/>
        </p:nvSpPr>
        <p:spPr>
          <a:xfrm>
            <a:off x="472176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Sürümler: Enterprise, Standard, Developer (ücretsiz, test için), Express</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Columnstore index ile analitik sorgularda hız</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Always On ile yüksek erişilebilirlik</a:t>
            </a:r>
            <a:endParaRPr b="0" lang="en-US" sz="1300" spc="-1" strike="noStrike">
              <a:solidFill>
                <a:srgbClr val="000000"/>
              </a:solidFill>
              <a:latin typeface="Arial"/>
            </a:endParaRPr>
          </a:p>
        </p:txBody>
      </p:sp>
      <p:sp>
        <p:nvSpPr>
          <p:cNvPr id="352"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3"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54" name="Text 11"/>
          <p:cNvSpPr/>
          <p:nvPr/>
        </p:nvSpPr>
        <p:spPr>
          <a:xfrm>
            <a:off x="831168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Çekirdek bazlı lisans (2’li paketler, en az 4 çekirdek)</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Standard’da Sunucu + CAL seçeneği</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Software Assurance ile ek haklar (ör. Power BI Report Server)</a:t>
            </a:r>
            <a:endParaRPr b="0" lang="en-US" sz="1300" spc="-1" strike="noStrike">
              <a:solidFill>
                <a:srgbClr val="000000"/>
              </a:solidFill>
              <a:latin typeface="Arial"/>
            </a:endParaRPr>
          </a:p>
        </p:txBody>
      </p:sp>
      <p:sp>
        <p:nvSpPr>
          <p:cNvPr id="355"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56"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17</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57"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VERİTABANI</a:t>
            </a:r>
            <a:endParaRPr b="0" lang="en-US" sz="1200" spc="-1" strike="noStrike">
              <a:solidFill>
                <a:srgbClr val="000000"/>
              </a:solidFill>
              <a:latin typeface="Arial"/>
            </a:endParaRPr>
          </a:p>
        </p:txBody>
      </p:sp>
      <p:sp>
        <p:nvSpPr>
          <p:cNvPr id="358"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SQL Database</a:t>
            </a:r>
            <a:endParaRPr b="0" lang="en-US" sz="3200" spc="-1" strike="noStrike">
              <a:solidFill>
                <a:srgbClr val="000000"/>
              </a:solidFill>
              <a:latin typeface="Arial"/>
            </a:endParaRPr>
          </a:p>
        </p:txBody>
      </p:sp>
      <p:sp>
        <p:nvSpPr>
          <p:cNvPr id="359" name="Text 2"/>
          <p:cNvSpPr/>
          <p:nvPr/>
        </p:nvSpPr>
        <p:spPr>
          <a:xfrm>
            <a:off x="812880" y="1828800"/>
            <a:ext cx="9810000" cy="57348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SQL Server motorunun tamamen yönetilen bulut (PaaS) sürümü; yedekleme, yama ve yüksek erişilebilirlik Microsoft’ta.</a:t>
            </a:r>
            <a:endParaRPr b="0" lang="en-US" sz="1600" spc="-1" strike="noStrike">
              <a:solidFill>
                <a:srgbClr val="000000"/>
              </a:solidFill>
              <a:latin typeface="Arial"/>
            </a:endParaRPr>
          </a:p>
        </p:txBody>
      </p:sp>
      <p:sp>
        <p:nvSpPr>
          <p:cNvPr id="360" name="Shape 3"/>
          <p:cNvSpPr/>
          <p:nvPr/>
        </p:nvSpPr>
        <p:spPr>
          <a:xfrm>
            <a:off x="81612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1" name="Text 4"/>
          <p:cNvSpPr/>
          <p:nvPr/>
        </p:nvSpPr>
        <p:spPr>
          <a:xfrm>
            <a:off x="1046520" y="278892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62" name="Text 5"/>
          <p:cNvSpPr/>
          <p:nvPr/>
        </p:nvSpPr>
        <p:spPr>
          <a:xfrm>
            <a:off x="1131840" y="3103920"/>
            <a:ext cx="2913120" cy="94932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Sunucu yönetmeden SQL Server kullanma</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Uygulama veritabanı, küçük-orta ölçekli ambar, metadata deposu</a:t>
            </a:r>
            <a:endParaRPr b="0" lang="en-US" sz="1300" spc="-1" strike="noStrike">
              <a:solidFill>
                <a:srgbClr val="000000"/>
              </a:solidFill>
              <a:latin typeface="Arial"/>
            </a:endParaRPr>
          </a:p>
        </p:txBody>
      </p:sp>
      <p:sp>
        <p:nvSpPr>
          <p:cNvPr id="363" name="Shape 6"/>
          <p:cNvSpPr/>
          <p:nvPr/>
        </p:nvSpPr>
        <p:spPr>
          <a:xfrm>
            <a:off x="4405680" y="2558520"/>
            <a:ext cx="3379680" cy="3279600"/>
          </a:xfrm>
          <a:prstGeom prst="roundRect">
            <a:avLst>
              <a:gd name="adj" fmla="val 2226"/>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4" name="Text 7"/>
          <p:cNvSpPr/>
          <p:nvPr/>
        </p:nvSpPr>
        <p:spPr>
          <a:xfrm>
            <a:off x="463644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65" name="Text 8"/>
          <p:cNvSpPr/>
          <p:nvPr/>
        </p:nvSpPr>
        <p:spPr>
          <a:xfrm>
            <a:off x="4721760" y="310392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Satın alma modelleri: DTU veya vCore</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Serverless: kullanılmadığında otomatik duraklar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Hyperscale: çok büyük veritabanları için</a:t>
            </a:r>
            <a:endParaRPr b="0" lang="en-US" sz="1300" spc="-1" strike="noStrike">
              <a:solidFill>
                <a:srgbClr val="000000"/>
              </a:solidFill>
              <a:latin typeface="Arial"/>
            </a:endParaRPr>
          </a:p>
        </p:txBody>
      </p:sp>
      <p:sp>
        <p:nvSpPr>
          <p:cNvPr id="366" name="Shape 9"/>
          <p:cNvSpPr/>
          <p:nvPr/>
        </p:nvSpPr>
        <p:spPr>
          <a:xfrm>
            <a:off x="7995600" y="2558520"/>
            <a:ext cx="3379680" cy="3279600"/>
          </a:xfrm>
          <a:prstGeom prst="roundRect">
            <a:avLst>
              <a:gd name="adj" fmla="val 2226"/>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7" name="Text 10"/>
          <p:cNvSpPr/>
          <p:nvPr/>
        </p:nvSpPr>
        <p:spPr>
          <a:xfrm>
            <a:off x="8226360" y="278892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68" name="Text 11"/>
          <p:cNvSpPr/>
          <p:nvPr/>
        </p:nvSpPr>
        <p:spPr>
          <a:xfrm>
            <a:off x="8311680" y="310392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Saatlik / aylık tüketim</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Azure Hybrid Benefit: mevcut SQL Server lisansıyla indirim</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On-prem’den buluta geçişte ilk durak</a:t>
            </a:r>
            <a:endParaRPr b="0" lang="en-US" sz="1300" spc="-1" strike="noStrike">
              <a:solidFill>
                <a:srgbClr val="000000"/>
              </a:solidFill>
              <a:latin typeface="Arial"/>
            </a:endParaRPr>
          </a:p>
        </p:txBody>
      </p:sp>
      <p:sp>
        <p:nvSpPr>
          <p:cNvPr id="369"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70"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18</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71"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VERİTABANI</a:t>
            </a:r>
            <a:endParaRPr b="0" lang="en-US" sz="1200" spc="-1" strike="noStrike">
              <a:solidFill>
                <a:srgbClr val="000000"/>
              </a:solidFill>
              <a:latin typeface="Arial"/>
            </a:endParaRPr>
          </a:p>
        </p:txBody>
      </p:sp>
      <p:sp>
        <p:nvSpPr>
          <p:cNvPr id="372"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Database for PostgreSQL</a:t>
            </a:r>
            <a:endParaRPr b="0" lang="en-US" sz="3200" spc="-1" strike="noStrike">
              <a:solidFill>
                <a:srgbClr val="000000"/>
              </a:solidFill>
              <a:latin typeface="Arial"/>
            </a:endParaRPr>
          </a:p>
        </p:txBody>
      </p:sp>
      <p:sp>
        <p:nvSpPr>
          <p:cNvPr id="373"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Açık kaynak PostgreSQL’in Azure’da yönetilen sürümü (Flexible Server).</a:t>
            </a:r>
            <a:endParaRPr b="0" lang="en-US" sz="1600" spc="-1" strike="noStrike">
              <a:solidFill>
                <a:srgbClr val="000000"/>
              </a:solidFill>
              <a:latin typeface="Arial"/>
            </a:endParaRPr>
          </a:p>
        </p:txBody>
      </p:sp>
      <p:sp>
        <p:nvSpPr>
          <p:cNvPr id="374"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5"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76" name="Text 5"/>
          <p:cNvSpPr/>
          <p:nvPr/>
        </p:nvSpPr>
        <p:spPr>
          <a:xfrm>
            <a:off x="113184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Açık kaynak tercih eden kurumlar için ilişkisel veritabanı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Veritabanı motoru için lisans ücreti yok</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Uygulama ve analitik iş yükleri</a:t>
            </a:r>
            <a:endParaRPr b="0" lang="en-US" sz="1300" spc="-1" strike="noStrike">
              <a:solidFill>
                <a:srgbClr val="000000"/>
              </a:solidFill>
              <a:latin typeface="Arial"/>
            </a:endParaRPr>
          </a:p>
        </p:txBody>
      </p:sp>
      <p:sp>
        <p:nvSpPr>
          <p:cNvPr id="377"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8"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79" name="Text 8"/>
          <p:cNvSpPr/>
          <p:nvPr/>
        </p:nvSpPr>
        <p:spPr>
          <a:xfrm>
            <a:off x="472176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Yedekleme, yama ve ölçekleme Azure’da</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Uzantılar: PostGIS (coğrafi veri), pgvector (vektör)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pgvector ile RAG ve yapay zekâ uygulamalarında vektör arama</a:t>
            </a:r>
            <a:endParaRPr b="0" lang="en-US" sz="1300" spc="-1" strike="noStrike">
              <a:solidFill>
                <a:srgbClr val="000000"/>
              </a:solidFill>
              <a:latin typeface="Arial"/>
            </a:endParaRPr>
          </a:p>
        </p:txBody>
      </p:sp>
      <p:sp>
        <p:nvSpPr>
          <p:cNvPr id="380"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1"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82" name="Text 11"/>
          <p:cNvSpPr/>
          <p:nvPr/>
        </p:nvSpPr>
        <p:spPr>
          <a:xfrm>
            <a:off x="831168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PostgreSQL ücretsiz; ödenen Azure altyapısı</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vCore, depolama ve yedek alanına göre ücret</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Burstable, General Purpose, Memory Optimized katmanları</a:t>
            </a:r>
            <a:endParaRPr b="0" lang="en-US" sz="1300" spc="-1" strike="noStrike">
              <a:solidFill>
                <a:srgbClr val="000000"/>
              </a:solidFill>
              <a:latin typeface="Arial"/>
            </a:endParaRPr>
          </a:p>
        </p:txBody>
      </p:sp>
      <p:sp>
        <p:nvSpPr>
          <p:cNvPr id="383"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84"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19</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85"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MODELLEME</a:t>
            </a:r>
            <a:endParaRPr b="0" lang="en-US" sz="1200" spc="-1" strike="noStrike">
              <a:solidFill>
                <a:srgbClr val="000000"/>
              </a:solidFill>
              <a:latin typeface="Arial"/>
            </a:endParaRPr>
          </a:p>
        </p:txBody>
      </p:sp>
      <p:sp>
        <p:nvSpPr>
          <p:cNvPr id="386"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Analysis Services (SSAS / Azure AS)</a:t>
            </a:r>
            <a:endParaRPr b="0" lang="en-US" sz="3200" spc="-1" strike="noStrike">
              <a:solidFill>
                <a:srgbClr val="000000"/>
              </a:solidFill>
              <a:latin typeface="Arial"/>
            </a:endParaRPr>
          </a:p>
        </p:txBody>
      </p:sp>
      <p:sp>
        <p:nvSpPr>
          <p:cNvPr id="387" name="Text 2"/>
          <p:cNvSpPr/>
          <p:nvPr/>
        </p:nvSpPr>
        <p:spPr>
          <a:xfrm>
            <a:off x="812880" y="1828800"/>
            <a:ext cx="1137852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Ham veriyi iş kullanıcısının anlayacağı ölçü ve hiyerarşilere dönüştüren anlamsal model (OLAP) motoru.</a:t>
            </a:r>
            <a:endParaRPr b="0" lang="en-US" sz="1600" spc="-1" strike="noStrike">
              <a:solidFill>
                <a:srgbClr val="000000"/>
              </a:solidFill>
              <a:latin typeface="Arial"/>
            </a:endParaRPr>
          </a:p>
        </p:txBody>
      </p:sp>
      <p:sp>
        <p:nvSpPr>
          <p:cNvPr id="388"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9"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390" name="Text 5"/>
          <p:cNvSpPr/>
          <p:nvPr/>
        </p:nvSpPr>
        <p:spPr>
          <a:xfrm>
            <a:off x="113184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Ciro, kârlılık gibi KPI’ları tek yerde, tek tanımla tutar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Milyonlarca satırda hızlı toplama sorguları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Excel ve Power BI’dan aynı modele bağlanma</a:t>
            </a:r>
            <a:endParaRPr b="0" lang="en-US" sz="1300" spc="-1" strike="noStrike">
              <a:solidFill>
                <a:srgbClr val="000000"/>
              </a:solidFill>
              <a:latin typeface="Arial"/>
            </a:endParaRPr>
          </a:p>
        </p:txBody>
      </p:sp>
      <p:sp>
        <p:nvSpPr>
          <p:cNvPr id="391"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2"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393" name="Text 8"/>
          <p:cNvSpPr/>
          <p:nvPr/>
        </p:nvSpPr>
        <p:spPr>
          <a:xfrm>
            <a:off x="472176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Tabular: bellek içi (VertiPaq), DAX ile; Power BI ile aynı motor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Multidimensional: klasik küp yapısı, MDX ile</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Azure AS: Tabular modelin bulut sürümü</a:t>
            </a:r>
            <a:endParaRPr b="0" lang="en-US" sz="1300" spc="-1" strike="noStrike">
              <a:solidFill>
                <a:srgbClr val="000000"/>
              </a:solidFill>
              <a:latin typeface="Arial"/>
            </a:endParaRPr>
          </a:p>
        </p:txBody>
      </p:sp>
      <p:sp>
        <p:nvSpPr>
          <p:cNvPr id="394"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5"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396" name="Text 11"/>
          <p:cNvSpPr/>
          <p:nvPr/>
        </p:nvSpPr>
        <p:spPr>
          <a:xfrm>
            <a:off x="831168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SSAS: SQL Server lisansına dahil</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Azure AS: katman bazlı saatlik ücret</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Microsoft yeni projelerde Power BI / Fabric anlamsal modeline geçişi öneriyor</a:t>
            </a:r>
            <a:endParaRPr b="0" lang="en-US" sz="1300" spc="-1" strike="noStrike">
              <a:solidFill>
                <a:srgbClr val="000000"/>
              </a:solidFill>
              <a:latin typeface="Arial"/>
            </a:endParaRPr>
          </a:p>
        </p:txBody>
      </p:sp>
      <p:sp>
        <p:nvSpPr>
          <p:cNvPr id="397"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398"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20</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399"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RAPORLAMA · POWER BI 1/2</a:t>
            </a:r>
            <a:endParaRPr b="0" lang="en-US" sz="1200" spc="-1" strike="noStrike">
              <a:solidFill>
                <a:srgbClr val="000000"/>
              </a:solidFill>
              <a:latin typeface="Arial"/>
            </a:endParaRPr>
          </a:p>
        </p:txBody>
      </p:sp>
      <p:sp>
        <p:nvSpPr>
          <p:cNvPr id="400"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Power BI</a:t>
            </a:r>
            <a:endParaRPr b="0" lang="en-US" sz="3200" spc="-1" strike="noStrike">
              <a:solidFill>
                <a:srgbClr val="000000"/>
              </a:solidFill>
              <a:latin typeface="Arial"/>
            </a:endParaRPr>
          </a:p>
        </p:txBody>
      </p:sp>
      <p:sp>
        <p:nvSpPr>
          <p:cNvPr id="401"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Microsoft’un iş zekâsı ve görselleştirme aracı; verinin son kullanıcıya ulaştığı katman.</a:t>
            </a:r>
            <a:endParaRPr b="0" lang="en-US" sz="1600" spc="-1" strike="noStrike">
              <a:solidFill>
                <a:srgbClr val="000000"/>
              </a:solidFill>
              <a:latin typeface="Arial"/>
            </a:endParaRPr>
          </a:p>
        </p:txBody>
      </p:sp>
      <p:sp>
        <p:nvSpPr>
          <p:cNvPr id="402"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3"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04" name="Text 5"/>
          <p:cNvSpPr/>
          <p:nvPr/>
        </p:nvSpPr>
        <p:spPr>
          <a:xfrm>
            <a:off x="113184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Etkileşimli dashboard ve raporlar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Self-servis analitik: iş birimi kendi raporunu üretir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Satır bazlı güvenlik (RLS): herkes kendi verisini görür</a:t>
            </a:r>
            <a:endParaRPr b="0" lang="en-US" sz="1300" spc="-1" strike="noStrike">
              <a:solidFill>
                <a:srgbClr val="000000"/>
              </a:solidFill>
              <a:latin typeface="Arial"/>
            </a:endParaRPr>
          </a:p>
        </p:txBody>
      </p:sp>
      <p:sp>
        <p:nvSpPr>
          <p:cNvPr id="405"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6"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07" name="Text 8"/>
          <p:cNvSpPr/>
          <p:nvPr/>
        </p:nvSpPr>
        <p:spPr>
          <a:xfrm>
            <a:off x="472176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Power BI Desktop: model ve rapor tasarımı (ücretsiz)</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Power Query (M): veri hazırlama</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DAX: ölçü ve KPI hesapları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Power BI Service: yayınlama ve paylaşım</a:t>
            </a:r>
            <a:endParaRPr b="0" lang="en-US" sz="1300" spc="-1" strike="noStrike">
              <a:solidFill>
                <a:srgbClr val="000000"/>
              </a:solidFill>
              <a:latin typeface="Arial"/>
            </a:endParaRPr>
          </a:p>
        </p:txBody>
      </p:sp>
      <p:sp>
        <p:nvSpPr>
          <p:cNvPr id="408"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9"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Ensight’ta</a:t>
            </a:r>
            <a:endParaRPr b="0" lang="en-US" sz="1400" spc="-1" strike="noStrike">
              <a:solidFill>
                <a:srgbClr val="000000"/>
              </a:solidFill>
              <a:latin typeface="Arial"/>
            </a:endParaRPr>
          </a:p>
        </p:txBody>
      </p:sp>
      <p:sp>
        <p:nvSpPr>
          <p:cNvPr id="410" name="Text 11"/>
          <p:cNvSpPr/>
          <p:nvPr/>
        </p:nvSpPr>
        <p:spPr>
          <a:xfrm>
            <a:off x="8311680" y="2829600"/>
            <a:ext cx="2913120" cy="164268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Müşteriye özel rapor ve dashboard geliştirme</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Satış, pazarlama ve İK ekipleri için özel paneller</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Hazır sektörel paketler (ör. Bankacılık Rekabet Analizi) dashboard olarak sunuluyor</a:t>
            </a:r>
            <a:endParaRPr b="0" lang="en-US" sz="1300" spc="-1" strike="noStrike">
              <a:solidFill>
                <a:srgbClr val="000000"/>
              </a:solidFill>
              <a:latin typeface="Arial"/>
            </a:endParaRPr>
          </a:p>
        </p:txBody>
      </p:sp>
      <p:sp>
        <p:nvSpPr>
          <p:cNvPr id="411"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12"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21</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13"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RAPORLAMA · POWER BI 2/2</a:t>
            </a:r>
            <a:endParaRPr b="0" lang="en-US" sz="1200" spc="-1" strike="noStrike">
              <a:solidFill>
                <a:srgbClr val="000000"/>
              </a:solidFill>
              <a:latin typeface="Arial"/>
            </a:endParaRPr>
          </a:p>
        </p:txBody>
      </p:sp>
      <p:sp>
        <p:nvSpPr>
          <p:cNvPr id="414"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Power BI lisans seçenekleri</a:t>
            </a:r>
            <a:endParaRPr b="0" lang="en-US" sz="3200" spc="-1" strike="noStrike">
              <a:solidFill>
                <a:srgbClr val="000000"/>
              </a:solidFill>
              <a:latin typeface="Arial"/>
            </a:endParaRPr>
          </a:p>
        </p:txBody>
      </p:sp>
      <p:sp>
        <p:nvSpPr>
          <p:cNvPr id="415" name="Text 2"/>
          <p:cNvSpPr/>
          <p:nvPr/>
        </p:nvSpPr>
        <p:spPr>
          <a:xfrm>
            <a:off x="812880" y="1828800"/>
            <a:ext cx="1137852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Ensight, Power BI Pro ve Embedded lisanslarını doğrudan satıyor. Doğru seçim kullanıcı sayısına bağlı.</a:t>
            </a:r>
            <a:endParaRPr b="0" lang="en-US" sz="1600" spc="-1" strike="noStrike">
              <a:solidFill>
                <a:srgbClr val="000000"/>
              </a:solidFill>
              <a:latin typeface="Arial"/>
            </a:endParaRPr>
          </a:p>
        </p:txBody>
      </p:sp>
      <p:graphicFrame>
        <p:nvGraphicFramePr>
          <p:cNvPr id="416" name="Table 0"/>
          <p:cNvGraphicFramePr/>
          <p:nvPr/>
        </p:nvGraphicFramePr>
        <p:xfrm>
          <a:off x="822960" y="2291040"/>
          <a:ext cx="10555200" cy="2833920"/>
        </p:xfrm>
        <a:graphic>
          <a:graphicData uri="http://schemas.openxmlformats.org/drawingml/2006/table">
            <a:tbl>
              <a:tblPr/>
              <a:tblGrid>
                <a:gridCol w="2533320"/>
                <a:gridCol w="3588840"/>
                <a:gridCol w="4433400"/>
              </a:tblGrid>
              <a:tr h="472320">
                <a:tc>
                  <a:txBody>
                    <a:bodyPr lIns="126720" rIns="126720" anchor="t">
                      <a:noAutofit/>
                    </a:bodyPr>
                    <a:p>
                      <a:pPr defTabSz="914400">
                        <a:lnSpc>
                          <a:spcPts val="2239"/>
                        </a:lnSpc>
                        <a:tabLst>
                          <a:tab algn="l" pos="0"/>
                        </a:tabLst>
                      </a:pPr>
                      <a:r>
                        <a:rPr b="1" lang="en-US" sz="1600" spc="-1" strike="noStrike">
                          <a:solidFill>
                            <a:srgbClr val="0b5cad"/>
                          </a:solidFill>
                          <a:latin typeface="IBM Plex Sans"/>
                          <a:ea typeface="IBM Plex Sans"/>
                        </a:rPr>
                        <a:t>Lisans</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b5b6b8"/>
                      </a:solidFill>
                      <a:prstDash val="solid"/>
                    </a:lnR>
                    <a:lnT w="12240">
                      <a:solidFill>
                        <a:srgbClr val="c3c4c6"/>
                      </a:solidFill>
                      <a:prstDash val="solid"/>
                    </a:lnT>
                    <a:lnB w="12240">
                      <a:solidFill>
                        <a:srgbClr val="b5b6b8"/>
                      </a:solidFill>
                      <a:prstDash val="solid"/>
                    </a:lnB>
                    <a:solidFill>
                      <a:srgbClr val="e2e4e7"/>
                    </a:solidFill>
                  </a:tcPr>
                </a:tc>
                <a:tc>
                  <a:txBody>
                    <a:bodyPr lIns="126720" rIns="126720" anchor="t">
                      <a:noAutofit/>
                    </a:bodyPr>
                    <a:p>
                      <a:pPr defTabSz="914400">
                        <a:lnSpc>
                          <a:spcPts val="2239"/>
                        </a:lnSpc>
                        <a:tabLst>
                          <a:tab algn="l" pos="0"/>
                        </a:tabLst>
                      </a:pPr>
                      <a:r>
                        <a:rPr b="1" lang="en-US" sz="1600" spc="-1" strike="noStrike">
                          <a:solidFill>
                            <a:srgbClr val="0b5cad"/>
                          </a:solidFill>
                          <a:latin typeface="IBM Plex Sans"/>
                          <a:ea typeface="IBM Plex Sans"/>
                        </a:rPr>
                        <a:t>Liste fiyatı</a:t>
                      </a:r>
                      <a:endParaRPr b="0" lang="en-US" sz="1600" spc="-1" strike="noStrike">
                        <a:solidFill>
                          <a:srgbClr val="000000"/>
                        </a:solidFill>
                        <a:latin typeface="Arial"/>
                      </a:endParaRPr>
                    </a:p>
                  </a:txBody>
                  <a:tcPr anchor="t" marL="126720" marR="126720">
                    <a:lnL w="12240">
                      <a:solidFill>
                        <a:srgbClr val="b5b6b8"/>
                      </a:solidFill>
                      <a:prstDash val="solid"/>
                    </a:lnL>
                    <a:lnR w="12240">
                      <a:solidFill>
                        <a:srgbClr val="b5b6b8"/>
                      </a:solidFill>
                      <a:prstDash val="solid"/>
                    </a:lnR>
                    <a:lnT w="12240">
                      <a:solidFill>
                        <a:srgbClr val="c3c4c6"/>
                      </a:solidFill>
                      <a:prstDash val="solid"/>
                    </a:lnT>
                    <a:lnB w="12240">
                      <a:solidFill>
                        <a:srgbClr val="b5b6b8"/>
                      </a:solidFill>
                      <a:prstDash val="solid"/>
                    </a:lnB>
                    <a:solidFill>
                      <a:srgbClr val="e2e4e7"/>
                    </a:solidFill>
                  </a:tcPr>
                </a:tc>
                <a:tc>
                  <a:txBody>
                    <a:bodyPr lIns="126720" rIns="126720" anchor="t">
                      <a:noAutofit/>
                    </a:bodyPr>
                    <a:p>
                      <a:pPr defTabSz="914400">
                        <a:lnSpc>
                          <a:spcPts val="2239"/>
                        </a:lnSpc>
                        <a:tabLst>
                          <a:tab algn="l" pos="0"/>
                        </a:tabLst>
                      </a:pPr>
                      <a:r>
                        <a:rPr b="1" lang="en-US" sz="1600" spc="-1" strike="noStrike">
                          <a:solidFill>
                            <a:srgbClr val="0b5cad"/>
                          </a:solidFill>
                          <a:latin typeface="IBM Plex Sans"/>
                          <a:ea typeface="IBM Plex Sans"/>
                        </a:rPr>
                        <a:t>Kim için?</a:t>
                      </a:r>
                      <a:endParaRPr b="0" lang="en-US" sz="1600" spc="-1" strike="noStrike">
                        <a:solidFill>
                          <a:srgbClr val="000000"/>
                        </a:solidFill>
                        <a:latin typeface="Arial"/>
                      </a:endParaRPr>
                    </a:p>
                  </a:txBody>
                  <a:tcPr anchor="t" marL="126720" marR="126720">
                    <a:lnL w="12240">
                      <a:solidFill>
                        <a:srgbClr val="b5b6b8"/>
                      </a:solidFill>
                      <a:prstDash val="solid"/>
                    </a:lnL>
                    <a:lnR w="12240">
                      <a:solidFill>
                        <a:srgbClr val="b5b6b8"/>
                      </a:solidFill>
                      <a:prstDash val="solid"/>
                    </a:lnR>
                    <a:lnT w="12240">
                      <a:solidFill>
                        <a:srgbClr val="c3c4c6"/>
                      </a:solidFill>
                      <a:prstDash val="solid"/>
                    </a:lnT>
                    <a:lnB w="12240">
                      <a:solidFill>
                        <a:srgbClr val="b5b6b8"/>
                      </a:solidFill>
                      <a:prstDash val="solid"/>
                    </a:lnB>
                    <a:solidFill>
                      <a:srgbClr val="e2e4e7"/>
                    </a:solidFill>
                  </a:tcPr>
                </a:tc>
              </a:tr>
              <a:tr h="472320">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Free</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b5b6b8"/>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Ücretsiz</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b5b6b8"/>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Kişisel kullanım; paylaşım yok</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b5b6b8"/>
                      </a:solidFill>
                      <a:prstDash val="solid"/>
                    </a:lnT>
                    <a:lnB w="12240">
                      <a:solidFill>
                        <a:srgbClr val="c3c4c6"/>
                      </a:solidFill>
                      <a:prstDash val="solid"/>
                    </a:lnB>
                    <a:noFill/>
                  </a:tcPr>
                </a:tc>
              </a:tr>
              <a:tr h="472320">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Pro</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$14 / kullanıcı / ay</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Rapor yayınlama ve paylaşma</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r>
              <a:tr h="472320">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Premium Per User</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$24 / kullanıcı / ay</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Büyük model, sık yenileme, gelişmiş özellikler</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r>
              <a:tr h="472320">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Fabric F-SKU</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F64 ≈ $5.003 / ay (1 yıl rezerve)</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Geniş kitle; F64+ izleyiciler ücretsiz</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r>
              <a:tr h="472320">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Embedded</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Saatlik kapasite</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c>
                  <a:txBody>
                    <a:bodyPr lIns="126720" rIns="126720" anchor="t">
                      <a:noAutofit/>
                    </a:bodyPr>
                    <a:p>
                      <a:pPr defTabSz="914400">
                        <a:lnSpc>
                          <a:spcPts val="2239"/>
                        </a:lnSpc>
                        <a:tabLst>
                          <a:tab algn="l" pos="0"/>
                        </a:tabLst>
                      </a:pPr>
                      <a:r>
                        <a:rPr b="0" lang="en-US" sz="1600" spc="-1" strike="noStrike">
                          <a:solidFill>
                            <a:srgbClr val="0e1e33"/>
                          </a:solidFill>
                          <a:latin typeface="IBM Plex Sans"/>
                          <a:ea typeface="IBM Plex Sans"/>
                        </a:rPr>
                        <a:t>Raporu kendi uygulamasına gömen firmalar</a:t>
                      </a:r>
                      <a:endParaRPr b="0" lang="en-US" sz="1600" spc="-1" strike="noStrike">
                        <a:solidFill>
                          <a:srgbClr val="000000"/>
                        </a:solidFill>
                        <a:latin typeface="Arial"/>
                      </a:endParaRPr>
                    </a:p>
                  </a:txBody>
                  <a:tcPr anchor="t" marL="126720" marR="126720">
                    <a:lnL w="12240">
                      <a:solidFill>
                        <a:srgbClr val="c3c4c6"/>
                      </a:solidFill>
                      <a:prstDash val="solid"/>
                    </a:lnL>
                    <a:lnR w="12240">
                      <a:solidFill>
                        <a:srgbClr val="c3c4c6"/>
                      </a:solidFill>
                      <a:prstDash val="solid"/>
                    </a:lnR>
                    <a:lnT w="12240">
                      <a:solidFill>
                        <a:srgbClr val="c3c4c6"/>
                      </a:solidFill>
                      <a:prstDash val="solid"/>
                    </a:lnT>
                    <a:lnB w="12240">
                      <a:solidFill>
                        <a:srgbClr val="c3c4c6"/>
                      </a:solidFill>
                      <a:prstDash val="solid"/>
                    </a:lnB>
                    <a:noFill/>
                  </a:tcPr>
                </a:tc>
              </a:tr>
            </a:tbl>
          </a:graphicData>
        </a:graphic>
      </p:graphicFrame>
      <p:sp>
        <p:nvSpPr>
          <p:cNvPr id="417" name="Text 3"/>
          <p:cNvSpPr/>
          <p:nvPr/>
        </p:nvSpPr>
        <p:spPr>
          <a:xfrm>
            <a:off x="812880" y="5303520"/>
            <a:ext cx="10882800" cy="25596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5b6670"/>
                </a:solidFill>
                <a:latin typeface="IBM Plex Sans"/>
                <a:ea typeface="IBM Plex Sans"/>
              </a:rPr>
              <a:t>F64 altındaki kapasitelerde raporu görüntüleyen herkesin de Pro lisansı olmalı.</a:t>
            </a:r>
            <a:endParaRPr b="0" lang="en-US" sz="1300" spc="-1" strike="noStrike">
              <a:solidFill>
                <a:srgbClr val="000000"/>
              </a:solidFill>
              <a:latin typeface="Arial"/>
            </a:endParaRPr>
          </a:p>
        </p:txBody>
      </p:sp>
      <p:sp>
        <p:nvSpPr>
          <p:cNvPr id="418" name="Text 4"/>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19" name="Text 5"/>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22</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20"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RAPORLAMA</a:t>
            </a:r>
            <a:endParaRPr b="0" lang="en-US" sz="1200" spc="-1" strike="noStrike">
              <a:solidFill>
                <a:srgbClr val="000000"/>
              </a:solidFill>
              <a:latin typeface="Arial"/>
            </a:endParaRPr>
          </a:p>
        </p:txBody>
      </p:sp>
      <p:sp>
        <p:nvSpPr>
          <p:cNvPr id="421"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Power BI Report Server</a:t>
            </a:r>
            <a:endParaRPr b="0" lang="en-US" sz="3200" spc="-1" strike="noStrike">
              <a:solidFill>
                <a:srgbClr val="000000"/>
              </a:solidFill>
              <a:latin typeface="Arial"/>
            </a:endParaRPr>
          </a:p>
        </p:txBody>
      </p:sp>
      <p:sp>
        <p:nvSpPr>
          <p:cNvPr id="422"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Power BI raporlarını kurumun kendi sunucusunda (on-prem) yayınlamayı sağlayan rapor portalı.</a:t>
            </a:r>
            <a:endParaRPr b="0" lang="en-US" sz="1600" spc="-1" strike="noStrike">
              <a:solidFill>
                <a:srgbClr val="000000"/>
              </a:solidFill>
              <a:latin typeface="Arial"/>
            </a:endParaRPr>
          </a:p>
        </p:txBody>
      </p:sp>
      <p:sp>
        <p:nvSpPr>
          <p:cNvPr id="423"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4"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25" name="Text 5"/>
          <p:cNvSpPr/>
          <p:nvPr/>
        </p:nvSpPr>
        <p:spPr>
          <a:xfrm>
            <a:off x="113184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Veriyi buluta çıkaramayan kurumlar için Power BI</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Regülasyon ve veri yerelliği gereken sektörler: bankacılık, kamu</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Power BI ve paginated raporlar tek portalda</a:t>
            </a:r>
            <a:endParaRPr b="0" lang="en-US" sz="1300" spc="-1" strike="noStrike">
              <a:solidFill>
                <a:srgbClr val="000000"/>
              </a:solidFill>
              <a:latin typeface="Arial"/>
            </a:endParaRPr>
          </a:p>
        </p:txBody>
      </p:sp>
      <p:sp>
        <p:nvSpPr>
          <p:cNvPr id="426"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7"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28" name="Text 8"/>
          <p:cNvSpPr/>
          <p:nvPr/>
        </p:nvSpPr>
        <p:spPr>
          <a:xfrm>
            <a:off x="472176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Raporlar Report Server’a özel Power BI Desktop sürümüyle hazırlanır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Yılda birkaç kez güncellenir; bulut sürümündeki bazı özellikler yok</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SSRS altyapısını temel alır</a:t>
            </a:r>
            <a:endParaRPr b="0" lang="en-US" sz="1300" spc="-1" strike="noStrike">
              <a:solidFill>
                <a:srgbClr val="000000"/>
              </a:solidFill>
              <a:latin typeface="Arial"/>
            </a:endParaRPr>
          </a:p>
        </p:txBody>
      </p:sp>
      <p:sp>
        <p:nvSpPr>
          <p:cNvPr id="429"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0"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431" name="Text 11"/>
          <p:cNvSpPr/>
          <p:nvPr/>
        </p:nvSpPr>
        <p:spPr>
          <a:xfrm>
            <a:off x="831168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Ayrı satılmaz; iki yoldan hak kazanılır:</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SQL Server Enterprise + Software Assurance</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veya Fabric F64+ / Premium rezerve kapasite</a:t>
            </a:r>
            <a:endParaRPr b="0" lang="en-US" sz="1300" spc="-1" strike="noStrike">
              <a:solidFill>
                <a:srgbClr val="000000"/>
              </a:solidFill>
              <a:latin typeface="Arial"/>
            </a:endParaRPr>
          </a:p>
        </p:txBody>
      </p:sp>
      <p:sp>
        <p:nvSpPr>
          <p:cNvPr id="432"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33"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23</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34"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RAPORLAMA</a:t>
            </a:r>
            <a:endParaRPr b="0" lang="en-US" sz="1200" spc="-1" strike="noStrike">
              <a:solidFill>
                <a:srgbClr val="000000"/>
              </a:solidFill>
              <a:latin typeface="Arial"/>
            </a:endParaRPr>
          </a:p>
        </p:txBody>
      </p:sp>
      <p:sp>
        <p:nvSpPr>
          <p:cNvPr id="435"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SQL Server Reporting Services (SSRS)</a:t>
            </a:r>
            <a:endParaRPr b="0" lang="en-US" sz="3200" spc="-1" strike="noStrike">
              <a:solidFill>
                <a:srgbClr val="000000"/>
              </a:solidFill>
              <a:latin typeface="Arial"/>
            </a:endParaRPr>
          </a:p>
        </p:txBody>
      </p:sp>
      <p:sp>
        <p:nvSpPr>
          <p:cNvPr id="436"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Sayfa düzeni sabit, yazdırılabilir ‘paginated’ raporlar üreten on-prem raporlama servisi.</a:t>
            </a:r>
            <a:endParaRPr b="0" lang="en-US" sz="1600" spc="-1" strike="noStrike">
              <a:solidFill>
                <a:srgbClr val="000000"/>
              </a:solidFill>
              <a:latin typeface="Arial"/>
            </a:endParaRPr>
          </a:p>
        </p:txBody>
      </p:sp>
      <p:sp>
        <p:nvSpPr>
          <p:cNvPr id="437"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38"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39" name="Text 5"/>
          <p:cNvSpPr/>
          <p:nvPr/>
        </p:nvSpPr>
        <p:spPr>
          <a:xfrm>
            <a:off x="113184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Hesap ekstresi, fatura, resmî / regülatif rapor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PDF, Excel ve Word çıktısı</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Abonelik ile zamanlanmış e-posta dağıtımı</a:t>
            </a:r>
            <a:endParaRPr b="0" lang="en-US" sz="1300" spc="-1" strike="noStrike">
              <a:solidFill>
                <a:srgbClr val="000000"/>
              </a:solidFill>
              <a:latin typeface="Arial"/>
            </a:endParaRPr>
          </a:p>
        </p:txBody>
      </p:sp>
      <p:sp>
        <p:nvSpPr>
          <p:cNvPr id="440"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41"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42" name="Text 8"/>
          <p:cNvSpPr/>
          <p:nvPr/>
        </p:nvSpPr>
        <p:spPr>
          <a:xfrm>
            <a:off x="472176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Raporlar Report Builder veya Visual Studio ile (.rdl)</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Web portal üzerinden yayın</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Power BI’daki paginated raporlar aynı teknolojiye dayanır</a:t>
            </a:r>
            <a:endParaRPr b="0" lang="en-US" sz="1300" spc="-1" strike="noStrike">
              <a:solidFill>
                <a:srgbClr val="000000"/>
              </a:solidFill>
              <a:latin typeface="Arial"/>
            </a:endParaRPr>
          </a:p>
        </p:txBody>
      </p:sp>
      <p:sp>
        <p:nvSpPr>
          <p:cNvPr id="443"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4"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445" name="Text 11"/>
          <p:cNvSpPr/>
          <p:nvPr/>
        </p:nvSpPr>
        <p:spPr>
          <a:xfrm>
            <a:off x="8311680" y="2829600"/>
            <a:ext cx="2913120" cy="94932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SQL Server lisansına dahil</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SQL Server 2025 ile Microsoft on-prem raporlamayı Power BI Report Server altında birleştirdi</a:t>
            </a:r>
            <a:endParaRPr b="0" lang="en-US" sz="1300" spc="-1" strike="noStrike">
              <a:solidFill>
                <a:srgbClr val="000000"/>
              </a:solidFill>
              <a:latin typeface="Arial"/>
            </a:endParaRPr>
          </a:p>
        </p:txBody>
      </p:sp>
      <p:sp>
        <p:nvSpPr>
          <p:cNvPr id="446"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47"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24</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48"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YAPAY ZEKÂ</a:t>
            </a:r>
            <a:endParaRPr b="0" lang="en-US" sz="1200" spc="-1" strike="noStrike">
              <a:solidFill>
                <a:srgbClr val="000000"/>
              </a:solidFill>
              <a:latin typeface="Arial"/>
            </a:endParaRPr>
          </a:p>
        </p:txBody>
      </p:sp>
      <p:sp>
        <p:nvSpPr>
          <p:cNvPr id="449"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Machine Learning</a:t>
            </a:r>
            <a:endParaRPr b="0" lang="en-US" sz="3200" spc="-1" strike="noStrike">
              <a:solidFill>
                <a:srgbClr val="000000"/>
              </a:solidFill>
              <a:latin typeface="Arial"/>
            </a:endParaRPr>
          </a:p>
        </p:txBody>
      </p:sp>
      <p:sp>
        <p:nvSpPr>
          <p:cNvPr id="450"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Makine öğrenmesi modellerini geliştirme, eğitme, yayına alma ve izleme (MLOps) için bulut platformu.</a:t>
            </a:r>
            <a:endParaRPr b="0" lang="en-US" sz="1600" spc="-1" strike="noStrike">
              <a:solidFill>
                <a:srgbClr val="000000"/>
              </a:solidFill>
              <a:latin typeface="Arial"/>
            </a:endParaRPr>
          </a:p>
        </p:txBody>
      </p:sp>
      <p:sp>
        <p:nvSpPr>
          <p:cNvPr id="451"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2"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53" name="Text 5"/>
          <p:cNvSpPr/>
          <p:nvPr/>
        </p:nvSpPr>
        <p:spPr>
          <a:xfrm>
            <a:off x="113184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Talep ve satış tahmini, fiyat optimizasyonu, müşteri kaybı tahmini</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Modelin üretimde izlenmesi ve yeniden eğitilmesi</a:t>
            </a:r>
            <a:endParaRPr b="0" lang="en-US" sz="1300" spc="-1" strike="noStrike">
              <a:solidFill>
                <a:srgbClr val="000000"/>
              </a:solidFill>
              <a:latin typeface="Arial"/>
            </a:endParaRPr>
          </a:p>
        </p:txBody>
      </p:sp>
      <p:sp>
        <p:nvSpPr>
          <p:cNvPr id="454"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5"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56" name="Text 8"/>
          <p:cNvSpPr/>
          <p:nvPr/>
        </p:nvSpPr>
        <p:spPr>
          <a:xfrm>
            <a:off x="4721760" y="2829600"/>
            <a:ext cx="2913120" cy="164268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AutoML: en iyi modeli otomatik dener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Designer (sürükle-bırak) veya Python SDK</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MLflow ile deney takibi</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Managed endpoint: modeli API olarak sunma</a:t>
            </a:r>
            <a:endParaRPr b="0" lang="en-US" sz="1300" spc="-1" strike="noStrike">
              <a:solidFill>
                <a:srgbClr val="000000"/>
              </a:solidFill>
              <a:latin typeface="Arial"/>
            </a:endParaRPr>
          </a:p>
        </p:txBody>
      </p:sp>
      <p:sp>
        <p:nvSpPr>
          <p:cNvPr id="457"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8"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459" name="Text 11"/>
          <p:cNvSpPr/>
          <p:nvPr/>
        </p:nvSpPr>
        <p:spPr>
          <a:xfrm>
            <a:off x="831168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Platform ücretsiz; eğitim ve sunum için kullanılan işlem gücü ödenir</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Ensight, altyapısıyla tahminleme, fiyatlama ve öneri sistemleri geliştirildiğini belirtiyor</a:t>
            </a:r>
            <a:endParaRPr b="0" lang="en-US" sz="1300" spc="-1" strike="noStrike">
              <a:solidFill>
                <a:srgbClr val="000000"/>
              </a:solidFill>
              <a:latin typeface="Arial"/>
            </a:endParaRPr>
          </a:p>
        </p:txBody>
      </p:sp>
      <p:sp>
        <p:nvSpPr>
          <p:cNvPr id="460"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61"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25</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62"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YAPAY ZEKÂ</a:t>
            </a:r>
            <a:endParaRPr b="0" lang="en-US" sz="1200" spc="-1" strike="noStrike">
              <a:solidFill>
                <a:srgbClr val="000000"/>
              </a:solidFill>
              <a:latin typeface="Arial"/>
            </a:endParaRPr>
          </a:p>
        </p:txBody>
      </p:sp>
      <p:sp>
        <p:nvSpPr>
          <p:cNvPr id="463"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Azure AI Services</a:t>
            </a:r>
            <a:endParaRPr b="0" lang="en-US" sz="3200" spc="-1" strike="noStrike">
              <a:solidFill>
                <a:srgbClr val="000000"/>
              </a:solidFill>
              <a:latin typeface="Arial"/>
            </a:endParaRPr>
          </a:p>
        </p:txBody>
      </p:sp>
      <p:sp>
        <p:nvSpPr>
          <p:cNvPr id="464"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Model eğitmeden kullanılabilen hazır yapay zekâ API’leri; Microsoft Foundry ile birlikte sunuluyor.</a:t>
            </a:r>
            <a:endParaRPr b="0" lang="en-US" sz="1600" spc="-1" strike="noStrike">
              <a:solidFill>
                <a:srgbClr val="000000"/>
              </a:solidFill>
              <a:latin typeface="Arial"/>
            </a:endParaRPr>
          </a:p>
        </p:txBody>
      </p:sp>
      <p:sp>
        <p:nvSpPr>
          <p:cNvPr id="465"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66"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67" name="Text 5"/>
          <p:cNvSpPr/>
          <p:nvPr/>
        </p:nvSpPr>
        <p:spPr>
          <a:xfrm>
            <a:off x="1131840" y="2829600"/>
            <a:ext cx="2913120" cy="118044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Belgeden veri çıkarma: form, fatura, poliçe</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Metin analizi: duygu, anahtar kelime, sınıflandırma</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Konuşmayı metne çevirme, çeviri</a:t>
            </a:r>
            <a:endParaRPr b="0" lang="en-US" sz="1300" spc="-1" strike="noStrike">
              <a:solidFill>
                <a:srgbClr val="000000"/>
              </a:solidFill>
              <a:latin typeface="Arial"/>
            </a:endParaRPr>
          </a:p>
        </p:txBody>
      </p:sp>
      <p:sp>
        <p:nvSpPr>
          <p:cNvPr id="468"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69"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70" name="Text 8"/>
          <p:cNvSpPr/>
          <p:nvPr/>
        </p:nvSpPr>
        <p:spPr>
          <a:xfrm>
            <a:off x="4721760" y="2829600"/>
            <a:ext cx="2913120" cy="164268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Document Intelligence, Language, Speech, Vision, Translator, Content Safety</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REST API veya SDK ile uygulamaya eklenir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Azure OpenAI modelleri de aynı çatı altında</a:t>
            </a:r>
            <a:endParaRPr b="0" lang="en-US" sz="1300" spc="-1" strike="noStrike">
              <a:solidFill>
                <a:srgbClr val="000000"/>
              </a:solidFill>
              <a:latin typeface="Arial"/>
            </a:endParaRPr>
          </a:p>
        </p:txBody>
      </p:sp>
      <p:sp>
        <p:nvSpPr>
          <p:cNvPr id="471"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2"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473" name="Text 11"/>
          <p:cNvSpPr/>
          <p:nvPr/>
        </p:nvSpPr>
        <p:spPr>
          <a:xfrm>
            <a:off x="831168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Kullandıkça öde: işlem, karakter veya sayfa başına</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Çoğu serviste ücretsiz deneme katmanı</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Ensight’ın lisans portföyünde yer alıyor</a:t>
            </a:r>
            <a:endParaRPr b="0" lang="en-US" sz="1300" spc="-1" strike="noStrike">
              <a:solidFill>
                <a:srgbClr val="000000"/>
              </a:solidFill>
              <a:latin typeface="Arial"/>
            </a:endParaRPr>
          </a:p>
        </p:txBody>
      </p:sp>
      <p:sp>
        <p:nvSpPr>
          <p:cNvPr id="474"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75"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26</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476"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0b5cad"/>
                </a:solidFill>
                <a:latin typeface="IBM Plex Mono"/>
                <a:ea typeface="IBM Plex Mono"/>
              </a:rPr>
              <a:t>YÖNETİŞİM</a:t>
            </a:r>
            <a:endParaRPr b="0" lang="en-US" sz="1200" spc="-1" strike="noStrike">
              <a:solidFill>
                <a:srgbClr val="000000"/>
              </a:solidFill>
              <a:latin typeface="Arial"/>
            </a:endParaRPr>
          </a:p>
        </p:txBody>
      </p:sp>
      <p:sp>
        <p:nvSpPr>
          <p:cNvPr id="477"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Microsoft Purview</a:t>
            </a:r>
            <a:endParaRPr b="0" lang="en-US" sz="3200" spc="-1" strike="noStrike">
              <a:solidFill>
                <a:srgbClr val="000000"/>
              </a:solidFill>
              <a:latin typeface="Arial"/>
            </a:endParaRPr>
          </a:p>
        </p:txBody>
      </p:sp>
      <p:sp>
        <p:nvSpPr>
          <p:cNvPr id="478" name="Text 2"/>
          <p:cNvSpPr/>
          <p:nvPr/>
        </p:nvSpPr>
        <p:spPr>
          <a:xfrm>
            <a:off x="812880" y="1828800"/>
            <a:ext cx="981000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3d4a5a"/>
                </a:solidFill>
                <a:latin typeface="IBM Plex Sans"/>
                <a:ea typeface="IBM Plex Sans"/>
              </a:rPr>
              <a:t>Kurumun verisini haritalayan, sınıflandıran ve erişimini yöneten veri yönetişimi ve uyum platformu.</a:t>
            </a:r>
            <a:endParaRPr b="0" lang="en-US" sz="1600" spc="-1" strike="noStrike">
              <a:solidFill>
                <a:srgbClr val="000000"/>
              </a:solidFill>
              <a:latin typeface="Arial"/>
            </a:endParaRPr>
          </a:p>
        </p:txBody>
      </p:sp>
      <p:sp>
        <p:nvSpPr>
          <p:cNvPr id="479" name="Shape 3"/>
          <p:cNvSpPr/>
          <p:nvPr/>
        </p:nvSpPr>
        <p:spPr>
          <a:xfrm>
            <a:off x="81612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80" name="Text 4"/>
          <p:cNvSpPr/>
          <p:nvPr/>
        </p:nvSpPr>
        <p:spPr>
          <a:xfrm>
            <a:off x="1046520" y="2514600"/>
            <a:ext cx="30060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Ne işe yarar?</a:t>
            </a:r>
            <a:endParaRPr b="0" lang="en-US" sz="1400" spc="-1" strike="noStrike">
              <a:solidFill>
                <a:srgbClr val="000000"/>
              </a:solidFill>
              <a:latin typeface="Arial"/>
            </a:endParaRPr>
          </a:p>
        </p:txBody>
      </p:sp>
      <p:sp>
        <p:nvSpPr>
          <p:cNvPr id="481" name="Text 5"/>
          <p:cNvSpPr/>
          <p:nvPr/>
        </p:nvSpPr>
        <p:spPr>
          <a:xfrm>
            <a:off x="113184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Hangi veri nerede, kimin sorumluluğunda?</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Hassas veriyi (TCKN, kart no) otomatik bulur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KVKK ve sektör denetimlerine uyumu destekler</a:t>
            </a:r>
            <a:endParaRPr b="0" lang="en-US" sz="1300" spc="-1" strike="noStrike">
              <a:solidFill>
                <a:srgbClr val="000000"/>
              </a:solidFill>
              <a:latin typeface="Arial"/>
            </a:endParaRPr>
          </a:p>
        </p:txBody>
      </p:sp>
      <p:sp>
        <p:nvSpPr>
          <p:cNvPr id="482" name="Shape 6"/>
          <p:cNvSpPr/>
          <p:nvPr/>
        </p:nvSpPr>
        <p:spPr>
          <a:xfrm>
            <a:off x="4405680" y="2284200"/>
            <a:ext cx="3379680" cy="3553920"/>
          </a:xfrm>
          <a:prstGeom prst="roundRect">
            <a:avLst>
              <a:gd name="adj" fmla="val 2160"/>
            </a:avLst>
          </a:prstGeom>
          <a:solidFill>
            <a:srgbClr val="fcfdfe"/>
          </a:solidFill>
          <a:ln w="6350">
            <a:solidFill>
              <a:srgbClr val="d9e0e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83" name="Text 7"/>
          <p:cNvSpPr/>
          <p:nvPr/>
        </p:nvSpPr>
        <p:spPr>
          <a:xfrm>
            <a:off x="463644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0b5cad"/>
                </a:solidFill>
                <a:latin typeface="IBM Plex Sans"/>
                <a:ea typeface="IBM Plex Sans"/>
              </a:rPr>
              <a:t>Nasıl çalışır?</a:t>
            </a:r>
            <a:endParaRPr b="0" lang="en-US" sz="1400" spc="-1" strike="noStrike">
              <a:solidFill>
                <a:srgbClr val="000000"/>
              </a:solidFill>
              <a:latin typeface="Arial"/>
            </a:endParaRPr>
          </a:p>
        </p:txBody>
      </p:sp>
      <p:sp>
        <p:nvSpPr>
          <p:cNvPr id="484" name="Text 8"/>
          <p:cNvSpPr/>
          <p:nvPr/>
        </p:nvSpPr>
        <p:spPr>
          <a:xfrm>
            <a:off x="4721760" y="2829600"/>
            <a:ext cx="2913120" cy="187380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Data Map: kaynakları tarayıp kataloglar</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Unified Catalog: iş sözlüğü ve veri ürünleri</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Lineage: verinin kaynaktan rapora yolculuğu</a:t>
            </a:r>
            <a:endParaRPr b="0" lang="en-US" sz="1300" spc="-1" strike="noStrike">
              <a:solidFill>
                <a:srgbClr val="000000"/>
              </a:solidFill>
              <a:latin typeface="Arial"/>
            </a:endParaRPr>
          </a:p>
          <a:p>
            <a:pPr marL="168480" indent="-168480" defTabSz="914400">
              <a:lnSpc>
                <a:spcPts val="1820"/>
              </a:lnSpc>
              <a:buClr>
                <a:srgbClr val="0e1e33"/>
              </a:buClr>
              <a:buFont typeface="Symbol" charset="2"/>
              <a:buChar char=""/>
            </a:pPr>
            <a:r>
              <a:rPr b="0" lang="en-US" sz="1300" spc="-1" strike="noStrike">
                <a:solidFill>
                  <a:srgbClr val="0e1e33"/>
                </a:solidFill>
                <a:latin typeface="IBM Plex Sans"/>
                <a:ea typeface="IBM Plex Sans"/>
              </a:rPr>
              <a:t>Fabric, Azure SQL, ADLS ve Databricks ile entegre</a:t>
            </a:r>
            <a:endParaRPr b="0" lang="en-US" sz="1300" spc="-1" strike="noStrike">
              <a:solidFill>
                <a:srgbClr val="000000"/>
              </a:solidFill>
              <a:latin typeface="Arial"/>
            </a:endParaRPr>
          </a:p>
        </p:txBody>
      </p:sp>
      <p:sp>
        <p:nvSpPr>
          <p:cNvPr id="485" name="Shape 9"/>
          <p:cNvSpPr/>
          <p:nvPr/>
        </p:nvSpPr>
        <p:spPr>
          <a:xfrm>
            <a:off x="7995600" y="2284200"/>
            <a:ext cx="3379680" cy="3553920"/>
          </a:xfrm>
          <a:prstGeom prst="roundRect">
            <a:avLst>
              <a:gd name="adj" fmla="val 2160"/>
            </a:avLst>
          </a:prstGeom>
          <a:solidFill>
            <a:srgbClr val="0e1e33"/>
          </a:solidFill>
          <a:ln w="6350">
            <a:solidFill>
              <a:srgbClr val="0e1e3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6" name="Text 10"/>
          <p:cNvSpPr/>
          <p:nvPr/>
        </p:nvSpPr>
        <p:spPr>
          <a:xfrm>
            <a:off x="8226360" y="2514600"/>
            <a:ext cx="300636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1" lang="en-US" sz="1400" spc="-1" strike="noStrike">
                <a:solidFill>
                  <a:srgbClr val="6cb4ff"/>
                </a:solidFill>
                <a:latin typeface="IBM Plex Sans"/>
                <a:ea typeface="IBM Plex Sans"/>
              </a:rPr>
              <a:t>Lisans &amp; Ensight</a:t>
            </a:r>
            <a:endParaRPr b="0" lang="en-US" sz="1400" spc="-1" strike="noStrike">
              <a:solidFill>
                <a:srgbClr val="000000"/>
              </a:solidFill>
              <a:latin typeface="Arial"/>
            </a:endParaRPr>
          </a:p>
        </p:txBody>
      </p:sp>
      <p:sp>
        <p:nvSpPr>
          <p:cNvPr id="487" name="Text 11"/>
          <p:cNvSpPr/>
          <p:nvPr/>
        </p:nvSpPr>
        <p:spPr>
          <a:xfrm>
            <a:off x="8311680" y="2829600"/>
            <a:ext cx="2913120" cy="1411560"/>
          </a:xfrm>
          <a:prstGeom prst="rect">
            <a:avLst/>
          </a:prstGeom>
          <a:noFill/>
          <a:ln w="0">
            <a:noFill/>
          </a:ln>
        </p:spPr>
        <p:style>
          <a:lnRef idx="0"/>
          <a:fillRef idx="0"/>
          <a:effectRef idx="0"/>
          <a:fontRef idx="minor"/>
        </p:style>
        <p:txBody>
          <a:bodyPr lIns="0" rIns="0" tIns="0" bIns="0" anchor="t">
            <a:normAutofit/>
          </a:bodyPr>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Taranan kaynak ve kapasiteye göre tüketim</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Bazı özellikler Microsoft 365 E5 lisanslarına dahil</a:t>
            </a:r>
            <a:endParaRPr b="0" lang="en-US" sz="1300" spc="-1" strike="noStrike">
              <a:solidFill>
                <a:srgbClr val="000000"/>
              </a:solidFill>
              <a:latin typeface="Arial"/>
            </a:endParaRPr>
          </a:p>
          <a:p>
            <a:pPr marL="168480" indent="-168480" defTabSz="914400">
              <a:lnSpc>
                <a:spcPts val="1820"/>
              </a:lnSpc>
              <a:buClr>
                <a:srgbClr val="f4f6f9"/>
              </a:buClr>
              <a:buFont typeface="Symbol" charset="2"/>
              <a:buChar char=""/>
            </a:pPr>
            <a:r>
              <a:rPr b="0" lang="en-US" sz="1300" spc="-1" strike="noStrike">
                <a:solidFill>
                  <a:srgbClr val="f4f6f9"/>
                </a:solidFill>
                <a:latin typeface="IBM Plex Sans"/>
                <a:ea typeface="IBM Plex Sans"/>
              </a:rPr>
              <a:t>Ensight’ın lisans portföyünde yer alıyor</a:t>
            </a:r>
            <a:endParaRPr b="0" lang="en-US" sz="1300" spc="-1" strike="noStrike">
              <a:solidFill>
                <a:srgbClr val="000000"/>
              </a:solidFill>
              <a:latin typeface="Arial"/>
            </a:endParaRPr>
          </a:p>
        </p:txBody>
      </p:sp>
      <p:sp>
        <p:nvSpPr>
          <p:cNvPr id="488" name="Text 12"/>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489" name="Text 13"/>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27</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e33"/>
        </a:solidFill>
      </p:bgPr>
    </p:bg>
    <p:spTree>
      <p:nvGrpSpPr>
        <p:cNvPr id="1" name=""/>
        <p:cNvGrpSpPr/>
        <p:nvPr/>
      </p:nvGrpSpPr>
      <p:grpSpPr>
        <a:xfrm>
          <a:off x="0" y="0"/>
          <a:ext cx="0" cy="0"/>
          <a:chOff x="0" y="0"/>
          <a:chExt cx="0" cy="0"/>
        </a:xfrm>
      </p:grpSpPr>
      <p:sp>
        <p:nvSpPr>
          <p:cNvPr id="490"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6cb4ff"/>
                </a:solidFill>
                <a:latin typeface="IBM Plex Mono"/>
                <a:ea typeface="IBM Plex Mono"/>
              </a:rPr>
              <a:t>ÖZET</a:t>
            </a:r>
            <a:endParaRPr b="0" lang="en-US" sz="1200" spc="-1" strike="noStrike">
              <a:solidFill>
                <a:srgbClr val="ffffff"/>
              </a:solidFill>
              <a:latin typeface="Arial"/>
            </a:endParaRPr>
          </a:p>
        </p:txBody>
      </p:sp>
      <p:sp>
        <p:nvSpPr>
          <p:cNvPr id="491"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f4f6f9"/>
                </a:solidFill>
                <a:latin typeface="IBM Plex Sans"/>
                <a:ea typeface="IBM Plex Sans"/>
              </a:rPr>
              <a:t>Dört lisans mantığı</a:t>
            </a:r>
            <a:endParaRPr b="0" lang="en-US" sz="3200" spc="-1" strike="noStrike">
              <a:solidFill>
                <a:srgbClr val="ffffff"/>
              </a:solidFill>
              <a:latin typeface="Arial"/>
            </a:endParaRPr>
          </a:p>
        </p:txBody>
      </p:sp>
      <p:sp>
        <p:nvSpPr>
          <p:cNvPr id="492" name="Shape 2"/>
          <p:cNvSpPr/>
          <p:nvPr/>
        </p:nvSpPr>
        <p:spPr>
          <a:xfrm>
            <a:off x="812880" y="1828800"/>
            <a:ext cx="2507400" cy="3560400"/>
          </a:xfrm>
          <a:prstGeom prst="roundRect">
            <a:avLst>
              <a:gd name="adj" fmla="val 3038"/>
            </a:avLst>
          </a:prstGeom>
          <a:solidFill>
            <a:srgbClr val="18304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3" name="Shape 3"/>
          <p:cNvSpPr/>
          <p:nvPr/>
        </p:nvSpPr>
        <p:spPr>
          <a:xfrm>
            <a:off x="812880" y="1828800"/>
            <a:ext cx="2507400" cy="3560400"/>
          </a:xfrm>
          <a:custGeom>
            <a:avLst/>
            <a:gdLst>
              <a:gd name="textAreaLeft" fmla="*/ 0 w 2507400"/>
              <a:gd name="textAreaRight" fmla="*/ 2508120 w 2507400"/>
              <a:gd name="textAreaTop" fmla="*/ 0 h 3560400"/>
              <a:gd name="textAreaBottom" fmla="*/ 3561120 h 3560400"/>
            </a:gdLst>
            <a:ahLst/>
            <a:rect l="textAreaLeft" t="textAreaTop" r="textAreaRight" b="textAreaBottom"/>
            <a:pathLst>
              <a:path w="2508250" h="3561080">
                <a:moveTo>
                  <a:pt x="0" y="76200"/>
                </a:moveTo>
                <a:lnTo>
                  <a:pt x="0" y="76200"/>
                </a:lnTo>
                <a:arcTo wR="76200" hR="76200" stAng="10800000" swAng="5400000"/>
                <a:lnTo>
                  <a:pt x="2432050" y="0"/>
                </a:lnTo>
                <a:arcTo wR="76200" hR="76200" stAng="16200000" swAng="5400000"/>
                <a:lnTo>
                  <a:pt x="2508250" y="76200"/>
                </a:lnTo>
                <a:arcTo wR="76200" hR="38100" stAng="0" swAng="-5400000"/>
                <a:lnTo>
                  <a:pt x="76200" y="38100"/>
                </a:lnTo>
                <a:arcTo wR="76200" hR="38100" stAng="16200000" swAng="-5400000"/>
                <a:close/>
              </a:path>
            </a:pathLst>
          </a:custGeom>
          <a:solidFill>
            <a:srgbClr val="6cb4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94" name="Text 4"/>
          <p:cNvSpPr/>
          <p:nvPr/>
        </p:nvSpPr>
        <p:spPr>
          <a:xfrm>
            <a:off x="1041480" y="2093040"/>
            <a:ext cx="211176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6cb4ff"/>
                </a:solidFill>
                <a:latin typeface="IBM Plex Sans"/>
                <a:ea typeface="IBM Plex Sans"/>
              </a:rPr>
              <a:t>Kullanıcı başı</a:t>
            </a:r>
            <a:endParaRPr b="0" lang="en-US" sz="1600" spc="-1" strike="noStrike">
              <a:solidFill>
                <a:srgbClr val="ffffff"/>
              </a:solidFill>
              <a:latin typeface="Arial"/>
            </a:endParaRPr>
          </a:p>
        </p:txBody>
      </p:sp>
      <p:sp>
        <p:nvSpPr>
          <p:cNvPr id="495" name="Text 5"/>
          <p:cNvSpPr/>
          <p:nvPr/>
        </p:nvSpPr>
        <p:spPr>
          <a:xfrm>
            <a:off x="1041480" y="2438280"/>
            <a:ext cx="211176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Power BI Pro, Premium Per User, SQL Server CAL</a:t>
            </a:r>
            <a:endParaRPr b="0" lang="en-US" sz="1300" spc="-1" strike="noStrike">
              <a:solidFill>
                <a:srgbClr val="ffffff"/>
              </a:solidFill>
              <a:latin typeface="Arial"/>
            </a:endParaRPr>
          </a:p>
        </p:txBody>
      </p:sp>
      <p:sp>
        <p:nvSpPr>
          <p:cNvPr id="496" name="Shape 6"/>
          <p:cNvSpPr/>
          <p:nvPr/>
        </p:nvSpPr>
        <p:spPr>
          <a:xfrm>
            <a:off x="3498840" y="1828800"/>
            <a:ext cx="2507400" cy="3560400"/>
          </a:xfrm>
          <a:prstGeom prst="roundRect">
            <a:avLst>
              <a:gd name="adj" fmla="val 3038"/>
            </a:avLst>
          </a:prstGeom>
          <a:solidFill>
            <a:srgbClr val="18304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7" name="Shape 7"/>
          <p:cNvSpPr/>
          <p:nvPr/>
        </p:nvSpPr>
        <p:spPr>
          <a:xfrm>
            <a:off x="3498840" y="1828800"/>
            <a:ext cx="2507400" cy="3560400"/>
          </a:xfrm>
          <a:custGeom>
            <a:avLst/>
            <a:gdLst>
              <a:gd name="textAreaLeft" fmla="*/ 0 w 2507400"/>
              <a:gd name="textAreaRight" fmla="*/ 2508120 w 2507400"/>
              <a:gd name="textAreaTop" fmla="*/ 0 h 3560400"/>
              <a:gd name="textAreaBottom" fmla="*/ 3561120 h 3560400"/>
            </a:gdLst>
            <a:ahLst/>
            <a:rect l="textAreaLeft" t="textAreaTop" r="textAreaRight" b="textAreaBottom"/>
            <a:pathLst>
              <a:path w="2508250" h="3561080">
                <a:moveTo>
                  <a:pt x="0" y="76200"/>
                </a:moveTo>
                <a:lnTo>
                  <a:pt x="0" y="76200"/>
                </a:lnTo>
                <a:arcTo wR="76200" hR="76200" stAng="10800000" swAng="5400000"/>
                <a:lnTo>
                  <a:pt x="2432050" y="0"/>
                </a:lnTo>
                <a:arcTo wR="76200" hR="76200" stAng="16200000" swAng="5400000"/>
                <a:lnTo>
                  <a:pt x="2508250" y="76200"/>
                </a:lnTo>
                <a:arcTo wR="76200" hR="38100" stAng="0" swAng="-5400000"/>
                <a:lnTo>
                  <a:pt x="76200" y="38100"/>
                </a:lnTo>
                <a:arcTo wR="76200" hR="38100" stAng="16200000" swAng="-5400000"/>
                <a:close/>
              </a:path>
            </a:pathLst>
          </a:custGeom>
          <a:solidFill>
            <a:srgbClr val="6cb4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98" name="Text 8"/>
          <p:cNvSpPr/>
          <p:nvPr/>
        </p:nvSpPr>
        <p:spPr>
          <a:xfrm>
            <a:off x="3727440" y="2093040"/>
            <a:ext cx="211176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6cb4ff"/>
                </a:solidFill>
                <a:latin typeface="IBM Plex Sans"/>
                <a:ea typeface="IBM Plex Sans"/>
              </a:rPr>
              <a:t>Kapasite</a:t>
            </a:r>
            <a:endParaRPr b="0" lang="en-US" sz="1600" spc="-1" strike="noStrike">
              <a:solidFill>
                <a:srgbClr val="ffffff"/>
              </a:solidFill>
              <a:latin typeface="Arial"/>
            </a:endParaRPr>
          </a:p>
        </p:txBody>
      </p:sp>
      <p:sp>
        <p:nvSpPr>
          <p:cNvPr id="499" name="Text 9"/>
          <p:cNvSpPr/>
          <p:nvPr/>
        </p:nvSpPr>
        <p:spPr>
          <a:xfrm>
            <a:off x="3727440" y="2438280"/>
            <a:ext cx="211176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Fabric F-SKU, Power BI Embedded, Azure Analysis Services</a:t>
            </a:r>
            <a:endParaRPr b="0" lang="en-US" sz="1300" spc="-1" strike="noStrike">
              <a:solidFill>
                <a:srgbClr val="ffffff"/>
              </a:solidFill>
              <a:latin typeface="Arial"/>
            </a:endParaRPr>
          </a:p>
        </p:txBody>
      </p:sp>
      <p:sp>
        <p:nvSpPr>
          <p:cNvPr id="500" name="Shape 10"/>
          <p:cNvSpPr/>
          <p:nvPr/>
        </p:nvSpPr>
        <p:spPr>
          <a:xfrm>
            <a:off x="6184800" y="1828800"/>
            <a:ext cx="2507400" cy="3560400"/>
          </a:xfrm>
          <a:prstGeom prst="roundRect">
            <a:avLst>
              <a:gd name="adj" fmla="val 3038"/>
            </a:avLst>
          </a:prstGeom>
          <a:solidFill>
            <a:srgbClr val="18304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01" name="Shape 11"/>
          <p:cNvSpPr/>
          <p:nvPr/>
        </p:nvSpPr>
        <p:spPr>
          <a:xfrm>
            <a:off x="6184800" y="1828800"/>
            <a:ext cx="2507400" cy="3560400"/>
          </a:xfrm>
          <a:custGeom>
            <a:avLst/>
            <a:gdLst>
              <a:gd name="textAreaLeft" fmla="*/ 0 w 2507400"/>
              <a:gd name="textAreaRight" fmla="*/ 2508120 w 2507400"/>
              <a:gd name="textAreaTop" fmla="*/ 0 h 3560400"/>
              <a:gd name="textAreaBottom" fmla="*/ 3561120 h 3560400"/>
            </a:gdLst>
            <a:ahLst/>
            <a:rect l="textAreaLeft" t="textAreaTop" r="textAreaRight" b="textAreaBottom"/>
            <a:pathLst>
              <a:path w="2508250" h="3561080">
                <a:moveTo>
                  <a:pt x="0" y="76200"/>
                </a:moveTo>
                <a:lnTo>
                  <a:pt x="0" y="76200"/>
                </a:lnTo>
                <a:arcTo wR="76200" hR="76200" stAng="10800000" swAng="5400000"/>
                <a:lnTo>
                  <a:pt x="2432050" y="0"/>
                </a:lnTo>
                <a:arcTo wR="76200" hR="76200" stAng="16200000" swAng="5400000"/>
                <a:lnTo>
                  <a:pt x="2508250" y="76200"/>
                </a:lnTo>
                <a:arcTo wR="76200" hR="38100" stAng="0" swAng="-5400000"/>
                <a:lnTo>
                  <a:pt x="76200" y="38100"/>
                </a:lnTo>
                <a:arcTo wR="76200" hR="38100" stAng="16200000" swAng="-5400000"/>
                <a:close/>
              </a:path>
            </a:pathLst>
          </a:custGeom>
          <a:solidFill>
            <a:srgbClr val="6cb4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02" name="Text 12"/>
          <p:cNvSpPr/>
          <p:nvPr/>
        </p:nvSpPr>
        <p:spPr>
          <a:xfrm>
            <a:off x="6413400" y="2093040"/>
            <a:ext cx="211176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6cb4ff"/>
                </a:solidFill>
                <a:latin typeface="IBM Plex Sans"/>
                <a:ea typeface="IBM Plex Sans"/>
              </a:rPr>
              <a:t>Tüketim</a:t>
            </a:r>
            <a:endParaRPr b="0" lang="en-US" sz="1600" spc="-1" strike="noStrike">
              <a:solidFill>
                <a:srgbClr val="ffffff"/>
              </a:solidFill>
              <a:latin typeface="Arial"/>
            </a:endParaRPr>
          </a:p>
        </p:txBody>
      </p:sp>
      <p:sp>
        <p:nvSpPr>
          <p:cNvPr id="503" name="Text 13"/>
          <p:cNvSpPr/>
          <p:nvPr/>
        </p:nvSpPr>
        <p:spPr>
          <a:xfrm>
            <a:off x="6413400" y="2438280"/>
            <a:ext cx="2111760" cy="9493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Databricks (DBU), Data Factory, Event Hubs, Azure SQL, PostgreSQL, ADLS, AI Services, Purview</a:t>
            </a:r>
            <a:endParaRPr b="0" lang="en-US" sz="1300" spc="-1" strike="noStrike">
              <a:solidFill>
                <a:srgbClr val="ffffff"/>
              </a:solidFill>
              <a:latin typeface="Arial"/>
            </a:endParaRPr>
          </a:p>
        </p:txBody>
      </p:sp>
      <p:sp>
        <p:nvSpPr>
          <p:cNvPr id="504" name="Shape 14"/>
          <p:cNvSpPr/>
          <p:nvPr/>
        </p:nvSpPr>
        <p:spPr>
          <a:xfrm>
            <a:off x="8871120" y="1828800"/>
            <a:ext cx="2507400" cy="3560400"/>
          </a:xfrm>
          <a:prstGeom prst="roundRect">
            <a:avLst>
              <a:gd name="adj" fmla="val 3038"/>
            </a:avLst>
          </a:prstGeom>
          <a:solidFill>
            <a:srgbClr val="18304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05" name="Shape 15"/>
          <p:cNvSpPr/>
          <p:nvPr/>
        </p:nvSpPr>
        <p:spPr>
          <a:xfrm>
            <a:off x="8871120" y="1828800"/>
            <a:ext cx="2507400" cy="3560400"/>
          </a:xfrm>
          <a:custGeom>
            <a:avLst/>
            <a:gdLst>
              <a:gd name="textAreaLeft" fmla="*/ 0 w 2507400"/>
              <a:gd name="textAreaRight" fmla="*/ 2508120 w 2507400"/>
              <a:gd name="textAreaTop" fmla="*/ 0 h 3560400"/>
              <a:gd name="textAreaBottom" fmla="*/ 3561120 h 3560400"/>
            </a:gdLst>
            <a:ahLst/>
            <a:rect l="textAreaLeft" t="textAreaTop" r="textAreaRight" b="textAreaBottom"/>
            <a:pathLst>
              <a:path w="2508250" h="3561080">
                <a:moveTo>
                  <a:pt x="0" y="76200"/>
                </a:moveTo>
                <a:lnTo>
                  <a:pt x="0" y="76200"/>
                </a:lnTo>
                <a:arcTo wR="76200" hR="76200" stAng="10800000" swAng="5400000"/>
                <a:lnTo>
                  <a:pt x="2432050" y="0"/>
                </a:lnTo>
                <a:arcTo wR="76200" hR="76200" stAng="16200000" swAng="5400000"/>
                <a:lnTo>
                  <a:pt x="2508250" y="76200"/>
                </a:lnTo>
                <a:arcTo wR="76200" hR="38100" stAng="0" swAng="-5400000"/>
                <a:lnTo>
                  <a:pt x="76200" y="38100"/>
                </a:lnTo>
                <a:arcTo wR="76200" hR="38100" stAng="16200000" swAng="-5400000"/>
                <a:close/>
              </a:path>
            </a:pathLst>
          </a:custGeom>
          <a:solidFill>
            <a:srgbClr val="6cb4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06" name="Text 16"/>
          <p:cNvSpPr/>
          <p:nvPr/>
        </p:nvSpPr>
        <p:spPr>
          <a:xfrm>
            <a:off x="9099720" y="2093040"/>
            <a:ext cx="2111760" cy="26856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6cb4ff"/>
                </a:solidFill>
                <a:latin typeface="IBM Plex Sans"/>
                <a:ea typeface="IBM Plex Sans"/>
              </a:rPr>
              <a:t>Çekirdek (on-prem)</a:t>
            </a:r>
            <a:endParaRPr b="0" lang="en-US" sz="1600" spc="-1" strike="noStrike">
              <a:solidFill>
                <a:srgbClr val="ffffff"/>
              </a:solidFill>
              <a:latin typeface="Arial"/>
            </a:endParaRPr>
          </a:p>
        </p:txBody>
      </p:sp>
      <p:sp>
        <p:nvSpPr>
          <p:cNvPr id="507" name="Text 17"/>
          <p:cNvSpPr/>
          <p:nvPr/>
        </p:nvSpPr>
        <p:spPr>
          <a:xfrm>
            <a:off x="9099720" y="2438280"/>
            <a:ext cx="2111760" cy="4870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f4f6f9"/>
                </a:solidFill>
                <a:latin typeface="IBM Plex Sans"/>
                <a:ea typeface="IBM Plex Sans"/>
              </a:rPr>
              <a:t>SQL Server; SSIS, SSAS ve SSRS bu lisansa dahil</a:t>
            </a:r>
            <a:endParaRPr b="0" lang="en-US" sz="1300" spc="-1" strike="noStrike">
              <a:solidFill>
                <a:srgbClr val="ffffff"/>
              </a:solidFill>
              <a:latin typeface="Arial"/>
            </a:endParaRPr>
          </a:p>
        </p:txBody>
      </p:sp>
      <p:sp>
        <p:nvSpPr>
          <p:cNvPr id="508" name="Text 18"/>
          <p:cNvSpPr/>
          <p:nvPr/>
        </p:nvSpPr>
        <p:spPr>
          <a:xfrm>
            <a:off x="812880" y="5567760"/>
            <a:ext cx="11378520" cy="2991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f4f6f9"/>
                </a:solidFill>
                <a:latin typeface="IBM Plex Sans"/>
                <a:ea typeface="IBM Plex Sans"/>
              </a:rPr>
              <a:t>Ensight’ın rolü: müşteriye uygun modeli seçmek, lisansı sağlamak, kurulumu yapmak ve ekibi eğitmek.</a:t>
            </a:r>
            <a:endParaRPr b="0" lang="en-US" sz="1600" spc="-1" strike="noStrike">
              <a:solidFill>
                <a:srgbClr val="ffffff"/>
              </a:solidFill>
              <a:latin typeface="Arial"/>
            </a:endParaRPr>
          </a:p>
        </p:txBody>
      </p:sp>
      <p:sp>
        <p:nvSpPr>
          <p:cNvPr id="509" name="Text 19"/>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9fb0c4"/>
                </a:solidFill>
                <a:latin typeface="IBM Plex Mono"/>
                <a:ea typeface="IBM Plex Mono"/>
              </a:rPr>
              <a:t>Ensight · Teknoloji Yığını</a:t>
            </a:r>
            <a:endParaRPr b="0" lang="en-US" sz="1200" spc="-1" strike="noStrike">
              <a:solidFill>
                <a:srgbClr val="ffffff"/>
              </a:solidFill>
              <a:latin typeface="Arial"/>
            </a:endParaRPr>
          </a:p>
        </p:txBody>
      </p:sp>
      <p:sp>
        <p:nvSpPr>
          <p:cNvPr id="510" name="Text 20"/>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9fb0c4"/>
                </a:solidFill>
                <a:latin typeface="IBM Plex Mono"/>
                <a:ea typeface="IBM Plex Mono"/>
              </a:rPr>
              <a:t>28</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511" name="Text 0"/>
          <p:cNvSpPr/>
          <p:nvPr/>
        </p:nvSpPr>
        <p:spPr>
          <a:xfrm>
            <a:off x="812880" y="812880"/>
            <a:ext cx="1088280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endParaRPr b="0" lang="en-US" sz="1800" spc="-1" strike="noStrike">
              <a:solidFill>
                <a:srgbClr val="000000"/>
              </a:solidFill>
              <a:latin typeface="Arial"/>
            </a:endParaRPr>
          </a:p>
        </p:txBody>
      </p:sp>
      <p:sp>
        <p:nvSpPr>
          <p:cNvPr id="512" name="PlaceHolder 1"/>
          <p:cNvSpPr>
            <a:spLocks noGrp="1"/>
          </p:cNvSpPr>
          <p:nvPr>
            <p:ph type="title"/>
          </p:nvPr>
        </p:nvSpPr>
        <p:spPr>
          <a:xfrm>
            <a:off x="812880" y="1203840"/>
            <a:ext cx="10882800" cy="471600"/>
          </a:xfrm>
          <a:prstGeom prst="rect">
            <a:avLst/>
          </a:prstGeom>
          <a:noFill/>
          <a:ln w="0">
            <a:noFill/>
          </a:ln>
        </p:spPr>
        <p:txBody>
          <a:bodyPr lIns="0" rIns="0" tIns="0" bIns="0" anchor="t">
            <a:normAutofit/>
          </a:bodyPr>
          <a:p>
            <a:pPr indent="0" defTabSz="914400">
              <a:lnSpc>
                <a:spcPts val="3521"/>
              </a:lnSpc>
              <a:buNone/>
              <a:tabLst>
                <a:tab algn="l" pos="0"/>
              </a:tabLst>
            </a:pPr>
            <a:r>
              <a:rPr b="1" lang="en-US" sz="3200" spc="-1" strike="noStrike">
                <a:solidFill>
                  <a:srgbClr val="0e1e33"/>
                </a:solidFill>
                <a:latin typeface="IBM Plex Sans"/>
                <a:ea typeface="IBM Plex Sans"/>
              </a:rPr>
              <a:t>Kaynaklar</a:t>
            </a:r>
            <a:endParaRPr b="0" lang="en-US" sz="3200" spc="-1" strike="noStrike">
              <a:solidFill>
                <a:srgbClr val="000000"/>
              </a:solidFill>
              <a:latin typeface="Arial"/>
            </a:endParaRPr>
          </a:p>
        </p:txBody>
      </p:sp>
      <p:sp>
        <p:nvSpPr>
          <p:cNvPr id="513" name="Text 2"/>
          <p:cNvSpPr/>
          <p:nvPr/>
        </p:nvSpPr>
        <p:spPr>
          <a:xfrm>
            <a:off x="891000" y="1828800"/>
            <a:ext cx="9724320" cy="1571400"/>
          </a:xfrm>
          <a:prstGeom prst="rect">
            <a:avLst/>
          </a:prstGeom>
          <a:noFill/>
          <a:ln w="0">
            <a:noFill/>
          </a:ln>
        </p:spPr>
        <p:style>
          <a:lnRef idx="0"/>
          <a:fillRef idx="0"/>
          <a:effectRef idx="0"/>
          <a:fontRef idx="minor"/>
        </p:style>
        <p:txBody>
          <a:bodyPr lIns="0" rIns="0" tIns="0" bIns="0" anchor="t">
            <a:normAutofit fontScale="50000" lnSpcReduction="20000"/>
          </a:bodyPr>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ensight.com.tr: Hakkımızda, Lisanslar, Bankacılık Rekabet Analizi, Fabric eğitim içeriği, Self-servis analitik</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fintechtime.com (Temmuz 2025): Fabric Featured Partner haberi</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Microsoft Learn ve Azure fiyatlandırma sayfaları: Fabric, Power BI, Azure Databricks</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Microsoft Learn: What is Azure Databricks? (Eylül 2026)</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Databricks ve Microsoft basın bültenleri (Temmuz 2026)</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Fiyatlar: Microsoft liste fiyatları, USD, Ekim 2026; bölgeye ve anlaşmaya göre değişir</a:t>
            </a:r>
            <a:endParaRPr b="0" lang="en-US" sz="1400" spc="-1" strike="noStrike">
              <a:solidFill>
                <a:srgbClr val="000000"/>
              </a:solidFill>
              <a:latin typeface="Arial"/>
            </a:endParaRPr>
          </a:p>
          <a:p>
            <a:pPr marL="175680" indent="-175680" defTabSz="914400">
              <a:lnSpc>
                <a:spcPts val="2030"/>
              </a:lnSpc>
              <a:buClr>
                <a:srgbClr val="0e1e33"/>
              </a:buClr>
              <a:buFont typeface="Symbol" charset="2"/>
              <a:buChar char=""/>
            </a:pPr>
            <a:r>
              <a:rPr b="0" lang="en-US" sz="1400" spc="-1" strike="noStrike">
                <a:solidFill>
                  <a:srgbClr val="0e1e33"/>
                </a:solidFill>
                <a:latin typeface="IBM Plex Sans"/>
                <a:ea typeface="IBM Plex Sans"/>
              </a:rPr>
              <a:t>Youtube: İlhami Demirci’s Youtube Channel</a:t>
            </a:r>
            <a:endParaRPr b="0" lang="en-US" sz="1400" spc="-1" strike="noStrike">
              <a:solidFill>
                <a:srgbClr val="000000"/>
              </a:solidFill>
              <a:latin typeface="Arial"/>
            </a:endParaRPr>
          </a:p>
        </p:txBody>
      </p:sp>
      <p:sp>
        <p:nvSpPr>
          <p:cNvPr id="514" name="Text 3"/>
          <p:cNvSpPr/>
          <p:nvPr/>
        </p:nvSpPr>
        <p:spPr>
          <a:xfrm>
            <a:off x="812880" y="6238080"/>
            <a:ext cx="2852280" cy="2379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66717f"/>
                </a:solidFill>
                <a:latin typeface="IBM Plex Mono"/>
                <a:ea typeface="IBM Plex Mono"/>
              </a:rPr>
              <a:t>Ensight · Teknoloji Yığını</a:t>
            </a:r>
            <a:endParaRPr b="0" lang="en-US" sz="1200" spc="-1" strike="noStrike">
              <a:solidFill>
                <a:srgbClr val="000000"/>
              </a:solidFill>
              <a:latin typeface="Arial"/>
            </a:endParaRPr>
          </a:p>
        </p:txBody>
      </p:sp>
      <p:sp>
        <p:nvSpPr>
          <p:cNvPr id="515" name="Text 4"/>
          <p:cNvSpPr/>
          <p:nvPr/>
        </p:nvSpPr>
        <p:spPr>
          <a:xfrm>
            <a:off x="11145600" y="6238080"/>
            <a:ext cx="232920" cy="237960"/>
          </a:xfrm>
          <a:prstGeom prst="rect">
            <a:avLst/>
          </a:prstGeom>
          <a:noFill/>
          <a:ln w="0">
            <a:noFill/>
          </a:ln>
        </p:spPr>
        <p:style>
          <a:lnRef idx="0"/>
          <a:fillRef idx="0"/>
          <a:effectRef idx="0"/>
          <a:fontRef idx="minor"/>
        </p:style>
        <p:txBody>
          <a:bodyPr lIns="0" rIns="0" tIns="0" bIns="0" anchor="t">
            <a:normAutofit/>
          </a:bodyPr>
          <a:p>
            <a:pPr algn="r" defTabSz="914400">
              <a:lnSpc>
                <a:spcPts val="1681"/>
              </a:lnSpc>
              <a:tabLst>
                <a:tab algn="l" pos="0"/>
              </a:tabLst>
            </a:pPr>
            <a:r>
              <a:rPr b="0" lang="en-US" sz="1200" spc="-1" strike="noStrike">
                <a:solidFill>
                  <a:srgbClr val="66717f"/>
                </a:solidFill>
                <a:latin typeface="IBM Plex Mono"/>
                <a:ea typeface="IBM Plex Mono"/>
              </a:rPr>
              <a:t>29</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Ensight’ın Teknoloji Yığını">
  <a:themeElements>
    <a:clrScheme name="Ensight’ın Teknoloji Yığını">
      <a:dk1>
        <a:srgbClr val="0e1e33"/>
      </a:dk1>
      <a:lt1>
        <a:srgbClr val="f4f6f9"/>
      </a:lt1>
      <a:dk2>
        <a:srgbClr val="485465"/>
      </a:dk2>
      <a:lt2>
        <a:srgbClr val="dde0e5"/>
      </a:lt2>
      <a:accent1>
        <a:srgbClr val="0b5cad"/>
      </a:accent1>
      <a:accent2>
        <a:srgbClr val="6cb4ff"/>
      </a:accent2>
      <a:accent3>
        <a:srgbClr val="18304d"/>
      </a:accent3>
      <a:accent4>
        <a:srgbClr val="66717f"/>
      </a:accent4>
      <a:accent5>
        <a:srgbClr val="3d4a5a"/>
      </a:accent5>
      <a:accent6>
        <a:srgbClr val="b9c6d6"/>
      </a:accent6>
      <a:hlink>
        <a:srgbClr val="0563c1"/>
      </a:hlink>
      <a:folHlink>
        <a:srgbClr val="954f72"/>
      </a:folHlink>
    </a:clrScheme>
    <a:fontScheme name="Ensight’ın Teknoloji Yığını">
      <a:majorFont>
        <a:latin typeface="IBM Plex Sans" pitchFamily="0" charset="1"/>
        <a:ea typeface=""/>
        <a:cs typeface=""/>
      </a:majorFont>
      <a:minorFont>
        <a:latin typeface="IBM Plex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Ensight’ın Teknoloji Yığını">
  <a:themeElements>
    <a:clrScheme name="Ensight’ın Teknoloji Yığını">
      <a:dk1>
        <a:srgbClr val="0e1e33"/>
      </a:dk1>
      <a:lt1>
        <a:srgbClr val="f4f6f9"/>
      </a:lt1>
      <a:dk2>
        <a:srgbClr val="485465"/>
      </a:dk2>
      <a:lt2>
        <a:srgbClr val="dde0e5"/>
      </a:lt2>
      <a:accent1>
        <a:srgbClr val="0b5cad"/>
      </a:accent1>
      <a:accent2>
        <a:srgbClr val="6cb4ff"/>
      </a:accent2>
      <a:accent3>
        <a:srgbClr val="18304d"/>
      </a:accent3>
      <a:accent4>
        <a:srgbClr val="66717f"/>
      </a:accent4>
      <a:accent5>
        <a:srgbClr val="3d4a5a"/>
      </a:accent5>
      <a:accent6>
        <a:srgbClr val="b9c6d6"/>
      </a:accent6>
      <a:hlink>
        <a:srgbClr val="0563c1"/>
      </a:hlink>
      <a:folHlink>
        <a:srgbClr val="954f72"/>
      </a:folHlink>
    </a:clrScheme>
    <a:fontScheme name="Ensight’ın Teknoloji Yığını">
      <a:majorFont>
        <a:latin typeface="IBM Plex Sans" pitchFamily="0" charset="1"/>
        <a:ea typeface=""/>
        <a:cs typeface=""/>
      </a:majorFont>
      <a:minorFont>
        <a:latin typeface="IBM Plex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35</TotalTime>
  <Application>LibreOffice/24.2.3.2$Windows_X86_64 LibreOffice_project/433d9c2ded56988e8a90e6b2e771ee4e6a5ab2ba</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2026-10-09T09:34:25Z</dcterms:created>
  <dc:creator/>
  <dc:description/>
  <dc:language>en-US</dc:language>
  <cp:lastModifiedBy/>
  <dcterms:modified xsi:type="dcterms:W3CDTF">2026-10-09T14:49:21Z</dcterms:modified>
  <cp:revision>4</cp:revision>
  <dc:subject/>
  <dc:title>Ensight’ın Teknoloji Yığını</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29</vt:i4>
  </property>
  <property fmtid="{D5CDD505-2E9C-101B-9397-08002B2CF9AE}" pid="3" name="PresentationFormat">
    <vt:lpwstr>On-screen Show (16:9)</vt:lpwstr>
  </property>
  <property fmtid="{D5CDD505-2E9C-101B-9397-08002B2CF9AE}" pid="4" name="Slides">
    <vt:i4>29</vt:i4>
  </property>
</Properties>
</file>